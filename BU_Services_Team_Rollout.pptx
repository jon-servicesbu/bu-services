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7187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EEF"/>
          </a:solidFill>
          <a:ln w="12700">
            <a:solidFill>
              <a:srgbClr val="00AEEF"/>
            </a:solidFill>
            <a:prstDash val="solid"/>
          </a:ln>
        </p:spPr>
        <p:txBody>
          <a:bodyPr/>
          <a:lstStyle/>
          <a:p>
            <a:endParaRPr lang="en-CA"/>
          </a:p>
        </p:txBody>
      </p:sp>
      <p:sp>
        <p:nvSpPr>
          <p:cNvPr id="3" name="Shape 1"/>
          <p:cNvSpPr/>
          <p:nvPr/>
        </p:nvSpPr>
        <p:spPr>
          <a:xfrm>
            <a:off x="0" y="0"/>
            <a:ext cx="4389120" cy="5143500"/>
          </a:xfrm>
          <a:prstGeom prst="rect">
            <a:avLst/>
          </a:prstGeom>
          <a:solidFill>
            <a:srgbClr val="0A1F5C"/>
          </a:solidFill>
          <a:ln w="12700">
            <a:solidFill>
              <a:srgbClr val="0A1F5C"/>
            </a:solidFill>
            <a:prstDash val="solid"/>
          </a:ln>
        </p:spPr>
        <p:txBody>
          <a:bodyPr/>
          <a:lstStyle/>
          <a:p>
            <a:endParaRPr lang="en-CA"/>
          </a:p>
        </p:txBody>
      </p:sp>
      <p:sp>
        <p:nvSpPr>
          <p:cNvPr id="4" name="Shape 2"/>
          <p:cNvSpPr/>
          <p:nvPr/>
        </p:nvSpPr>
        <p:spPr>
          <a:xfrm>
            <a:off x="4389120" y="0"/>
            <a:ext cx="45720" cy="5143500"/>
          </a:xfrm>
          <a:prstGeom prst="rect">
            <a:avLst/>
          </a:prstGeom>
          <a:solidFill>
            <a:srgbClr val="00AEEF"/>
          </a:solidFill>
          <a:ln w="12700">
            <a:solidFill>
              <a:srgbClr val="00AEEF"/>
            </a:solidFill>
            <a:prstDash val="solid"/>
          </a:ln>
        </p:spPr>
        <p:txBody>
          <a:bodyPr/>
          <a:lstStyle/>
          <a:p>
            <a:endParaRPr lang="en-CA"/>
          </a:p>
        </p:txBody>
      </p:sp>
      <p:sp>
        <p:nvSpPr>
          <p:cNvPr id="5" name="Text 3"/>
          <p:cNvSpPr/>
          <p:nvPr/>
        </p:nvSpPr>
        <p:spPr>
          <a:xfrm>
            <a:off x="502920" y="731520"/>
            <a:ext cx="3657600" cy="274320"/>
          </a:xfrm>
          <a:prstGeom prst="rect">
            <a:avLst/>
          </a:prstGeom>
          <a:noFill/>
          <a:ln/>
        </p:spPr>
        <p:txBody>
          <a:bodyPr wrap="square" lIns="0" tIns="0" rIns="0" bIns="0" rtlCol="0" anchor="ctr"/>
          <a:lstStyle/>
          <a:p>
            <a:pPr marL="0" indent="0">
              <a:buNone/>
            </a:pPr>
            <a:r>
              <a:rPr lang="en-US" sz="800" b="1" kern="0" spc="300" dirty="0">
                <a:solidFill>
                  <a:srgbClr val="00AEEF"/>
                </a:solidFill>
                <a:latin typeface="Arial" pitchFamily="34" charset="0"/>
                <a:ea typeface="Arial" pitchFamily="34" charset="-122"/>
                <a:cs typeface="Arial" pitchFamily="34" charset="-120"/>
              </a:rPr>
              <a:t>EKOSCAN INTEGRITY GROUP</a:t>
            </a:r>
            <a:endParaRPr lang="en-US" sz="800" dirty="0"/>
          </a:p>
        </p:txBody>
      </p:sp>
      <p:sp>
        <p:nvSpPr>
          <p:cNvPr id="6" name="Text 4"/>
          <p:cNvSpPr/>
          <p:nvPr/>
        </p:nvSpPr>
        <p:spPr>
          <a:xfrm>
            <a:off x="502920" y="1005840"/>
            <a:ext cx="3657600" cy="228600"/>
          </a:xfrm>
          <a:prstGeom prst="rect">
            <a:avLst/>
          </a:prstGeom>
          <a:noFill/>
          <a:ln/>
        </p:spPr>
        <p:txBody>
          <a:bodyPr wrap="square" lIns="0" tIns="0" rIns="0" bIns="0" rtlCol="0" anchor="ctr"/>
          <a:lstStyle/>
          <a:p>
            <a:pPr marL="0" indent="0">
              <a:buNone/>
            </a:pPr>
            <a:r>
              <a:rPr lang="en-US" sz="750" kern="0" spc="200" dirty="0">
                <a:solidFill>
                  <a:srgbClr val="6678A0"/>
                </a:solidFill>
                <a:latin typeface="Arial" pitchFamily="34" charset="0"/>
                <a:ea typeface="Arial" pitchFamily="34" charset="-122"/>
                <a:cs typeface="Arial" pitchFamily="34" charset="-120"/>
              </a:rPr>
              <a:t>BU SERVICES  ·  NUCLEOM  ·  NORTECH</a:t>
            </a:r>
            <a:endParaRPr lang="en-US" sz="750" dirty="0"/>
          </a:p>
        </p:txBody>
      </p:sp>
      <p:sp>
        <p:nvSpPr>
          <p:cNvPr id="7" name="Text 5"/>
          <p:cNvSpPr/>
          <p:nvPr/>
        </p:nvSpPr>
        <p:spPr>
          <a:xfrm>
            <a:off x="502920" y="1417320"/>
            <a:ext cx="3749040" cy="1463040"/>
          </a:xfrm>
          <a:prstGeom prst="rect">
            <a:avLst/>
          </a:prstGeom>
          <a:noFill/>
          <a:ln/>
        </p:spPr>
        <p:txBody>
          <a:bodyPr wrap="square" lIns="0" tIns="0" rIns="0" bIns="0" rtlCol="0" anchor="ctr"/>
          <a:lstStyle/>
          <a:p>
            <a:pPr marL="0" indent="0">
              <a:lnSpc>
                <a:spcPct val="115000"/>
              </a:lnSpc>
              <a:buNone/>
            </a:pPr>
            <a:r>
              <a:rPr lang="en-US" sz="3000" b="1" dirty="0">
                <a:solidFill>
                  <a:srgbClr val="FFFFFF"/>
                </a:solidFill>
                <a:latin typeface="Arial" pitchFamily="34" charset="0"/>
                <a:ea typeface="Arial" pitchFamily="34" charset="-122"/>
                <a:cs typeface="Arial" pitchFamily="34" charset="-120"/>
              </a:rPr>
              <a:t>Building Our</a:t>
            </a:r>
            <a:endParaRPr lang="en-US" sz="3000" dirty="0"/>
          </a:p>
          <a:p>
            <a:pPr marL="0" indent="0">
              <a:lnSpc>
                <a:spcPct val="115000"/>
              </a:lnSpc>
              <a:buNone/>
            </a:pPr>
            <a:r>
              <a:rPr lang="en-US" sz="3000" b="1" dirty="0">
                <a:solidFill>
                  <a:srgbClr val="FFFFFF"/>
                </a:solidFill>
                <a:latin typeface="Arial" pitchFamily="34" charset="0"/>
                <a:ea typeface="Arial" pitchFamily="34" charset="-122"/>
                <a:cs typeface="Arial" pitchFamily="34" charset="-120"/>
              </a:rPr>
              <a:t>Commercial System</a:t>
            </a:r>
            <a:endParaRPr lang="en-US" sz="3000" dirty="0"/>
          </a:p>
        </p:txBody>
      </p:sp>
      <p:sp>
        <p:nvSpPr>
          <p:cNvPr id="8" name="Text 6"/>
          <p:cNvSpPr/>
          <p:nvPr/>
        </p:nvSpPr>
        <p:spPr>
          <a:xfrm>
            <a:off x="502920" y="2971800"/>
            <a:ext cx="3749040" cy="365760"/>
          </a:xfrm>
          <a:prstGeom prst="rect">
            <a:avLst/>
          </a:prstGeom>
          <a:noFill/>
          <a:ln/>
        </p:spPr>
        <p:txBody>
          <a:bodyPr wrap="square" lIns="0" tIns="0" rIns="0" bIns="0" rtlCol="0" anchor="ctr"/>
          <a:lstStyle/>
          <a:p>
            <a:pPr marL="0" indent="0">
              <a:buNone/>
            </a:pPr>
            <a:r>
              <a:rPr lang="en-US" sz="1200" dirty="0">
                <a:solidFill>
                  <a:srgbClr val="E8EDF5"/>
                </a:solidFill>
                <a:latin typeface="Arial" pitchFamily="34" charset="0"/>
                <a:ea typeface="Arial" pitchFamily="34" charset="-122"/>
                <a:cs typeface="Arial" pitchFamily="34" charset="-120"/>
              </a:rPr>
              <a:t>A rollout address for the BU Services team</a:t>
            </a:r>
            <a:endParaRPr lang="en-US" sz="1200" dirty="0"/>
          </a:p>
        </p:txBody>
      </p:sp>
      <p:sp>
        <p:nvSpPr>
          <p:cNvPr id="9" name="Text 7"/>
          <p:cNvSpPr/>
          <p:nvPr/>
        </p:nvSpPr>
        <p:spPr>
          <a:xfrm>
            <a:off x="502920" y="3520440"/>
            <a:ext cx="3749040" cy="640080"/>
          </a:xfrm>
          <a:prstGeom prst="rect">
            <a:avLst/>
          </a:prstGeom>
          <a:noFill/>
          <a:ln/>
        </p:spPr>
        <p:txBody>
          <a:bodyPr wrap="square" lIns="0" tIns="0" rIns="0" bIns="0" rtlCol="0" anchor="ctr"/>
          <a:lstStyle/>
          <a:p>
            <a:pPr marL="0" indent="0">
              <a:lnSpc>
                <a:spcPct val="150000"/>
              </a:lnSpc>
              <a:buNone/>
            </a:pPr>
            <a:r>
              <a:rPr lang="en-US" sz="1000" b="1" dirty="0">
                <a:solidFill>
                  <a:srgbClr val="FFFFFF"/>
                </a:solidFill>
                <a:latin typeface="Arial" pitchFamily="34" charset="0"/>
                <a:ea typeface="Arial" pitchFamily="34" charset="-122"/>
                <a:cs typeface="Arial" pitchFamily="34" charset="-120"/>
              </a:rPr>
              <a:t>Jon Eustace</a:t>
            </a:r>
            <a:endParaRPr lang="en-US" sz="1000" dirty="0"/>
          </a:p>
          <a:p>
            <a:pPr marL="0" indent="0">
              <a:lnSpc>
                <a:spcPct val="150000"/>
              </a:lnSpc>
              <a:buNone/>
            </a:pPr>
            <a:r>
              <a:rPr lang="en-US" sz="1000" dirty="0">
                <a:solidFill>
                  <a:srgbClr val="6678A0"/>
                </a:solidFill>
                <a:latin typeface="Arial" pitchFamily="34" charset="0"/>
                <a:ea typeface="Arial" pitchFamily="34" charset="-122"/>
                <a:cs typeface="Arial" pitchFamily="34" charset="-120"/>
              </a:rPr>
              <a:t>CEO North America  ·  Ekoscan Integrity Group</a:t>
            </a:r>
            <a:endParaRPr lang="en-US" sz="1000" dirty="0"/>
          </a:p>
        </p:txBody>
      </p:sp>
      <p:sp>
        <p:nvSpPr>
          <p:cNvPr id="10" name="Shape 8"/>
          <p:cNvSpPr/>
          <p:nvPr/>
        </p:nvSpPr>
        <p:spPr>
          <a:xfrm>
            <a:off x="4937760" y="1280160"/>
            <a:ext cx="3474720" cy="749808"/>
          </a:xfrm>
          <a:prstGeom prst="rect">
            <a:avLst/>
          </a:prstGeom>
          <a:solidFill>
            <a:srgbClr val="0D1040"/>
          </a:solidFill>
          <a:ln w="12700">
            <a:solidFill>
              <a:srgbClr val="2D4A7A"/>
            </a:solidFill>
            <a:prstDash val="solid"/>
          </a:ln>
          <a:effectLst>
            <a:outerShdw blurRad="101600" dist="25400" dir="8100000" algn="bl" rotWithShape="0">
              <a:srgbClr val="000000">
                <a:alpha val="18000"/>
              </a:srgbClr>
            </a:outerShdw>
          </a:effectLst>
        </p:spPr>
        <p:txBody>
          <a:bodyPr/>
          <a:lstStyle/>
          <a:p>
            <a:endParaRPr lang="en-CA"/>
          </a:p>
        </p:txBody>
      </p:sp>
      <p:sp>
        <p:nvSpPr>
          <p:cNvPr id="11" name="Shape 9"/>
          <p:cNvSpPr/>
          <p:nvPr/>
        </p:nvSpPr>
        <p:spPr>
          <a:xfrm>
            <a:off x="4937760" y="1280160"/>
            <a:ext cx="54864" cy="749808"/>
          </a:xfrm>
          <a:prstGeom prst="rect">
            <a:avLst/>
          </a:prstGeom>
          <a:solidFill>
            <a:srgbClr val="00AEEF"/>
          </a:solidFill>
          <a:ln w="12700">
            <a:solidFill>
              <a:srgbClr val="00AEEF"/>
            </a:solidFill>
            <a:prstDash val="solid"/>
          </a:ln>
        </p:spPr>
        <p:txBody>
          <a:bodyPr/>
          <a:lstStyle/>
          <a:p>
            <a:endParaRPr lang="en-CA"/>
          </a:p>
        </p:txBody>
      </p:sp>
      <p:sp>
        <p:nvSpPr>
          <p:cNvPr id="12" name="Text 10"/>
          <p:cNvSpPr/>
          <p:nvPr/>
        </p:nvSpPr>
        <p:spPr>
          <a:xfrm>
            <a:off x="5120640" y="1335024"/>
            <a:ext cx="3108960" cy="347472"/>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2025</a:t>
            </a:r>
            <a:endParaRPr lang="en-US" sz="2200" dirty="0"/>
          </a:p>
        </p:txBody>
      </p:sp>
      <p:sp>
        <p:nvSpPr>
          <p:cNvPr id="13" name="Text 11"/>
          <p:cNvSpPr/>
          <p:nvPr/>
        </p:nvSpPr>
        <p:spPr>
          <a:xfrm>
            <a:off x="5120640" y="1682496"/>
            <a:ext cx="3108960" cy="256032"/>
          </a:xfrm>
          <a:prstGeom prst="rect">
            <a:avLst/>
          </a:prstGeom>
          <a:noFill/>
          <a:ln/>
        </p:spPr>
        <p:txBody>
          <a:bodyPr wrap="square" lIns="0" tIns="0" rIns="0" bIns="0" rtlCol="0" anchor="ctr"/>
          <a:lstStyle/>
          <a:p>
            <a:pPr marL="0" indent="0">
              <a:buNone/>
            </a:pPr>
            <a:r>
              <a:rPr lang="en-US" sz="900" dirty="0">
                <a:solidFill>
                  <a:srgbClr val="6678A0"/>
                </a:solidFill>
                <a:latin typeface="Arial" pitchFamily="34" charset="0"/>
                <a:ea typeface="Arial" pitchFamily="34" charset="-122"/>
                <a:cs typeface="Arial" pitchFamily="34" charset="-120"/>
              </a:rPr>
              <a:t>Nucleom acquired</a:t>
            </a:r>
            <a:endParaRPr lang="en-US" sz="900" dirty="0"/>
          </a:p>
        </p:txBody>
      </p:sp>
      <p:sp>
        <p:nvSpPr>
          <p:cNvPr id="14" name="Shape 12"/>
          <p:cNvSpPr/>
          <p:nvPr/>
        </p:nvSpPr>
        <p:spPr>
          <a:xfrm>
            <a:off x="4937760" y="2331720"/>
            <a:ext cx="3474720" cy="749808"/>
          </a:xfrm>
          <a:prstGeom prst="rect">
            <a:avLst/>
          </a:prstGeom>
          <a:solidFill>
            <a:srgbClr val="0D1040"/>
          </a:solidFill>
          <a:ln w="12700">
            <a:solidFill>
              <a:srgbClr val="2D4A7A"/>
            </a:solidFill>
            <a:prstDash val="solid"/>
          </a:ln>
          <a:effectLst>
            <a:outerShdw blurRad="101600" dist="25400" dir="8100000" algn="bl" rotWithShape="0">
              <a:srgbClr val="000000">
                <a:alpha val="18000"/>
              </a:srgbClr>
            </a:outerShdw>
          </a:effectLst>
        </p:spPr>
        <p:txBody>
          <a:bodyPr/>
          <a:lstStyle/>
          <a:p>
            <a:endParaRPr lang="en-CA"/>
          </a:p>
        </p:txBody>
      </p:sp>
      <p:sp>
        <p:nvSpPr>
          <p:cNvPr id="15" name="Shape 13"/>
          <p:cNvSpPr/>
          <p:nvPr/>
        </p:nvSpPr>
        <p:spPr>
          <a:xfrm>
            <a:off x="4937760" y="2331720"/>
            <a:ext cx="54864" cy="749808"/>
          </a:xfrm>
          <a:prstGeom prst="rect">
            <a:avLst/>
          </a:prstGeom>
          <a:solidFill>
            <a:srgbClr val="16A34A"/>
          </a:solidFill>
          <a:ln w="12700">
            <a:solidFill>
              <a:srgbClr val="16A34A"/>
            </a:solidFill>
            <a:prstDash val="solid"/>
          </a:ln>
        </p:spPr>
        <p:txBody>
          <a:bodyPr/>
          <a:lstStyle/>
          <a:p>
            <a:endParaRPr lang="en-CA"/>
          </a:p>
        </p:txBody>
      </p:sp>
      <p:sp>
        <p:nvSpPr>
          <p:cNvPr id="16" name="Text 14"/>
          <p:cNvSpPr/>
          <p:nvPr/>
        </p:nvSpPr>
        <p:spPr>
          <a:xfrm>
            <a:off x="5120640" y="2386584"/>
            <a:ext cx="3108960" cy="347472"/>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2024</a:t>
            </a:r>
            <a:endParaRPr lang="en-US" sz="2200" dirty="0"/>
          </a:p>
        </p:txBody>
      </p:sp>
      <p:sp>
        <p:nvSpPr>
          <p:cNvPr id="17" name="Text 15"/>
          <p:cNvSpPr/>
          <p:nvPr/>
        </p:nvSpPr>
        <p:spPr>
          <a:xfrm>
            <a:off x="5120640" y="2734056"/>
            <a:ext cx="3108960" cy="256032"/>
          </a:xfrm>
          <a:prstGeom prst="rect">
            <a:avLst/>
          </a:prstGeom>
          <a:noFill/>
          <a:ln/>
        </p:spPr>
        <p:txBody>
          <a:bodyPr wrap="square" lIns="0" tIns="0" rIns="0" bIns="0" rtlCol="0" anchor="ctr"/>
          <a:lstStyle/>
          <a:p>
            <a:pPr marL="0" indent="0">
              <a:buNone/>
            </a:pPr>
            <a:r>
              <a:rPr lang="en-US" sz="900" dirty="0">
                <a:solidFill>
                  <a:srgbClr val="6678A0"/>
                </a:solidFill>
                <a:latin typeface="Arial" pitchFamily="34" charset="0"/>
                <a:ea typeface="Arial" pitchFamily="34" charset="-122"/>
                <a:cs typeface="Arial" pitchFamily="34" charset="-120"/>
              </a:rPr>
              <a:t>Nortech acquired</a:t>
            </a:r>
            <a:endParaRPr lang="en-US" sz="900" dirty="0"/>
          </a:p>
        </p:txBody>
      </p:sp>
      <p:sp>
        <p:nvSpPr>
          <p:cNvPr id="18" name="Shape 16"/>
          <p:cNvSpPr/>
          <p:nvPr/>
        </p:nvSpPr>
        <p:spPr>
          <a:xfrm>
            <a:off x="4937760" y="3383280"/>
            <a:ext cx="3474720" cy="749808"/>
          </a:xfrm>
          <a:prstGeom prst="rect">
            <a:avLst/>
          </a:prstGeom>
          <a:solidFill>
            <a:srgbClr val="0D1040"/>
          </a:solidFill>
          <a:ln w="12700">
            <a:solidFill>
              <a:srgbClr val="2D4A7A"/>
            </a:solidFill>
            <a:prstDash val="solid"/>
          </a:ln>
          <a:effectLst>
            <a:outerShdw blurRad="101600" dist="25400" dir="8100000" algn="bl" rotWithShape="0">
              <a:srgbClr val="000000">
                <a:alpha val="18000"/>
              </a:srgbClr>
            </a:outerShdw>
          </a:effectLst>
        </p:spPr>
        <p:txBody>
          <a:bodyPr/>
          <a:lstStyle/>
          <a:p>
            <a:endParaRPr lang="en-CA"/>
          </a:p>
        </p:txBody>
      </p:sp>
      <p:sp>
        <p:nvSpPr>
          <p:cNvPr id="19" name="Shape 17"/>
          <p:cNvSpPr/>
          <p:nvPr/>
        </p:nvSpPr>
        <p:spPr>
          <a:xfrm>
            <a:off x="4937760" y="3383280"/>
            <a:ext cx="54864" cy="749808"/>
          </a:xfrm>
          <a:prstGeom prst="rect">
            <a:avLst/>
          </a:prstGeom>
          <a:solidFill>
            <a:srgbClr val="C9860A"/>
          </a:solidFill>
          <a:ln w="12700">
            <a:solidFill>
              <a:srgbClr val="C9860A"/>
            </a:solidFill>
            <a:prstDash val="solid"/>
          </a:ln>
        </p:spPr>
        <p:txBody>
          <a:bodyPr/>
          <a:lstStyle/>
          <a:p>
            <a:endParaRPr lang="en-CA"/>
          </a:p>
        </p:txBody>
      </p:sp>
      <p:sp>
        <p:nvSpPr>
          <p:cNvPr id="20" name="Text 18"/>
          <p:cNvSpPr/>
          <p:nvPr/>
        </p:nvSpPr>
        <p:spPr>
          <a:xfrm>
            <a:off x="5120640" y="3438144"/>
            <a:ext cx="3108960" cy="347472"/>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$92.8M</a:t>
            </a:r>
            <a:endParaRPr lang="en-US" sz="2200" dirty="0"/>
          </a:p>
        </p:txBody>
      </p:sp>
      <p:sp>
        <p:nvSpPr>
          <p:cNvPr id="21" name="Text 19"/>
          <p:cNvSpPr/>
          <p:nvPr/>
        </p:nvSpPr>
        <p:spPr>
          <a:xfrm>
            <a:off x="5120640" y="3785616"/>
            <a:ext cx="3108960" cy="256032"/>
          </a:xfrm>
          <a:prstGeom prst="rect">
            <a:avLst/>
          </a:prstGeom>
          <a:noFill/>
          <a:ln/>
        </p:spPr>
        <p:txBody>
          <a:bodyPr wrap="square" lIns="0" tIns="0" rIns="0" bIns="0" rtlCol="0" anchor="ctr"/>
          <a:lstStyle/>
          <a:p>
            <a:pPr marL="0" indent="0">
              <a:buNone/>
            </a:pPr>
            <a:r>
              <a:rPr lang="en-US" sz="900" dirty="0">
                <a:solidFill>
                  <a:srgbClr val="6678A0"/>
                </a:solidFill>
                <a:latin typeface="Arial" pitchFamily="34" charset="0"/>
                <a:ea typeface="Arial" pitchFamily="34" charset="-122"/>
                <a:cs typeface="Arial" pitchFamily="34" charset="-120"/>
              </a:rPr>
              <a:t>5-year target</a:t>
            </a:r>
            <a:endParaRPr lang="en-US" sz="900" dirty="0"/>
          </a:p>
        </p:txBody>
      </p:sp>
      <p:sp>
        <p:nvSpPr>
          <p:cNvPr id="22" name="Shape 20"/>
          <p:cNvSpPr/>
          <p:nvPr/>
        </p:nvSpPr>
        <p:spPr>
          <a:xfrm>
            <a:off x="0" y="4800600"/>
            <a:ext cx="9144000" cy="342900"/>
          </a:xfrm>
          <a:prstGeom prst="rect">
            <a:avLst/>
          </a:prstGeom>
          <a:solidFill>
            <a:srgbClr val="060E2A"/>
          </a:solidFill>
          <a:ln w="12700">
            <a:solidFill>
              <a:srgbClr val="060E2A"/>
            </a:solidFill>
            <a:prstDash val="solid"/>
          </a:ln>
        </p:spPr>
        <p:txBody>
          <a:bodyPr/>
          <a:lstStyle/>
          <a:p>
            <a:endParaRPr lang="en-CA"/>
          </a:p>
        </p:txBody>
      </p:sp>
      <p:sp>
        <p:nvSpPr>
          <p:cNvPr id="23" name="Text 21"/>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Confidential  ·  Internal Use Only  ·  April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EEF"/>
          </a:solidFill>
          <a:ln w="12700">
            <a:solidFill>
              <a:srgbClr val="00AEEF"/>
            </a:solidFill>
            <a:prstDash val="solid"/>
          </a:ln>
        </p:spPr>
        <p:txBody>
          <a:bodyPr/>
          <a:lstStyle/>
          <a:p>
            <a:endParaRPr lang="en-CA"/>
          </a:p>
        </p:txBody>
      </p:sp>
      <p:sp>
        <p:nvSpPr>
          <p:cNvPr id="3" name="Text 1"/>
          <p:cNvSpPr/>
          <p:nvPr/>
        </p:nvSpPr>
        <p:spPr>
          <a:xfrm>
            <a:off x="502920" y="228600"/>
            <a:ext cx="4572000" cy="256032"/>
          </a:xfrm>
          <a:prstGeom prst="rect">
            <a:avLst/>
          </a:prstGeom>
          <a:noFill/>
          <a:ln/>
        </p:spPr>
        <p:txBody>
          <a:bodyPr wrap="square" lIns="0" tIns="0" rIns="0" bIns="0" rtlCol="0" anchor="ctr"/>
          <a:lstStyle/>
          <a:p>
            <a:pPr marL="0" indent="0">
              <a:buNone/>
            </a:pPr>
            <a:r>
              <a:rPr lang="en-US" sz="800" b="1" kern="0" spc="300" dirty="0">
                <a:solidFill>
                  <a:srgbClr val="00AEEF"/>
                </a:solidFill>
                <a:latin typeface="Arial" pitchFamily="34" charset="0"/>
                <a:ea typeface="Arial" pitchFamily="34" charset="-122"/>
                <a:cs typeface="Arial" pitchFamily="34" charset="-120"/>
              </a:rPr>
              <a:t>BEFORE WE START</a:t>
            </a:r>
            <a:endParaRPr lang="en-US" sz="800" dirty="0"/>
          </a:p>
        </p:txBody>
      </p:sp>
      <p:sp>
        <p:nvSpPr>
          <p:cNvPr id="4" name="Text 2"/>
          <p:cNvSpPr/>
          <p:nvPr/>
        </p:nvSpPr>
        <p:spPr>
          <a:xfrm>
            <a:off x="502920" y="502920"/>
            <a:ext cx="8229600" cy="1097280"/>
          </a:xfrm>
          <a:prstGeom prst="rect">
            <a:avLst/>
          </a:prstGeom>
          <a:noFill/>
          <a:ln/>
        </p:spPr>
        <p:txBody>
          <a:bodyPr wrap="square" lIns="0" tIns="0" rIns="0" bIns="0" rtlCol="0" anchor="ctr"/>
          <a:lstStyle/>
          <a:p>
            <a:pPr marL="0" indent="0">
              <a:lnSpc>
                <a:spcPct val="120000"/>
              </a:lnSpc>
              <a:buNone/>
            </a:pPr>
            <a:r>
              <a:rPr lang="en-US" sz="2800" b="1" dirty="0">
                <a:solidFill>
                  <a:srgbClr val="FFFFFF"/>
                </a:solidFill>
                <a:latin typeface="Arial" pitchFamily="34" charset="0"/>
                <a:ea typeface="Arial" pitchFamily="34" charset="-122"/>
                <a:cs typeface="Arial" pitchFamily="34" charset="-120"/>
              </a:rPr>
              <a:t>Let's name what everyone</a:t>
            </a:r>
            <a:endParaRPr lang="en-US" sz="2800" dirty="0"/>
          </a:p>
          <a:p>
            <a:pPr marL="0" indent="0">
              <a:lnSpc>
                <a:spcPct val="120000"/>
              </a:lnSpc>
              <a:buNone/>
            </a:pPr>
            <a:r>
              <a:rPr lang="en-US" sz="2800" b="1" dirty="0">
                <a:solidFill>
                  <a:srgbClr val="FFFFFF"/>
                </a:solidFill>
                <a:latin typeface="Arial" pitchFamily="34" charset="0"/>
                <a:ea typeface="Arial" pitchFamily="34" charset="-122"/>
                <a:cs typeface="Arial" pitchFamily="34" charset="-120"/>
              </a:rPr>
              <a:t>is already thinking.</a:t>
            </a:r>
            <a:endParaRPr lang="en-US" sz="2800" dirty="0"/>
          </a:p>
        </p:txBody>
      </p:sp>
      <p:sp>
        <p:nvSpPr>
          <p:cNvPr id="5" name="Shape 3"/>
          <p:cNvSpPr/>
          <p:nvPr/>
        </p:nvSpPr>
        <p:spPr>
          <a:xfrm>
            <a:off x="411480" y="1874520"/>
            <a:ext cx="2697480" cy="2606040"/>
          </a:xfrm>
          <a:prstGeom prst="rect">
            <a:avLst/>
          </a:prstGeom>
          <a:solidFill>
            <a:srgbClr val="0A1F5C"/>
          </a:solidFill>
          <a:ln w="12700">
            <a:solidFill>
              <a:srgbClr val="2D4A7A"/>
            </a:solidFill>
            <a:prstDash val="solid"/>
          </a:ln>
          <a:effectLst>
            <a:outerShdw blurRad="101600" dist="25400" dir="8100000" algn="bl" rotWithShape="0">
              <a:srgbClr val="000000">
                <a:alpha val="18000"/>
              </a:srgbClr>
            </a:outerShdw>
          </a:effectLst>
        </p:spPr>
        <p:txBody>
          <a:bodyPr/>
          <a:lstStyle/>
          <a:p>
            <a:endParaRPr lang="en-CA"/>
          </a:p>
        </p:txBody>
      </p:sp>
      <p:sp>
        <p:nvSpPr>
          <p:cNvPr id="6" name="Shape 4"/>
          <p:cNvSpPr/>
          <p:nvPr/>
        </p:nvSpPr>
        <p:spPr>
          <a:xfrm>
            <a:off x="411480" y="1874520"/>
            <a:ext cx="2697480" cy="54864"/>
          </a:xfrm>
          <a:prstGeom prst="rect">
            <a:avLst/>
          </a:prstGeom>
          <a:solidFill>
            <a:srgbClr val="C9860A"/>
          </a:solidFill>
          <a:ln w="12700">
            <a:solidFill>
              <a:srgbClr val="C9860A"/>
            </a:solidFill>
            <a:prstDash val="solid"/>
          </a:ln>
        </p:spPr>
        <p:txBody>
          <a:bodyPr/>
          <a:lstStyle/>
          <a:p>
            <a:endParaRPr lang="en-CA"/>
          </a:p>
        </p:txBody>
      </p:sp>
      <p:sp>
        <p:nvSpPr>
          <p:cNvPr id="7" name="Text 5"/>
          <p:cNvSpPr/>
          <p:nvPr/>
        </p:nvSpPr>
        <p:spPr>
          <a:xfrm>
            <a:off x="594360" y="2011680"/>
            <a:ext cx="237744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Change is unsettling</a:t>
            </a:r>
            <a:endParaRPr lang="en-US" sz="1100" dirty="0"/>
          </a:p>
        </p:txBody>
      </p:sp>
      <p:sp>
        <p:nvSpPr>
          <p:cNvPr id="8" name="Text 6"/>
          <p:cNvSpPr/>
          <p:nvPr/>
        </p:nvSpPr>
        <p:spPr>
          <a:xfrm>
            <a:off x="594360" y="2487168"/>
            <a:ext cx="2377440" cy="1828800"/>
          </a:xfrm>
          <a:prstGeom prst="rect">
            <a:avLst/>
          </a:prstGeom>
          <a:noFill/>
          <a:ln/>
        </p:spPr>
        <p:txBody>
          <a:bodyPr wrap="square" lIns="0" tIns="0" rIns="0" bIns="0" rtlCol="0" anchor="ctr"/>
          <a:lstStyle/>
          <a:p>
            <a:pPr marL="0" indent="0">
              <a:lnSpc>
                <a:spcPct val="145000"/>
              </a:lnSpc>
              <a:buNone/>
            </a:pPr>
            <a:r>
              <a:rPr lang="en-US" sz="950" dirty="0">
                <a:solidFill>
                  <a:srgbClr val="E8EDF5"/>
                </a:solidFill>
                <a:latin typeface="Arial" pitchFamily="34" charset="0"/>
                <a:ea typeface="Arial" pitchFamily="34" charset="-122"/>
                <a:cs typeface="Arial" pitchFamily="34" charset="-120"/>
              </a:rPr>
              <a:t>Nortech joined EIG in 2024. Nucleom joined in 2025. That's a lot of change in a short time — and not everyone knows yet what it means for their job, their clients, or their team.</a:t>
            </a:r>
            <a:endParaRPr lang="en-US" sz="950" dirty="0"/>
          </a:p>
        </p:txBody>
      </p:sp>
      <p:sp>
        <p:nvSpPr>
          <p:cNvPr id="9" name="Shape 7"/>
          <p:cNvSpPr/>
          <p:nvPr/>
        </p:nvSpPr>
        <p:spPr>
          <a:xfrm>
            <a:off x="3291840" y="1874520"/>
            <a:ext cx="2697480" cy="2606040"/>
          </a:xfrm>
          <a:prstGeom prst="rect">
            <a:avLst/>
          </a:prstGeom>
          <a:solidFill>
            <a:srgbClr val="0A1F5C"/>
          </a:solidFill>
          <a:ln w="12700">
            <a:solidFill>
              <a:srgbClr val="2D4A7A"/>
            </a:solidFill>
            <a:prstDash val="solid"/>
          </a:ln>
          <a:effectLst>
            <a:outerShdw blurRad="101600" dist="25400" dir="8100000" algn="bl" rotWithShape="0">
              <a:srgbClr val="000000">
                <a:alpha val="18000"/>
              </a:srgbClr>
            </a:outerShdw>
          </a:effectLst>
        </p:spPr>
        <p:txBody>
          <a:bodyPr/>
          <a:lstStyle/>
          <a:p>
            <a:endParaRPr lang="en-CA"/>
          </a:p>
        </p:txBody>
      </p:sp>
      <p:sp>
        <p:nvSpPr>
          <p:cNvPr id="10" name="Shape 8"/>
          <p:cNvSpPr/>
          <p:nvPr/>
        </p:nvSpPr>
        <p:spPr>
          <a:xfrm>
            <a:off x="3291840" y="1874520"/>
            <a:ext cx="2697480" cy="54864"/>
          </a:xfrm>
          <a:prstGeom prst="rect">
            <a:avLst/>
          </a:prstGeom>
          <a:solidFill>
            <a:srgbClr val="00AEEF"/>
          </a:solidFill>
          <a:ln w="12700">
            <a:solidFill>
              <a:srgbClr val="00AEEF"/>
            </a:solidFill>
            <a:prstDash val="solid"/>
          </a:ln>
        </p:spPr>
        <p:txBody>
          <a:bodyPr/>
          <a:lstStyle/>
          <a:p>
            <a:endParaRPr lang="en-CA"/>
          </a:p>
        </p:txBody>
      </p:sp>
      <p:sp>
        <p:nvSpPr>
          <p:cNvPr id="11" name="Text 9"/>
          <p:cNvSpPr/>
          <p:nvPr/>
        </p:nvSpPr>
        <p:spPr>
          <a:xfrm>
            <a:off x="3474720" y="2011680"/>
            <a:ext cx="237744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EIG bought your expertise — not a spreadsheet</a:t>
            </a:r>
            <a:endParaRPr lang="en-US" sz="1100" dirty="0"/>
          </a:p>
        </p:txBody>
      </p:sp>
      <p:sp>
        <p:nvSpPr>
          <p:cNvPr id="12" name="Text 10"/>
          <p:cNvSpPr/>
          <p:nvPr/>
        </p:nvSpPr>
        <p:spPr>
          <a:xfrm>
            <a:off x="3474720" y="2487168"/>
            <a:ext cx="2377440" cy="1828800"/>
          </a:xfrm>
          <a:prstGeom prst="rect">
            <a:avLst/>
          </a:prstGeom>
          <a:noFill/>
          <a:ln/>
        </p:spPr>
        <p:txBody>
          <a:bodyPr wrap="square" lIns="0" tIns="0" rIns="0" bIns="0" rtlCol="0" anchor="ctr"/>
          <a:lstStyle/>
          <a:p>
            <a:pPr marL="0" indent="0">
              <a:lnSpc>
                <a:spcPct val="145000"/>
              </a:lnSpc>
              <a:buNone/>
            </a:pPr>
            <a:r>
              <a:rPr lang="en-US" sz="950" dirty="0">
                <a:solidFill>
                  <a:srgbClr val="E8EDF5"/>
                </a:solidFill>
                <a:latin typeface="Arial" pitchFamily="34" charset="0"/>
                <a:ea typeface="Arial" pitchFamily="34" charset="-122"/>
                <a:cs typeface="Arial" pitchFamily="34" charset="-120"/>
              </a:rPr>
              <a:t>They acquired two companies because of what the people in this room know how to do. That's still the asset. Nothing we're building today changes that.</a:t>
            </a:r>
            <a:endParaRPr lang="en-US" sz="950" dirty="0"/>
          </a:p>
        </p:txBody>
      </p:sp>
      <p:sp>
        <p:nvSpPr>
          <p:cNvPr id="13" name="Shape 11"/>
          <p:cNvSpPr/>
          <p:nvPr/>
        </p:nvSpPr>
        <p:spPr>
          <a:xfrm>
            <a:off x="6172200" y="1874520"/>
            <a:ext cx="2697480" cy="2606040"/>
          </a:xfrm>
          <a:prstGeom prst="rect">
            <a:avLst/>
          </a:prstGeom>
          <a:solidFill>
            <a:srgbClr val="0A1F5C"/>
          </a:solidFill>
          <a:ln w="12700">
            <a:solidFill>
              <a:srgbClr val="2D4A7A"/>
            </a:solidFill>
            <a:prstDash val="solid"/>
          </a:ln>
          <a:effectLst>
            <a:outerShdw blurRad="101600" dist="25400" dir="8100000" algn="bl" rotWithShape="0">
              <a:srgbClr val="000000">
                <a:alpha val="18000"/>
              </a:srgbClr>
            </a:outerShdw>
          </a:effectLst>
        </p:spPr>
        <p:txBody>
          <a:bodyPr/>
          <a:lstStyle/>
          <a:p>
            <a:endParaRPr lang="en-CA"/>
          </a:p>
        </p:txBody>
      </p:sp>
      <p:sp>
        <p:nvSpPr>
          <p:cNvPr id="14" name="Shape 12"/>
          <p:cNvSpPr/>
          <p:nvPr/>
        </p:nvSpPr>
        <p:spPr>
          <a:xfrm>
            <a:off x="6172200" y="1874520"/>
            <a:ext cx="2697480" cy="54864"/>
          </a:xfrm>
          <a:prstGeom prst="rect">
            <a:avLst/>
          </a:prstGeom>
          <a:solidFill>
            <a:srgbClr val="16A34A"/>
          </a:solidFill>
          <a:ln w="12700">
            <a:solidFill>
              <a:srgbClr val="16A34A"/>
            </a:solidFill>
            <a:prstDash val="solid"/>
          </a:ln>
        </p:spPr>
        <p:txBody>
          <a:bodyPr/>
          <a:lstStyle/>
          <a:p>
            <a:endParaRPr lang="en-CA"/>
          </a:p>
        </p:txBody>
      </p:sp>
      <p:sp>
        <p:nvSpPr>
          <p:cNvPr id="15" name="Text 13"/>
          <p:cNvSpPr/>
          <p:nvPr/>
        </p:nvSpPr>
        <p:spPr>
          <a:xfrm>
            <a:off x="6355080" y="2011680"/>
            <a:ext cx="2377440" cy="38404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This isn't a mandate from head office</a:t>
            </a:r>
            <a:endParaRPr lang="en-US" sz="1100" dirty="0"/>
          </a:p>
        </p:txBody>
      </p:sp>
      <p:sp>
        <p:nvSpPr>
          <p:cNvPr id="16" name="Text 14"/>
          <p:cNvSpPr/>
          <p:nvPr/>
        </p:nvSpPr>
        <p:spPr>
          <a:xfrm>
            <a:off x="6355080" y="2487168"/>
            <a:ext cx="2377440" cy="1828800"/>
          </a:xfrm>
          <a:prstGeom prst="rect">
            <a:avLst/>
          </a:prstGeom>
          <a:noFill/>
          <a:ln/>
        </p:spPr>
        <p:txBody>
          <a:bodyPr wrap="square" lIns="0" tIns="0" rIns="0" bIns="0" rtlCol="0" anchor="ctr"/>
          <a:lstStyle/>
          <a:p>
            <a:pPr marL="0" indent="0">
              <a:lnSpc>
                <a:spcPct val="145000"/>
              </a:lnSpc>
              <a:buNone/>
            </a:pPr>
            <a:r>
              <a:rPr lang="en-US" sz="950" dirty="0">
                <a:solidFill>
                  <a:srgbClr val="E8EDF5"/>
                </a:solidFill>
                <a:latin typeface="Arial" pitchFamily="34" charset="0"/>
                <a:ea typeface="Arial" pitchFamily="34" charset="-122"/>
                <a:cs typeface="Arial" pitchFamily="34" charset="-120"/>
              </a:rPr>
              <a:t>It's a framework built around how you already work — designed to give every one of you a clearer lane and the visibility you've been asking for.</a:t>
            </a:r>
            <a:endParaRPr lang="en-US" sz="950" dirty="0"/>
          </a:p>
        </p:txBody>
      </p:sp>
      <p:sp>
        <p:nvSpPr>
          <p:cNvPr id="17" name="Shape 15"/>
          <p:cNvSpPr/>
          <p:nvPr/>
        </p:nvSpPr>
        <p:spPr>
          <a:xfrm>
            <a:off x="0" y="4800600"/>
            <a:ext cx="9144000" cy="342900"/>
          </a:xfrm>
          <a:prstGeom prst="rect">
            <a:avLst/>
          </a:prstGeom>
          <a:solidFill>
            <a:srgbClr val="060E2A"/>
          </a:solidFill>
          <a:ln w="12700">
            <a:solidFill>
              <a:srgbClr val="060E2A"/>
            </a:solidFill>
            <a:prstDash val="solid"/>
          </a:ln>
        </p:spPr>
        <p:txBody>
          <a:bodyPr/>
          <a:lstStyle/>
          <a:p>
            <a:endParaRPr lang="en-CA"/>
          </a:p>
        </p:txBody>
      </p:sp>
      <p:sp>
        <p:nvSpPr>
          <p:cNvPr id="18" name="Text 16"/>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EEF"/>
          </a:solidFill>
          <a:ln w="12700">
            <a:solidFill>
              <a:srgbClr val="00AEEF"/>
            </a:solidFill>
            <a:prstDash val="solid"/>
          </a:ln>
        </p:spPr>
        <p:txBody>
          <a:bodyPr/>
          <a:lstStyle/>
          <a:p>
            <a:endParaRPr lang="en-CA"/>
          </a:p>
        </p:txBody>
      </p:sp>
      <p:sp>
        <p:nvSpPr>
          <p:cNvPr id="3" name="Text 1"/>
          <p:cNvSpPr/>
          <p:nvPr/>
        </p:nvSpPr>
        <p:spPr>
          <a:xfrm>
            <a:off x="502920" y="201168"/>
            <a:ext cx="5486400" cy="256032"/>
          </a:xfrm>
          <a:prstGeom prst="rect">
            <a:avLst/>
          </a:prstGeom>
          <a:noFill/>
          <a:ln/>
        </p:spPr>
        <p:txBody>
          <a:bodyPr wrap="square" lIns="0" tIns="0" rIns="0" bIns="0" rtlCol="0" anchor="ctr"/>
          <a:lstStyle/>
          <a:p>
            <a:pPr marL="0" indent="0">
              <a:buNone/>
            </a:pPr>
            <a:r>
              <a:rPr lang="en-US" sz="800" b="1" kern="0" spc="300" dirty="0">
                <a:solidFill>
                  <a:srgbClr val="00AEEF"/>
                </a:solidFill>
                <a:latin typeface="Arial" pitchFamily="34" charset="0"/>
                <a:ea typeface="Arial" pitchFamily="34" charset="-122"/>
                <a:cs typeface="Arial" pitchFamily="34" charset="-120"/>
              </a:rPr>
              <a:t>WHAT WASN'T WORKING</a:t>
            </a:r>
            <a:endParaRPr lang="en-US" sz="800" dirty="0"/>
          </a:p>
        </p:txBody>
      </p:sp>
      <p:sp>
        <p:nvSpPr>
          <p:cNvPr id="4" name="Text 2"/>
          <p:cNvSpPr/>
          <p:nvPr/>
        </p:nvSpPr>
        <p:spPr>
          <a:xfrm>
            <a:off x="502920" y="457200"/>
            <a:ext cx="8229600" cy="594360"/>
          </a:xfrm>
          <a:prstGeom prst="rect">
            <a:avLst/>
          </a:prstGeom>
          <a:noFill/>
          <a:ln/>
        </p:spPr>
        <p:txBody>
          <a:bodyPr wrap="square" lIns="0" tIns="0" rIns="0" bIns="0" rtlCol="0" anchor="ctr"/>
          <a:lstStyle/>
          <a:p>
            <a:pPr marL="0" indent="0">
              <a:buNone/>
            </a:pPr>
            <a:r>
              <a:rPr lang="en-US" sz="2600" b="1" dirty="0">
                <a:solidFill>
                  <a:srgbClr val="0A1F5C"/>
                </a:solidFill>
                <a:latin typeface="Arial" pitchFamily="34" charset="0"/>
                <a:ea typeface="Arial" pitchFamily="34" charset="-122"/>
                <a:cs typeface="Arial" pitchFamily="34" charset="-120"/>
              </a:rPr>
              <a:t>You told us. We listened.</a:t>
            </a:r>
            <a:endParaRPr lang="en-US" sz="2600" dirty="0"/>
          </a:p>
        </p:txBody>
      </p:sp>
      <p:sp>
        <p:nvSpPr>
          <p:cNvPr id="5" name="Text 3"/>
          <p:cNvSpPr/>
          <p:nvPr/>
        </p:nvSpPr>
        <p:spPr>
          <a:xfrm>
            <a:off x="502920" y="1005840"/>
            <a:ext cx="8229600" cy="320040"/>
          </a:xfrm>
          <a:prstGeom prst="rect">
            <a:avLst/>
          </a:prstGeom>
          <a:noFill/>
          <a:ln/>
        </p:spPr>
        <p:txBody>
          <a:bodyPr wrap="square" lIns="0" tIns="0" rIns="0" bIns="0" rtlCol="0" anchor="ctr"/>
          <a:lstStyle/>
          <a:p>
            <a:pPr marL="0" indent="0">
              <a:buNone/>
            </a:pPr>
            <a:r>
              <a:rPr lang="en-US" sz="1200" dirty="0">
                <a:solidFill>
                  <a:srgbClr val="384660"/>
                </a:solidFill>
                <a:latin typeface="Arial" pitchFamily="34" charset="0"/>
                <a:ea typeface="Arial" pitchFamily="34" charset="-122"/>
                <a:cs typeface="Arial" pitchFamily="34" charset="-120"/>
              </a:rPr>
              <a:t>These weren't people problems. They were structure problems.</a:t>
            </a:r>
            <a:endParaRPr lang="en-US" sz="1200" dirty="0"/>
          </a:p>
        </p:txBody>
      </p:sp>
      <p:sp>
        <p:nvSpPr>
          <p:cNvPr id="6" name="Shape 4"/>
          <p:cNvSpPr/>
          <p:nvPr/>
        </p:nvSpPr>
        <p:spPr>
          <a:xfrm>
            <a:off x="411480" y="1508760"/>
            <a:ext cx="4160520" cy="1280160"/>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7" name="Shape 5"/>
          <p:cNvSpPr/>
          <p:nvPr/>
        </p:nvSpPr>
        <p:spPr>
          <a:xfrm>
            <a:off x="411480" y="1508760"/>
            <a:ext cx="54864" cy="1280160"/>
          </a:xfrm>
          <a:prstGeom prst="rect">
            <a:avLst/>
          </a:prstGeom>
          <a:solidFill>
            <a:srgbClr val="C9860A"/>
          </a:solidFill>
          <a:ln w="12700">
            <a:solidFill>
              <a:srgbClr val="C9860A"/>
            </a:solidFill>
            <a:prstDash val="solid"/>
          </a:ln>
        </p:spPr>
        <p:txBody>
          <a:bodyPr/>
          <a:lstStyle/>
          <a:p>
            <a:endParaRPr lang="en-CA"/>
          </a:p>
        </p:txBody>
      </p:sp>
      <p:sp>
        <p:nvSpPr>
          <p:cNvPr id="8" name="Text 6"/>
          <p:cNvSpPr/>
          <p:nvPr/>
        </p:nvSpPr>
        <p:spPr>
          <a:xfrm>
            <a:off x="594360" y="1636776"/>
            <a:ext cx="3840480" cy="274320"/>
          </a:xfrm>
          <a:prstGeom prst="rect">
            <a:avLst/>
          </a:prstGeom>
          <a:noFill/>
          <a:ln/>
        </p:spPr>
        <p:txBody>
          <a:bodyPr wrap="square" lIns="0" tIns="0" rIns="0" bIns="0" rtlCol="0" anchor="ctr"/>
          <a:lstStyle/>
          <a:p>
            <a:pPr marL="0" indent="0">
              <a:buNone/>
            </a:pPr>
            <a:r>
              <a:rPr lang="en-US" sz="1100" b="1" dirty="0">
                <a:solidFill>
                  <a:srgbClr val="0A1F5C"/>
                </a:solidFill>
                <a:latin typeface="Arial" pitchFamily="34" charset="0"/>
                <a:ea typeface="Arial" pitchFamily="34" charset="-122"/>
                <a:cs typeface="Arial" pitchFamily="34" charset="-120"/>
              </a:rPr>
              <a:t>Unclear ownership</a:t>
            </a:r>
            <a:endParaRPr lang="en-US" sz="1100" dirty="0"/>
          </a:p>
        </p:txBody>
      </p:sp>
      <p:sp>
        <p:nvSpPr>
          <p:cNvPr id="9" name="Text 7"/>
          <p:cNvSpPr/>
          <p:nvPr/>
        </p:nvSpPr>
        <p:spPr>
          <a:xfrm>
            <a:off x="594360" y="1947672"/>
            <a:ext cx="3840480" cy="749808"/>
          </a:xfrm>
          <a:prstGeom prst="rect">
            <a:avLst/>
          </a:prstGeom>
          <a:noFill/>
          <a:ln/>
        </p:spPr>
        <p:txBody>
          <a:bodyPr wrap="square" lIns="0" tIns="0" rIns="0" bIns="0" rtlCol="0" anchor="ctr"/>
          <a:lstStyle/>
          <a:p>
            <a:pPr marL="0" indent="0">
              <a:lnSpc>
                <a:spcPct val="145000"/>
              </a:lnSpc>
              <a:buNone/>
            </a:pPr>
            <a:r>
              <a:rPr lang="en-US" sz="950" dirty="0">
                <a:solidFill>
                  <a:srgbClr val="384660"/>
                </a:solidFill>
                <a:latin typeface="Arial" pitchFamily="34" charset="0"/>
                <a:ea typeface="Arial" pitchFamily="34" charset="-122"/>
                <a:cs typeface="Arial" pitchFamily="34" charset="-120"/>
              </a:rPr>
              <a:t>Who owns this account? Is that my deal or someone else's? Am I supposed to be selling or delivering?</a:t>
            </a:r>
            <a:endParaRPr lang="en-US" sz="950" dirty="0"/>
          </a:p>
        </p:txBody>
      </p:sp>
      <p:sp>
        <p:nvSpPr>
          <p:cNvPr id="10" name="Shape 8"/>
          <p:cNvSpPr/>
          <p:nvPr/>
        </p:nvSpPr>
        <p:spPr>
          <a:xfrm>
            <a:off x="411480" y="2971800"/>
            <a:ext cx="4160520" cy="1280160"/>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11" name="Shape 9"/>
          <p:cNvSpPr/>
          <p:nvPr/>
        </p:nvSpPr>
        <p:spPr>
          <a:xfrm>
            <a:off x="411480" y="2971800"/>
            <a:ext cx="54864" cy="1280160"/>
          </a:xfrm>
          <a:prstGeom prst="rect">
            <a:avLst/>
          </a:prstGeom>
          <a:solidFill>
            <a:srgbClr val="C9860A"/>
          </a:solidFill>
          <a:ln w="12700">
            <a:solidFill>
              <a:srgbClr val="C9860A"/>
            </a:solidFill>
            <a:prstDash val="solid"/>
          </a:ln>
        </p:spPr>
        <p:txBody>
          <a:bodyPr/>
          <a:lstStyle/>
          <a:p>
            <a:endParaRPr lang="en-CA"/>
          </a:p>
        </p:txBody>
      </p:sp>
      <p:sp>
        <p:nvSpPr>
          <p:cNvPr id="12" name="Text 10"/>
          <p:cNvSpPr/>
          <p:nvPr/>
        </p:nvSpPr>
        <p:spPr>
          <a:xfrm>
            <a:off x="594360" y="3099816"/>
            <a:ext cx="3840480" cy="274320"/>
          </a:xfrm>
          <a:prstGeom prst="rect">
            <a:avLst/>
          </a:prstGeom>
          <a:noFill/>
          <a:ln/>
        </p:spPr>
        <p:txBody>
          <a:bodyPr wrap="square" lIns="0" tIns="0" rIns="0" bIns="0" rtlCol="0" anchor="ctr"/>
          <a:lstStyle/>
          <a:p>
            <a:pPr marL="0" indent="0">
              <a:buNone/>
            </a:pPr>
            <a:r>
              <a:rPr lang="en-US" sz="1100" b="1" dirty="0">
                <a:solidFill>
                  <a:srgbClr val="0A1F5C"/>
                </a:solidFill>
                <a:latin typeface="Arial" pitchFamily="34" charset="0"/>
                <a:ea typeface="Arial" pitchFamily="34" charset="-122"/>
                <a:cs typeface="Arial" pitchFamily="34" charset="-120"/>
              </a:rPr>
              <a:t>No shared view</a:t>
            </a:r>
            <a:endParaRPr lang="en-US" sz="1100" dirty="0"/>
          </a:p>
        </p:txBody>
      </p:sp>
      <p:sp>
        <p:nvSpPr>
          <p:cNvPr id="13" name="Text 11"/>
          <p:cNvSpPr/>
          <p:nvPr/>
        </p:nvSpPr>
        <p:spPr>
          <a:xfrm>
            <a:off x="594360" y="3410712"/>
            <a:ext cx="3840480" cy="749808"/>
          </a:xfrm>
          <a:prstGeom prst="rect">
            <a:avLst/>
          </a:prstGeom>
          <a:noFill/>
          <a:ln/>
        </p:spPr>
        <p:txBody>
          <a:bodyPr wrap="square" lIns="0" tIns="0" rIns="0" bIns="0" rtlCol="0" anchor="ctr"/>
          <a:lstStyle/>
          <a:p>
            <a:pPr marL="0" indent="0">
              <a:lnSpc>
                <a:spcPct val="145000"/>
              </a:lnSpc>
              <a:buNone/>
            </a:pPr>
            <a:r>
              <a:rPr lang="en-US" sz="950" dirty="0">
                <a:solidFill>
                  <a:srgbClr val="384660"/>
                </a:solidFill>
                <a:latin typeface="Arial" pitchFamily="34" charset="0"/>
                <a:ea typeface="Arial" pitchFamily="34" charset="-122"/>
                <a:cs typeface="Arial" pitchFamily="34" charset="-120"/>
              </a:rPr>
              <a:t>Left hand didn't know what the right hand was doing. Different snapshots in the same Monday meeting.</a:t>
            </a:r>
            <a:endParaRPr lang="en-US" sz="950" dirty="0"/>
          </a:p>
        </p:txBody>
      </p:sp>
      <p:sp>
        <p:nvSpPr>
          <p:cNvPr id="14" name="Shape 12"/>
          <p:cNvSpPr/>
          <p:nvPr/>
        </p:nvSpPr>
        <p:spPr>
          <a:xfrm>
            <a:off x="4846320" y="1508760"/>
            <a:ext cx="4160520" cy="1280160"/>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15" name="Shape 13"/>
          <p:cNvSpPr/>
          <p:nvPr/>
        </p:nvSpPr>
        <p:spPr>
          <a:xfrm>
            <a:off x="4846320" y="1508760"/>
            <a:ext cx="54864" cy="1280160"/>
          </a:xfrm>
          <a:prstGeom prst="rect">
            <a:avLst/>
          </a:prstGeom>
          <a:solidFill>
            <a:srgbClr val="C9860A"/>
          </a:solidFill>
          <a:ln w="12700">
            <a:solidFill>
              <a:srgbClr val="C9860A"/>
            </a:solidFill>
            <a:prstDash val="solid"/>
          </a:ln>
        </p:spPr>
        <p:txBody>
          <a:bodyPr/>
          <a:lstStyle/>
          <a:p>
            <a:endParaRPr lang="en-CA"/>
          </a:p>
        </p:txBody>
      </p:sp>
      <p:sp>
        <p:nvSpPr>
          <p:cNvPr id="16" name="Text 14"/>
          <p:cNvSpPr/>
          <p:nvPr/>
        </p:nvSpPr>
        <p:spPr>
          <a:xfrm>
            <a:off x="5029200" y="1636776"/>
            <a:ext cx="3840480" cy="274320"/>
          </a:xfrm>
          <a:prstGeom prst="rect">
            <a:avLst/>
          </a:prstGeom>
          <a:noFill/>
          <a:ln/>
        </p:spPr>
        <p:txBody>
          <a:bodyPr wrap="square" lIns="0" tIns="0" rIns="0" bIns="0" rtlCol="0" anchor="ctr"/>
          <a:lstStyle/>
          <a:p>
            <a:pPr marL="0" indent="0">
              <a:buNone/>
            </a:pPr>
            <a:r>
              <a:rPr lang="en-US" sz="1100" b="1" dirty="0">
                <a:solidFill>
                  <a:srgbClr val="0A1F5C"/>
                </a:solidFill>
                <a:latin typeface="Arial" pitchFamily="34" charset="0"/>
                <a:ea typeface="Arial" pitchFamily="34" charset="-122"/>
                <a:cs typeface="Arial" pitchFamily="34" charset="-120"/>
              </a:rPr>
              <a:t>Ops sometimes seems like an impossible position</a:t>
            </a:r>
            <a:endParaRPr lang="en-US" sz="1100" dirty="0"/>
          </a:p>
        </p:txBody>
      </p:sp>
      <p:sp>
        <p:nvSpPr>
          <p:cNvPr id="17" name="Text 15"/>
          <p:cNvSpPr/>
          <p:nvPr/>
        </p:nvSpPr>
        <p:spPr>
          <a:xfrm>
            <a:off x="5029200" y="1947672"/>
            <a:ext cx="3840480" cy="749808"/>
          </a:xfrm>
          <a:prstGeom prst="rect">
            <a:avLst/>
          </a:prstGeom>
          <a:noFill/>
          <a:ln/>
        </p:spPr>
        <p:txBody>
          <a:bodyPr wrap="square" lIns="0" tIns="0" rIns="0" bIns="0" rtlCol="0" anchor="ctr"/>
          <a:lstStyle/>
          <a:p>
            <a:pPr marL="0" indent="0">
              <a:lnSpc>
                <a:spcPct val="145000"/>
              </a:lnSpc>
              <a:buNone/>
            </a:pPr>
            <a:r>
              <a:rPr lang="en-US" sz="950" dirty="0">
                <a:solidFill>
                  <a:srgbClr val="384660"/>
                </a:solidFill>
                <a:latin typeface="Arial" pitchFamily="34" charset="0"/>
                <a:ea typeface="Arial" pitchFamily="34" charset="-122"/>
                <a:cs typeface="Arial" pitchFamily="34" charset="-120"/>
              </a:rPr>
              <a:t>Asked to deliver work without input on crew availability or timelines. Friction with no clear protocol to resolve it.</a:t>
            </a:r>
            <a:endParaRPr lang="en-US" sz="950" dirty="0"/>
          </a:p>
        </p:txBody>
      </p:sp>
      <p:sp>
        <p:nvSpPr>
          <p:cNvPr id="18" name="Shape 16"/>
          <p:cNvSpPr/>
          <p:nvPr/>
        </p:nvSpPr>
        <p:spPr>
          <a:xfrm>
            <a:off x="4846320" y="2971800"/>
            <a:ext cx="4160520" cy="1280160"/>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19" name="Shape 17"/>
          <p:cNvSpPr/>
          <p:nvPr/>
        </p:nvSpPr>
        <p:spPr>
          <a:xfrm>
            <a:off x="4846320" y="2971800"/>
            <a:ext cx="54864" cy="1280160"/>
          </a:xfrm>
          <a:prstGeom prst="rect">
            <a:avLst/>
          </a:prstGeom>
          <a:solidFill>
            <a:srgbClr val="C9860A"/>
          </a:solidFill>
          <a:ln w="12700">
            <a:solidFill>
              <a:srgbClr val="C9860A"/>
            </a:solidFill>
            <a:prstDash val="solid"/>
          </a:ln>
        </p:spPr>
        <p:txBody>
          <a:bodyPr/>
          <a:lstStyle/>
          <a:p>
            <a:endParaRPr lang="en-CA"/>
          </a:p>
        </p:txBody>
      </p:sp>
      <p:sp>
        <p:nvSpPr>
          <p:cNvPr id="20" name="Text 18"/>
          <p:cNvSpPr/>
          <p:nvPr/>
        </p:nvSpPr>
        <p:spPr>
          <a:xfrm>
            <a:off x="5029200" y="3099816"/>
            <a:ext cx="3840480" cy="274320"/>
          </a:xfrm>
          <a:prstGeom prst="rect">
            <a:avLst/>
          </a:prstGeom>
          <a:noFill/>
          <a:ln/>
        </p:spPr>
        <p:txBody>
          <a:bodyPr wrap="square" lIns="0" tIns="0" rIns="0" bIns="0" rtlCol="0" anchor="ctr"/>
          <a:lstStyle/>
          <a:p>
            <a:pPr marL="0" indent="0">
              <a:buNone/>
            </a:pPr>
            <a:r>
              <a:rPr lang="en-US" sz="1100" b="1" dirty="0">
                <a:solidFill>
                  <a:srgbClr val="0A1F5C"/>
                </a:solidFill>
                <a:latin typeface="Arial" pitchFamily="34" charset="0"/>
                <a:ea typeface="Arial" pitchFamily="34" charset="-122"/>
                <a:cs typeface="Arial" pitchFamily="34" charset="-120"/>
              </a:rPr>
              <a:t>Revenue invisible</a:t>
            </a:r>
            <a:endParaRPr lang="en-US" sz="1100" dirty="0"/>
          </a:p>
        </p:txBody>
      </p:sp>
      <p:sp>
        <p:nvSpPr>
          <p:cNvPr id="21" name="Text 19"/>
          <p:cNvSpPr/>
          <p:nvPr/>
        </p:nvSpPr>
        <p:spPr>
          <a:xfrm>
            <a:off x="5029200" y="3410712"/>
            <a:ext cx="3840480" cy="749808"/>
          </a:xfrm>
          <a:prstGeom prst="rect">
            <a:avLst/>
          </a:prstGeom>
          <a:noFill/>
          <a:ln/>
        </p:spPr>
        <p:txBody>
          <a:bodyPr wrap="square" lIns="0" tIns="0" rIns="0" bIns="0" rtlCol="0" anchor="ctr"/>
          <a:lstStyle/>
          <a:p>
            <a:pPr marL="0" indent="0">
              <a:lnSpc>
                <a:spcPct val="145000"/>
              </a:lnSpc>
              <a:buNone/>
            </a:pPr>
            <a:r>
              <a:rPr lang="en-US" sz="950" dirty="0">
                <a:solidFill>
                  <a:srgbClr val="384660"/>
                </a:solidFill>
                <a:latin typeface="Arial" pitchFamily="34" charset="0"/>
                <a:ea typeface="Arial" pitchFamily="34" charset="-122"/>
                <a:cs typeface="Arial" pitchFamily="34" charset="-120"/>
              </a:rPr>
              <a:t>Good work being done everywhere — but not captured, not visible, not flowing up to EIG and Eurazeo in a usable form.</a:t>
            </a:r>
            <a:endParaRPr lang="en-US" sz="950" dirty="0"/>
          </a:p>
        </p:txBody>
      </p:sp>
      <p:sp>
        <p:nvSpPr>
          <p:cNvPr id="22" name="Shape 20"/>
          <p:cNvSpPr/>
          <p:nvPr/>
        </p:nvSpPr>
        <p:spPr>
          <a:xfrm>
            <a:off x="0" y="4800600"/>
            <a:ext cx="9144000" cy="342900"/>
          </a:xfrm>
          <a:prstGeom prst="rect">
            <a:avLst/>
          </a:prstGeom>
          <a:solidFill>
            <a:srgbClr val="0A1F5C"/>
          </a:solidFill>
          <a:ln w="12700">
            <a:solidFill>
              <a:srgbClr val="0A1F5C"/>
            </a:solidFill>
            <a:prstDash val="solid"/>
          </a:ln>
        </p:spPr>
        <p:txBody>
          <a:bodyPr/>
          <a:lstStyle/>
          <a:p>
            <a:endParaRPr lang="en-CA"/>
          </a:p>
        </p:txBody>
      </p:sp>
      <p:sp>
        <p:nvSpPr>
          <p:cNvPr id="23" name="Text 21"/>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EEF"/>
          </a:solidFill>
          <a:ln w="12700">
            <a:solidFill>
              <a:srgbClr val="00AEEF"/>
            </a:solidFill>
            <a:prstDash val="solid"/>
          </a:ln>
        </p:spPr>
        <p:txBody>
          <a:bodyPr/>
          <a:lstStyle/>
          <a:p>
            <a:endParaRPr lang="en-CA"/>
          </a:p>
        </p:txBody>
      </p:sp>
      <p:sp>
        <p:nvSpPr>
          <p:cNvPr id="3" name="Text 1"/>
          <p:cNvSpPr/>
          <p:nvPr/>
        </p:nvSpPr>
        <p:spPr>
          <a:xfrm>
            <a:off x="502920" y="228600"/>
            <a:ext cx="8229600" cy="256032"/>
          </a:xfrm>
          <a:prstGeom prst="rect">
            <a:avLst/>
          </a:prstGeom>
          <a:noFill/>
          <a:ln/>
        </p:spPr>
        <p:txBody>
          <a:bodyPr wrap="square" lIns="0" tIns="0" rIns="0" bIns="0" rtlCol="0" anchor="ctr"/>
          <a:lstStyle/>
          <a:p>
            <a:pPr marL="0" indent="0">
              <a:buNone/>
            </a:pPr>
            <a:r>
              <a:rPr lang="en-US" sz="800" b="1" kern="0" spc="300" dirty="0">
                <a:solidFill>
                  <a:srgbClr val="00AEEF"/>
                </a:solidFill>
                <a:latin typeface="Arial" pitchFamily="34" charset="0"/>
                <a:ea typeface="Arial" pitchFamily="34" charset="-122"/>
                <a:cs typeface="Arial" pitchFamily="34" charset="-120"/>
              </a:rPr>
              <a:t>WHAT CHANGES — AND WHAT DOESN'T</a:t>
            </a:r>
            <a:endParaRPr lang="en-US" sz="800" dirty="0"/>
          </a:p>
        </p:txBody>
      </p:sp>
      <p:sp>
        <p:nvSpPr>
          <p:cNvPr id="4" name="Text 2"/>
          <p:cNvSpPr/>
          <p:nvPr/>
        </p:nvSpPr>
        <p:spPr>
          <a:xfrm>
            <a:off x="502920" y="502920"/>
            <a:ext cx="8229600" cy="5943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This is a shared operating system. Not a new company.</a:t>
            </a:r>
            <a:endParaRPr lang="en-US" sz="2200" dirty="0"/>
          </a:p>
        </p:txBody>
      </p:sp>
      <p:sp>
        <p:nvSpPr>
          <p:cNvPr id="5" name="Shape 3"/>
          <p:cNvSpPr/>
          <p:nvPr/>
        </p:nvSpPr>
        <p:spPr>
          <a:xfrm>
            <a:off x="411480" y="1280160"/>
            <a:ext cx="3931920" cy="3291840"/>
          </a:xfrm>
          <a:prstGeom prst="rect">
            <a:avLst/>
          </a:prstGeom>
          <a:solidFill>
            <a:srgbClr val="0A1F5C"/>
          </a:solidFill>
          <a:ln w="19050">
            <a:solidFill>
              <a:srgbClr val="B91C1C"/>
            </a:solidFill>
            <a:prstDash val="solid"/>
          </a:ln>
        </p:spPr>
        <p:txBody>
          <a:bodyPr/>
          <a:lstStyle/>
          <a:p>
            <a:endParaRPr lang="en-CA"/>
          </a:p>
        </p:txBody>
      </p:sp>
      <p:sp>
        <p:nvSpPr>
          <p:cNvPr id="6" name="Shape 4"/>
          <p:cNvSpPr/>
          <p:nvPr/>
        </p:nvSpPr>
        <p:spPr>
          <a:xfrm>
            <a:off x="411480" y="1280160"/>
            <a:ext cx="3931920" cy="384048"/>
          </a:xfrm>
          <a:prstGeom prst="rect">
            <a:avLst/>
          </a:prstGeom>
          <a:solidFill>
            <a:srgbClr val="B91C1C"/>
          </a:solidFill>
          <a:ln w="12700">
            <a:solidFill>
              <a:srgbClr val="B91C1C"/>
            </a:solidFill>
            <a:prstDash val="solid"/>
          </a:ln>
        </p:spPr>
        <p:txBody>
          <a:bodyPr/>
          <a:lstStyle/>
          <a:p>
            <a:endParaRPr lang="en-CA"/>
          </a:p>
        </p:txBody>
      </p:sp>
      <p:sp>
        <p:nvSpPr>
          <p:cNvPr id="7" name="Text 5"/>
          <p:cNvSpPr/>
          <p:nvPr/>
        </p:nvSpPr>
        <p:spPr>
          <a:xfrm>
            <a:off x="594360" y="1307592"/>
            <a:ext cx="3657600" cy="329184"/>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THIS IS NOT</a:t>
            </a:r>
            <a:endParaRPr lang="en-US" sz="1100" dirty="0"/>
          </a:p>
        </p:txBody>
      </p:sp>
      <p:sp>
        <p:nvSpPr>
          <p:cNvPr id="8" name="Text 6"/>
          <p:cNvSpPr/>
          <p:nvPr/>
        </p:nvSpPr>
        <p:spPr>
          <a:xfrm>
            <a:off x="594360" y="1755648"/>
            <a:ext cx="3657600" cy="2651760"/>
          </a:xfrm>
          <a:prstGeom prst="rect">
            <a:avLst/>
          </a:prstGeom>
          <a:noFill/>
          <a:ln/>
        </p:spPr>
        <p:txBody>
          <a:bodyPr wrap="square" lIns="0" tIns="0" rIns="0" bIns="0" rtlCol="0" anchor="ctr"/>
          <a:lstStyle/>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Forget your clients — your base business relationships don't change</a:t>
            </a:r>
            <a:endParaRPr lang="en-US" sz="1000" dirty="0"/>
          </a:p>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New work on top of your full workload — two things change</a:t>
            </a:r>
            <a:endParaRPr lang="en-US" sz="1000" dirty="0"/>
          </a:p>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Instructions from a parent company who doesn't understand your market</a:t>
            </a:r>
            <a:endParaRPr lang="en-US" sz="1000" dirty="0"/>
          </a:p>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A system that replaces what made Nucleom and Nortech good</a:t>
            </a:r>
            <a:endParaRPr lang="en-US" sz="1000" dirty="0"/>
          </a:p>
        </p:txBody>
      </p:sp>
      <p:sp>
        <p:nvSpPr>
          <p:cNvPr id="9" name="Shape 7"/>
          <p:cNvSpPr/>
          <p:nvPr/>
        </p:nvSpPr>
        <p:spPr>
          <a:xfrm>
            <a:off x="4800600" y="1280160"/>
            <a:ext cx="3931920" cy="3291840"/>
          </a:xfrm>
          <a:prstGeom prst="rect">
            <a:avLst/>
          </a:prstGeom>
          <a:solidFill>
            <a:srgbClr val="0A1F5C"/>
          </a:solidFill>
          <a:ln w="19050">
            <a:solidFill>
              <a:srgbClr val="16A34A"/>
            </a:solidFill>
            <a:prstDash val="solid"/>
          </a:ln>
        </p:spPr>
        <p:txBody>
          <a:bodyPr/>
          <a:lstStyle/>
          <a:p>
            <a:endParaRPr lang="en-CA"/>
          </a:p>
        </p:txBody>
      </p:sp>
      <p:sp>
        <p:nvSpPr>
          <p:cNvPr id="10" name="Shape 8"/>
          <p:cNvSpPr/>
          <p:nvPr/>
        </p:nvSpPr>
        <p:spPr>
          <a:xfrm>
            <a:off x="4800600" y="1280160"/>
            <a:ext cx="3931920" cy="384048"/>
          </a:xfrm>
          <a:prstGeom prst="rect">
            <a:avLst/>
          </a:prstGeom>
          <a:solidFill>
            <a:srgbClr val="16A34A"/>
          </a:solidFill>
          <a:ln w="12700">
            <a:solidFill>
              <a:srgbClr val="16A34A"/>
            </a:solidFill>
            <a:prstDash val="solid"/>
          </a:ln>
        </p:spPr>
        <p:txBody>
          <a:bodyPr/>
          <a:lstStyle/>
          <a:p>
            <a:endParaRPr lang="en-CA"/>
          </a:p>
        </p:txBody>
      </p:sp>
      <p:sp>
        <p:nvSpPr>
          <p:cNvPr id="11" name="Text 9"/>
          <p:cNvSpPr/>
          <p:nvPr/>
        </p:nvSpPr>
        <p:spPr>
          <a:xfrm>
            <a:off x="4983480" y="1307592"/>
            <a:ext cx="3657600" cy="329184"/>
          </a:xfrm>
          <a:prstGeom prst="rect">
            <a:avLst/>
          </a:prstGeom>
          <a:noFill/>
          <a:ln/>
        </p:spPr>
        <p:txBody>
          <a:bodyPr wrap="square" lIns="0" tIns="0" rIns="0" bIns="0" rtlCol="0" anchor="ctr"/>
          <a:lstStyle/>
          <a:p>
            <a:pPr marL="0" indent="0">
              <a:buNone/>
            </a:pPr>
            <a:r>
              <a:rPr lang="en-US" sz="1100" b="1" kern="0" spc="200" dirty="0">
                <a:solidFill>
                  <a:srgbClr val="FFFFFF"/>
                </a:solidFill>
                <a:latin typeface="Arial" pitchFamily="34" charset="0"/>
                <a:ea typeface="Arial" pitchFamily="34" charset="-122"/>
                <a:cs typeface="Arial" pitchFamily="34" charset="-120"/>
              </a:rPr>
              <a:t>THIS IS</a:t>
            </a:r>
            <a:endParaRPr lang="en-US" sz="1100" dirty="0"/>
          </a:p>
        </p:txBody>
      </p:sp>
      <p:sp>
        <p:nvSpPr>
          <p:cNvPr id="12" name="Text 10"/>
          <p:cNvSpPr/>
          <p:nvPr/>
        </p:nvSpPr>
        <p:spPr>
          <a:xfrm>
            <a:off x="4983480" y="1755648"/>
            <a:ext cx="3657600" cy="2651760"/>
          </a:xfrm>
          <a:prstGeom prst="rect">
            <a:avLst/>
          </a:prstGeom>
          <a:noFill/>
          <a:ln/>
        </p:spPr>
        <p:txBody>
          <a:bodyPr wrap="square" lIns="0" tIns="0" rIns="0" bIns="0" rtlCol="0" anchor="ctr"/>
          <a:lstStyle/>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A clear mandate for every person — your lane, your accounts, your protocol</a:t>
            </a:r>
            <a:endParaRPr lang="en-US" sz="1000" dirty="0"/>
          </a:p>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Visibility that lets leadership fight for your headcount and resources</a:t>
            </a:r>
            <a:endParaRPr lang="en-US" sz="1000" dirty="0"/>
          </a:p>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Your existing relationships made more valuable — not replaced by new ones</a:t>
            </a:r>
            <a:endParaRPr lang="en-US" sz="1000" dirty="0"/>
          </a:p>
          <a:p>
            <a:pPr marL="342900" indent="-342900">
              <a:lnSpc>
                <a:spcPct val="140000"/>
              </a:lnSpc>
              <a:spcAft>
                <a:spcPts val="800"/>
              </a:spcAft>
              <a:buSzPct val="100000"/>
              <a:buChar char="•"/>
            </a:pPr>
            <a:r>
              <a:rPr lang="en-US" sz="1000" dirty="0">
                <a:solidFill>
                  <a:srgbClr val="E8EDF5"/>
                </a:solidFill>
                <a:latin typeface="Arial" pitchFamily="34" charset="0"/>
                <a:ea typeface="Arial" pitchFamily="34" charset="-122"/>
                <a:cs typeface="Arial" pitchFamily="34" charset="-120"/>
              </a:rPr>
              <a:t>A scoreboard so you know whether your work is landing</a:t>
            </a:r>
            <a:endParaRPr lang="en-US" sz="1000" dirty="0"/>
          </a:p>
        </p:txBody>
      </p:sp>
      <p:sp>
        <p:nvSpPr>
          <p:cNvPr id="13" name="Shape 11"/>
          <p:cNvSpPr/>
          <p:nvPr/>
        </p:nvSpPr>
        <p:spPr>
          <a:xfrm>
            <a:off x="0" y="4800600"/>
            <a:ext cx="9144000" cy="342900"/>
          </a:xfrm>
          <a:prstGeom prst="rect">
            <a:avLst/>
          </a:prstGeom>
          <a:solidFill>
            <a:srgbClr val="060E2A"/>
          </a:solidFill>
          <a:ln w="12700">
            <a:solidFill>
              <a:srgbClr val="060E2A"/>
            </a:solidFill>
            <a:prstDash val="solid"/>
          </a:ln>
        </p:spPr>
        <p:txBody>
          <a:bodyPr/>
          <a:lstStyle/>
          <a:p>
            <a:endParaRPr lang="en-CA"/>
          </a:p>
        </p:txBody>
      </p:sp>
      <p:sp>
        <p:nvSpPr>
          <p:cNvPr id="14" name="Text 12"/>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6A34A"/>
          </a:solidFill>
          <a:ln w="12700">
            <a:solidFill>
              <a:srgbClr val="16A34A"/>
            </a:solidFill>
            <a:prstDash val="solid"/>
          </a:ln>
        </p:spPr>
        <p:txBody>
          <a:bodyPr/>
          <a:lstStyle/>
          <a:p>
            <a:endParaRPr lang="en-CA"/>
          </a:p>
        </p:txBody>
      </p:sp>
      <p:sp>
        <p:nvSpPr>
          <p:cNvPr id="3" name="Text 1"/>
          <p:cNvSpPr/>
          <p:nvPr/>
        </p:nvSpPr>
        <p:spPr>
          <a:xfrm>
            <a:off x="502920" y="201168"/>
            <a:ext cx="5486400" cy="256032"/>
          </a:xfrm>
          <a:prstGeom prst="rect">
            <a:avLst/>
          </a:prstGeom>
          <a:noFill/>
          <a:ln/>
        </p:spPr>
        <p:txBody>
          <a:bodyPr wrap="square" lIns="0" tIns="0" rIns="0" bIns="0" rtlCol="0" anchor="ctr"/>
          <a:lstStyle/>
          <a:p>
            <a:pPr marL="0" indent="0">
              <a:buNone/>
            </a:pPr>
            <a:r>
              <a:rPr lang="en-US" sz="800" b="1" kern="0" spc="300" dirty="0">
                <a:solidFill>
                  <a:srgbClr val="16A34A"/>
                </a:solidFill>
                <a:latin typeface="Arial" pitchFamily="34" charset="0"/>
                <a:ea typeface="Arial" pitchFamily="34" charset="-122"/>
                <a:cs typeface="Arial" pitchFamily="34" charset="-120"/>
              </a:rPr>
              <a:t>THE FIVE GROWTH INITIATIVES</a:t>
            </a:r>
            <a:endParaRPr lang="en-US" sz="800" dirty="0"/>
          </a:p>
        </p:txBody>
      </p:sp>
      <p:sp>
        <p:nvSpPr>
          <p:cNvPr id="4" name="Text 2"/>
          <p:cNvSpPr/>
          <p:nvPr/>
        </p:nvSpPr>
        <p:spPr>
          <a:xfrm>
            <a:off x="502920" y="457200"/>
            <a:ext cx="8229600" cy="502920"/>
          </a:xfrm>
          <a:prstGeom prst="rect">
            <a:avLst/>
          </a:prstGeom>
          <a:noFill/>
          <a:ln/>
        </p:spPr>
        <p:txBody>
          <a:bodyPr wrap="square" lIns="0" tIns="0" rIns="0" bIns="0" rtlCol="0" anchor="ctr"/>
          <a:lstStyle/>
          <a:p>
            <a:pPr marL="0" indent="0">
              <a:buNone/>
            </a:pPr>
            <a:r>
              <a:rPr lang="en-US" sz="2400" b="1" dirty="0">
                <a:solidFill>
                  <a:srgbClr val="0A1F5C"/>
                </a:solidFill>
                <a:latin typeface="Arial" pitchFamily="34" charset="0"/>
                <a:ea typeface="Arial" pitchFamily="34" charset="-122"/>
                <a:cs typeface="Arial" pitchFamily="34" charset="-120"/>
              </a:rPr>
              <a:t>Not EIG's ideas. Your expertise — codified.</a:t>
            </a:r>
            <a:endParaRPr lang="en-US" sz="2400" dirty="0"/>
          </a:p>
        </p:txBody>
      </p:sp>
      <p:sp>
        <p:nvSpPr>
          <p:cNvPr id="5" name="Text 3"/>
          <p:cNvSpPr/>
          <p:nvPr/>
        </p:nvSpPr>
        <p:spPr>
          <a:xfrm>
            <a:off x="502920" y="932688"/>
            <a:ext cx="8229600" cy="292608"/>
          </a:xfrm>
          <a:prstGeom prst="rect">
            <a:avLst/>
          </a:prstGeom>
          <a:noFill/>
          <a:ln/>
        </p:spPr>
        <p:txBody>
          <a:bodyPr wrap="square" lIns="0" tIns="0" rIns="0" bIns="0" rtlCol="0" anchor="ctr"/>
          <a:lstStyle/>
          <a:p>
            <a:pPr marL="0" indent="0">
              <a:buNone/>
            </a:pPr>
            <a:r>
              <a:rPr lang="en-US" sz="1050" dirty="0">
                <a:solidFill>
                  <a:srgbClr val="384660"/>
                </a:solidFill>
                <a:latin typeface="Arial" pitchFamily="34" charset="0"/>
                <a:ea typeface="Arial" pitchFamily="34" charset="-122"/>
                <a:cs typeface="Arial" pitchFamily="34" charset="-120"/>
              </a:rPr>
              <a:t>Every initiative is built on relationships, capabilities, and track record that existed before this plan was written.</a:t>
            </a:r>
            <a:endParaRPr lang="en-US" sz="1050" dirty="0"/>
          </a:p>
        </p:txBody>
      </p:sp>
      <p:sp>
        <p:nvSpPr>
          <p:cNvPr id="6" name="Shape 4"/>
          <p:cNvSpPr/>
          <p:nvPr/>
        </p:nvSpPr>
        <p:spPr>
          <a:xfrm>
            <a:off x="384048" y="1389888"/>
            <a:ext cx="1572768" cy="312724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7" name="Shape 5"/>
          <p:cNvSpPr/>
          <p:nvPr/>
        </p:nvSpPr>
        <p:spPr>
          <a:xfrm>
            <a:off x="384048" y="1389888"/>
            <a:ext cx="1572768" cy="640080"/>
          </a:xfrm>
          <a:prstGeom prst="rect">
            <a:avLst/>
          </a:prstGeom>
          <a:solidFill>
            <a:srgbClr val="196B24"/>
          </a:solidFill>
          <a:ln w="12700">
            <a:solidFill>
              <a:srgbClr val="196B24"/>
            </a:solidFill>
            <a:prstDash val="solid"/>
          </a:ln>
        </p:spPr>
        <p:txBody>
          <a:bodyPr/>
          <a:lstStyle/>
          <a:p>
            <a:endParaRPr lang="en-CA"/>
          </a:p>
        </p:txBody>
      </p:sp>
      <p:sp>
        <p:nvSpPr>
          <p:cNvPr id="8" name="Text 6"/>
          <p:cNvSpPr/>
          <p:nvPr/>
        </p:nvSpPr>
        <p:spPr>
          <a:xfrm>
            <a:off x="475488" y="1417320"/>
            <a:ext cx="1371600" cy="256032"/>
          </a:xfrm>
          <a:prstGeom prst="rect">
            <a:avLst/>
          </a:prstGeom>
          <a:noFill/>
          <a:ln/>
        </p:spPr>
        <p:txBody>
          <a:bodyPr wrap="square" lIns="0" tIns="0" rIns="0" bIns="0" rtlCol="0" anchor="ctr"/>
          <a:lstStyle/>
          <a:p>
            <a:pPr marL="0" indent="0">
              <a:buNone/>
            </a:pPr>
            <a:r>
              <a:rPr lang="en-US" sz="800" b="1" kern="0" spc="200" dirty="0">
                <a:solidFill>
                  <a:srgbClr val="AAAAAA"/>
                </a:solidFill>
                <a:latin typeface="Arial" pitchFamily="34" charset="0"/>
                <a:ea typeface="Arial" pitchFamily="34" charset="-122"/>
                <a:cs typeface="Arial" pitchFamily="34" charset="-120"/>
              </a:rPr>
              <a:t>01</a:t>
            </a:r>
            <a:endParaRPr lang="en-US" sz="800" dirty="0"/>
          </a:p>
        </p:txBody>
      </p:sp>
      <p:sp>
        <p:nvSpPr>
          <p:cNvPr id="9" name="Text 7"/>
          <p:cNvSpPr/>
          <p:nvPr/>
        </p:nvSpPr>
        <p:spPr>
          <a:xfrm>
            <a:off x="475488" y="1664208"/>
            <a:ext cx="137160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Mining NDT</a:t>
            </a:r>
            <a:endParaRPr lang="en-US" sz="1050" dirty="0"/>
          </a:p>
        </p:txBody>
      </p:sp>
      <p:sp>
        <p:nvSpPr>
          <p:cNvPr id="10" name="Text 8"/>
          <p:cNvSpPr/>
          <p:nvPr/>
        </p:nvSpPr>
        <p:spPr>
          <a:xfrm>
            <a:off x="475488" y="2121408"/>
            <a:ext cx="1371600" cy="384048"/>
          </a:xfrm>
          <a:prstGeom prst="rect">
            <a:avLst/>
          </a:prstGeom>
          <a:noFill/>
          <a:ln/>
        </p:spPr>
        <p:txBody>
          <a:bodyPr wrap="square" lIns="0" tIns="0" rIns="0" bIns="0" rtlCol="0" anchor="ctr"/>
          <a:lstStyle/>
          <a:p>
            <a:pPr marL="0" indent="0">
              <a:buNone/>
            </a:pPr>
            <a:r>
              <a:rPr lang="en-US" sz="1800" b="1" dirty="0">
                <a:solidFill>
                  <a:srgbClr val="0A1F5C"/>
                </a:solidFill>
                <a:latin typeface="Arial" pitchFamily="34" charset="0"/>
                <a:ea typeface="Arial" pitchFamily="34" charset="-122"/>
                <a:cs typeface="Arial" pitchFamily="34" charset="-120"/>
              </a:rPr>
              <a:t>$17.9M</a:t>
            </a:r>
            <a:endParaRPr lang="en-US" sz="1800" dirty="0"/>
          </a:p>
        </p:txBody>
      </p:sp>
      <p:sp>
        <p:nvSpPr>
          <p:cNvPr id="11" name="Text 9"/>
          <p:cNvSpPr/>
          <p:nvPr/>
        </p:nvSpPr>
        <p:spPr>
          <a:xfrm>
            <a:off x="475488" y="2505456"/>
            <a:ext cx="1371600" cy="201168"/>
          </a:xfrm>
          <a:prstGeom prst="rect">
            <a:avLst/>
          </a:prstGeom>
          <a:noFill/>
          <a:ln/>
        </p:spPr>
        <p:txBody>
          <a:bodyPr wrap="square" lIns="0" tIns="0" rIns="0" bIns="0" rtlCol="0" anchor="ctr"/>
          <a:lstStyle/>
          <a:p>
            <a:pPr marL="0" indent="0">
              <a:buNone/>
            </a:pPr>
            <a:r>
              <a:rPr lang="en-US" sz="750" dirty="0">
                <a:solidFill>
                  <a:srgbClr val="6678A0"/>
                </a:solidFill>
                <a:latin typeface="Arial" pitchFamily="34" charset="0"/>
                <a:ea typeface="Arial" pitchFamily="34" charset="-122"/>
                <a:cs typeface="Arial" pitchFamily="34" charset="-120"/>
              </a:rPr>
              <a:t>5-yr target</a:t>
            </a:r>
            <a:endParaRPr lang="en-US" sz="750" dirty="0"/>
          </a:p>
        </p:txBody>
      </p:sp>
      <p:sp>
        <p:nvSpPr>
          <p:cNvPr id="12" name="Text 10"/>
          <p:cNvSpPr/>
          <p:nvPr/>
        </p:nvSpPr>
        <p:spPr>
          <a:xfrm>
            <a:off x="475488" y="2788920"/>
            <a:ext cx="1371600" cy="219456"/>
          </a:xfrm>
          <a:prstGeom prst="rect">
            <a:avLst/>
          </a:prstGeom>
          <a:noFill/>
          <a:ln/>
        </p:spPr>
        <p:txBody>
          <a:bodyPr wrap="square" lIns="0" tIns="0" rIns="0" bIns="0" rtlCol="0" anchor="ctr"/>
          <a:lstStyle/>
          <a:p>
            <a:pPr marL="0" indent="0">
              <a:buNone/>
            </a:pPr>
            <a:r>
              <a:rPr lang="en-US" sz="800" b="1" dirty="0">
                <a:solidFill>
                  <a:srgbClr val="384660"/>
                </a:solidFill>
                <a:latin typeface="Arial" pitchFamily="34" charset="0"/>
                <a:ea typeface="Arial" pitchFamily="34" charset="-122"/>
                <a:cs typeface="Arial" pitchFamily="34" charset="-120"/>
              </a:rPr>
              <a:t>Vinoth / Emmanuel</a:t>
            </a:r>
            <a:endParaRPr lang="en-US" sz="800" dirty="0"/>
          </a:p>
        </p:txBody>
      </p:sp>
      <p:sp>
        <p:nvSpPr>
          <p:cNvPr id="13" name="Text 11"/>
          <p:cNvSpPr/>
          <p:nvPr/>
        </p:nvSpPr>
        <p:spPr>
          <a:xfrm>
            <a:off x="475488" y="3063240"/>
            <a:ext cx="1371600" cy="1298448"/>
          </a:xfrm>
          <a:prstGeom prst="rect">
            <a:avLst/>
          </a:prstGeom>
          <a:noFill/>
          <a:ln/>
        </p:spPr>
        <p:txBody>
          <a:bodyPr wrap="square" lIns="0" tIns="0" rIns="0" bIns="0" rtlCol="0" anchor="ctr"/>
          <a:lstStyle/>
          <a:p>
            <a:pPr marL="0" indent="0">
              <a:lnSpc>
                <a:spcPct val="140000"/>
              </a:lnSpc>
              <a:buNone/>
            </a:pPr>
            <a:r>
              <a:rPr lang="en-US" sz="850" dirty="0">
                <a:solidFill>
                  <a:srgbClr val="384660"/>
                </a:solidFill>
                <a:latin typeface="Arial" pitchFamily="34" charset="0"/>
                <a:ea typeface="Arial" pitchFamily="34" charset="-122"/>
                <a:cs typeface="Arial" pitchFamily="34" charset="-120"/>
              </a:rPr>
              <a:t>Nucleom accounts you already have — now a named growth track</a:t>
            </a:r>
            <a:endParaRPr lang="en-US" sz="850" dirty="0"/>
          </a:p>
        </p:txBody>
      </p:sp>
      <p:sp>
        <p:nvSpPr>
          <p:cNvPr id="14" name="Shape 12"/>
          <p:cNvSpPr/>
          <p:nvPr/>
        </p:nvSpPr>
        <p:spPr>
          <a:xfrm>
            <a:off x="2075688" y="1389888"/>
            <a:ext cx="1572768" cy="312724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15" name="Shape 13"/>
          <p:cNvSpPr/>
          <p:nvPr/>
        </p:nvSpPr>
        <p:spPr>
          <a:xfrm>
            <a:off x="2075688" y="1389888"/>
            <a:ext cx="1572768" cy="640080"/>
          </a:xfrm>
          <a:prstGeom prst="rect">
            <a:avLst/>
          </a:prstGeom>
          <a:solidFill>
            <a:srgbClr val="0A3A6B"/>
          </a:solidFill>
          <a:ln w="12700">
            <a:solidFill>
              <a:srgbClr val="0A3A6B"/>
            </a:solidFill>
            <a:prstDash val="solid"/>
          </a:ln>
        </p:spPr>
        <p:txBody>
          <a:bodyPr/>
          <a:lstStyle/>
          <a:p>
            <a:endParaRPr lang="en-CA"/>
          </a:p>
        </p:txBody>
      </p:sp>
      <p:sp>
        <p:nvSpPr>
          <p:cNvPr id="16" name="Text 14"/>
          <p:cNvSpPr/>
          <p:nvPr/>
        </p:nvSpPr>
        <p:spPr>
          <a:xfrm>
            <a:off x="2167128" y="1417320"/>
            <a:ext cx="1371600" cy="256032"/>
          </a:xfrm>
          <a:prstGeom prst="rect">
            <a:avLst/>
          </a:prstGeom>
          <a:noFill/>
          <a:ln/>
        </p:spPr>
        <p:txBody>
          <a:bodyPr wrap="square" lIns="0" tIns="0" rIns="0" bIns="0" rtlCol="0" anchor="ctr"/>
          <a:lstStyle/>
          <a:p>
            <a:pPr marL="0" indent="0">
              <a:buNone/>
            </a:pPr>
            <a:r>
              <a:rPr lang="en-US" sz="800" b="1" kern="0" spc="200" dirty="0">
                <a:solidFill>
                  <a:srgbClr val="AAAAAA"/>
                </a:solidFill>
                <a:latin typeface="Arial" pitchFamily="34" charset="0"/>
                <a:ea typeface="Arial" pitchFamily="34" charset="-122"/>
                <a:cs typeface="Arial" pitchFamily="34" charset="-120"/>
              </a:rPr>
              <a:t>02</a:t>
            </a:r>
            <a:endParaRPr lang="en-US" sz="800" dirty="0"/>
          </a:p>
        </p:txBody>
      </p:sp>
      <p:sp>
        <p:nvSpPr>
          <p:cNvPr id="17" name="Text 15"/>
          <p:cNvSpPr/>
          <p:nvPr/>
        </p:nvSpPr>
        <p:spPr>
          <a:xfrm>
            <a:off x="2167128" y="1664208"/>
            <a:ext cx="137160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Pipeline DA</a:t>
            </a:r>
            <a:endParaRPr lang="en-US" sz="1050" dirty="0"/>
          </a:p>
        </p:txBody>
      </p:sp>
      <p:sp>
        <p:nvSpPr>
          <p:cNvPr id="18" name="Text 16"/>
          <p:cNvSpPr/>
          <p:nvPr/>
        </p:nvSpPr>
        <p:spPr>
          <a:xfrm>
            <a:off x="2167128" y="2121408"/>
            <a:ext cx="1371600" cy="384048"/>
          </a:xfrm>
          <a:prstGeom prst="rect">
            <a:avLst/>
          </a:prstGeom>
          <a:noFill/>
          <a:ln/>
        </p:spPr>
        <p:txBody>
          <a:bodyPr wrap="square" lIns="0" tIns="0" rIns="0" bIns="0" rtlCol="0" anchor="ctr"/>
          <a:lstStyle/>
          <a:p>
            <a:pPr marL="0" indent="0">
              <a:buNone/>
            </a:pPr>
            <a:r>
              <a:rPr lang="en-US" sz="1800" b="1" dirty="0">
                <a:solidFill>
                  <a:srgbClr val="0A1F5C"/>
                </a:solidFill>
                <a:latin typeface="Arial" pitchFamily="34" charset="0"/>
                <a:ea typeface="Arial" pitchFamily="34" charset="-122"/>
                <a:cs typeface="Arial" pitchFamily="34" charset="-120"/>
              </a:rPr>
              <a:t>$30.0M</a:t>
            </a:r>
            <a:endParaRPr lang="en-US" sz="1800" dirty="0"/>
          </a:p>
        </p:txBody>
      </p:sp>
      <p:sp>
        <p:nvSpPr>
          <p:cNvPr id="19" name="Text 17"/>
          <p:cNvSpPr/>
          <p:nvPr/>
        </p:nvSpPr>
        <p:spPr>
          <a:xfrm>
            <a:off x="2167128" y="2505456"/>
            <a:ext cx="1371600" cy="201168"/>
          </a:xfrm>
          <a:prstGeom prst="rect">
            <a:avLst/>
          </a:prstGeom>
          <a:noFill/>
          <a:ln/>
        </p:spPr>
        <p:txBody>
          <a:bodyPr wrap="square" lIns="0" tIns="0" rIns="0" bIns="0" rtlCol="0" anchor="ctr"/>
          <a:lstStyle/>
          <a:p>
            <a:pPr marL="0" indent="0">
              <a:buNone/>
            </a:pPr>
            <a:r>
              <a:rPr lang="en-US" sz="750" dirty="0">
                <a:solidFill>
                  <a:srgbClr val="6678A0"/>
                </a:solidFill>
                <a:latin typeface="Arial" pitchFamily="34" charset="0"/>
                <a:ea typeface="Arial" pitchFamily="34" charset="-122"/>
                <a:cs typeface="Arial" pitchFamily="34" charset="-120"/>
              </a:rPr>
              <a:t>5-yr target</a:t>
            </a:r>
            <a:endParaRPr lang="en-US" sz="750" dirty="0"/>
          </a:p>
        </p:txBody>
      </p:sp>
      <p:sp>
        <p:nvSpPr>
          <p:cNvPr id="20" name="Text 18"/>
          <p:cNvSpPr/>
          <p:nvPr/>
        </p:nvSpPr>
        <p:spPr>
          <a:xfrm>
            <a:off x="2167128" y="2788920"/>
            <a:ext cx="1371600" cy="219456"/>
          </a:xfrm>
          <a:prstGeom prst="rect">
            <a:avLst/>
          </a:prstGeom>
          <a:noFill/>
          <a:ln/>
        </p:spPr>
        <p:txBody>
          <a:bodyPr wrap="square" lIns="0" tIns="0" rIns="0" bIns="0" rtlCol="0" anchor="ctr"/>
          <a:lstStyle/>
          <a:p>
            <a:pPr marL="0" indent="0">
              <a:buNone/>
            </a:pPr>
            <a:r>
              <a:rPr lang="en-US" sz="800" b="1" dirty="0">
                <a:solidFill>
                  <a:srgbClr val="384660"/>
                </a:solidFill>
                <a:latin typeface="Arial" pitchFamily="34" charset="0"/>
                <a:ea typeface="Arial" pitchFamily="34" charset="-122"/>
                <a:cs typeface="Arial" pitchFamily="34" charset="-120"/>
              </a:rPr>
              <a:t>Rick Carlton</a:t>
            </a:r>
            <a:endParaRPr lang="en-US" sz="800" dirty="0"/>
          </a:p>
        </p:txBody>
      </p:sp>
      <p:sp>
        <p:nvSpPr>
          <p:cNvPr id="21" name="Text 19"/>
          <p:cNvSpPr/>
          <p:nvPr/>
        </p:nvSpPr>
        <p:spPr>
          <a:xfrm>
            <a:off x="2167128" y="3063240"/>
            <a:ext cx="1371600" cy="1298448"/>
          </a:xfrm>
          <a:prstGeom prst="rect">
            <a:avLst/>
          </a:prstGeom>
          <a:noFill/>
          <a:ln/>
        </p:spPr>
        <p:txBody>
          <a:bodyPr wrap="square" lIns="0" tIns="0" rIns="0" bIns="0" rtlCol="0" anchor="ctr"/>
          <a:lstStyle/>
          <a:p>
            <a:pPr marL="0" indent="0">
              <a:lnSpc>
                <a:spcPct val="140000"/>
              </a:lnSpc>
              <a:buNone/>
            </a:pPr>
            <a:r>
              <a:rPr lang="en-US" sz="850" dirty="0">
                <a:solidFill>
                  <a:srgbClr val="384660"/>
                </a:solidFill>
                <a:latin typeface="Arial" pitchFamily="34" charset="0"/>
                <a:ea typeface="Arial" pitchFamily="34" charset="-122"/>
                <a:cs typeface="Arial" pitchFamily="34" charset="-120"/>
              </a:rPr>
              <a:t>Nortech expertise as a named practice with MSA potential at Pembina &amp; Tidewater</a:t>
            </a:r>
            <a:endParaRPr lang="en-US" sz="850" dirty="0"/>
          </a:p>
        </p:txBody>
      </p:sp>
      <p:sp>
        <p:nvSpPr>
          <p:cNvPr id="22" name="Shape 20"/>
          <p:cNvSpPr/>
          <p:nvPr/>
        </p:nvSpPr>
        <p:spPr>
          <a:xfrm>
            <a:off x="3767328" y="1389888"/>
            <a:ext cx="1572768" cy="312724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23" name="Shape 21"/>
          <p:cNvSpPr/>
          <p:nvPr/>
        </p:nvSpPr>
        <p:spPr>
          <a:xfrm>
            <a:off x="3767328" y="1389888"/>
            <a:ext cx="1572768" cy="640080"/>
          </a:xfrm>
          <a:prstGeom prst="rect">
            <a:avLst/>
          </a:prstGeom>
          <a:solidFill>
            <a:srgbClr val="4B1D8F"/>
          </a:solidFill>
          <a:ln w="12700">
            <a:solidFill>
              <a:srgbClr val="4B1D8F"/>
            </a:solidFill>
            <a:prstDash val="solid"/>
          </a:ln>
        </p:spPr>
        <p:txBody>
          <a:bodyPr/>
          <a:lstStyle/>
          <a:p>
            <a:endParaRPr lang="en-CA"/>
          </a:p>
        </p:txBody>
      </p:sp>
      <p:sp>
        <p:nvSpPr>
          <p:cNvPr id="24" name="Text 22"/>
          <p:cNvSpPr/>
          <p:nvPr/>
        </p:nvSpPr>
        <p:spPr>
          <a:xfrm>
            <a:off x="3858768" y="1417320"/>
            <a:ext cx="1371600" cy="256032"/>
          </a:xfrm>
          <a:prstGeom prst="rect">
            <a:avLst/>
          </a:prstGeom>
          <a:noFill/>
          <a:ln/>
        </p:spPr>
        <p:txBody>
          <a:bodyPr wrap="square" lIns="0" tIns="0" rIns="0" bIns="0" rtlCol="0" anchor="ctr"/>
          <a:lstStyle/>
          <a:p>
            <a:pPr marL="0" indent="0">
              <a:buNone/>
            </a:pPr>
            <a:r>
              <a:rPr lang="en-US" sz="800" b="1" kern="0" spc="200" dirty="0">
                <a:solidFill>
                  <a:srgbClr val="AAAAAA"/>
                </a:solidFill>
                <a:latin typeface="Arial" pitchFamily="34" charset="0"/>
                <a:ea typeface="Arial" pitchFamily="34" charset="-122"/>
                <a:cs typeface="Arial" pitchFamily="34" charset="-120"/>
              </a:rPr>
              <a:t>03</a:t>
            </a:r>
            <a:endParaRPr lang="en-US" sz="800" dirty="0"/>
          </a:p>
        </p:txBody>
      </p:sp>
      <p:sp>
        <p:nvSpPr>
          <p:cNvPr id="25" name="Text 23"/>
          <p:cNvSpPr/>
          <p:nvPr/>
        </p:nvSpPr>
        <p:spPr>
          <a:xfrm>
            <a:off x="3858768" y="1664208"/>
            <a:ext cx="137160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Powerline</a:t>
            </a:r>
            <a:endParaRPr lang="en-US" sz="1050" dirty="0"/>
          </a:p>
        </p:txBody>
      </p:sp>
      <p:sp>
        <p:nvSpPr>
          <p:cNvPr id="26" name="Text 24"/>
          <p:cNvSpPr/>
          <p:nvPr/>
        </p:nvSpPr>
        <p:spPr>
          <a:xfrm>
            <a:off x="3858768" y="2121408"/>
            <a:ext cx="1371600" cy="384048"/>
          </a:xfrm>
          <a:prstGeom prst="rect">
            <a:avLst/>
          </a:prstGeom>
          <a:noFill/>
          <a:ln/>
        </p:spPr>
        <p:txBody>
          <a:bodyPr wrap="square" lIns="0" tIns="0" rIns="0" bIns="0" rtlCol="0" anchor="ctr"/>
          <a:lstStyle/>
          <a:p>
            <a:pPr marL="0" indent="0">
              <a:buNone/>
            </a:pPr>
            <a:r>
              <a:rPr lang="en-US" sz="1800" b="1" dirty="0">
                <a:solidFill>
                  <a:srgbClr val="0A1F5C"/>
                </a:solidFill>
                <a:latin typeface="Arial" pitchFamily="34" charset="0"/>
                <a:ea typeface="Arial" pitchFamily="34" charset="-122"/>
                <a:cs typeface="Arial" pitchFamily="34" charset="-120"/>
              </a:rPr>
              <a:t>$10.2M</a:t>
            </a:r>
            <a:endParaRPr lang="en-US" sz="1800" dirty="0"/>
          </a:p>
        </p:txBody>
      </p:sp>
      <p:sp>
        <p:nvSpPr>
          <p:cNvPr id="27" name="Text 25"/>
          <p:cNvSpPr/>
          <p:nvPr/>
        </p:nvSpPr>
        <p:spPr>
          <a:xfrm>
            <a:off x="3858768" y="2505456"/>
            <a:ext cx="1371600" cy="201168"/>
          </a:xfrm>
          <a:prstGeom prst="rect">
            <a:avLst/>
          </a:prstGeom>
          <a:noFill/>
          <a:ln/>
        </p:spPr>
        <p:txBody>
          <a:bodyPr wrap="square" lIns="0" tIns="0" rIns="0" bIns="0" rtlCol="0" anchor="ctr"/>
          <a:lstStyle/>
          <a:p>
            <a:pPr marL="0" indent="0">
              <a:buNone/>
            </a:pPr>
            <a:r>
              <a:rPr lang="en-US" sz="750" dirty="0">
                <a:solidFill>
                  <a:srgbClr val="6678A0"/>
                </a:solidFill>
                <a:latin typeface="Arial" pitchFamily="34" charset="0"/>
                <a:ea typeface="Arial" pitchFamily="34" charset="-122"/>
                <a:cs typeface="Arial" pitchFamily="34" charset="-120"/>
              </a:rPr>
              <a:t>5-yr target</a:t>
            </a:r>
            <a:endParaRPr lang="en-US" sz="750" dirty="0"/>
          </a:p>
        </p:txBody>
      </p:sp>
      <p:sp>
        <p:nvSpPr>
          <p:cNvPr id="28" name="Text 26"/>
          <p:cNvSpPr/>
          <p:nvPr/>
        </p:nvSpPr>
        <p:spPr>
          <a:xfrm>
            <a:off x="3858768" y="2788920"/>
            <a:ext cx="1371600" cy="219456"/>
          </a:xfrm>
          <a:prstGeom prst="rect">
            <a:avLst/>
          </a:prstGeom>
          <a:noFill/>
          <a:ln/>
        </p:spPr>
        <p:txBody>
          <a:bodyPr wrap="square" lIns="0" tIns="0" rIns="0" bIns="0" rtlCol="0" anchor="ctr"/>
          <a:lstStyle/>
          <a:p>
            <a:pPr marL="0" indent="0">
              <a:buNone/>
            </a:pPr>
            <a:r>
              <a:rPr lang="en-US" sz="800" b="1" dirty="0">
                <a:solidFill>
                  <a:srgbClr val="384660"/>
                </a:solidFill>
                <a:latin typeface="Arial" pitchFamily="34" charset="0"/>
                <a:ea typeface="Arial" pitchFamily="34" charset="-122"/>
                <a:cs typeface="Arial" pitchFamily="34" charset="-120"/>
              </a:rPr>
              <a:t>Mathieu / Vinoth</a:t>
            </a:r>
            <a:endParaRPr lang="en-US" sz="800" dirty="0"/>
          </a:p>
        </p:txBody>
      </p:sp>
      <p:sp>
        <p:nvSpPr>
          <p:cNvPr id="29" name="Text 27"/>
          <p:cNvSpPr/>
          <p:nvPr/>
        </p:nvSpPr>
        <p:spPr>
          <a:xfrm>
            <a:off x="3858768" y="3063240"/>
            <a:ext cx="1371600" cy="1298448"/>
          </a:xfrm>
          <a:prstGeom prst="rect">
            <a:avLst/>
          </a:prstGeom>
          <a:noFill/>
          <a:ln/>
        </p:spPr>
        <p:txBody>
          <a:bodyPr wrap="square" lIns="0" tIns="0" rIns="0" bIns="0" rtlCol="0" anchor="ctr"/>
          <a:lstStyle/>
          <a:p>
            <a:pPr marL="0" indent="0">
              <a:lnSpc>
                <a:spcPct val="140000"/>
              </a:lnSpc>
              <a:buNone/>
            </a:pPr>
            <a:r>
              <a:rPr lang="en-US" sz="850" dirty="0">
                <a:solidFill>
                  <a:srgbClr val="384660"/>
                </a:solidFill>
                <a:latin typeface="Arial" pitchFamily="34" charset="0"/>
                <a:ea typeface="Arial" pitchFamily="34" charset="-122"/>
                <a:cs typeface="Arial" pitchFamily="34" charset="-120"/>
              </a:rPr>
              <a:t>Nucleom had the tools. Mathieu has the relationships. Structure behind what was already there.</a:t>
            </a:r>
            <a:endParaRPr lang="en-US" sz="850" dirty="0"/>
          </a:p>
        </p:txBody>
      </p:sp>
      <p:sp>
        <p:nvSpPr>
          <p:cNvPr id="30" name="Shape 28"/>
          <p:cNvSpPr/>
          <p:nvPr/>
        </p:nvSpPr>
        <p:spPr>
          <a:xfrm>
            <a:off x="5458968" y="1389888"/>
            <a:ext cx="1572768" cy="312724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31" name="Shape 29"/>
          <p:cNvSpPr/>
          <p:nvPr/>
        </p:nvSpPr>
        <p:spPr>
          <a:xfrm>
            <a:off x="5458968" y="1389888"/>
            <a:ext cx="1572768" cy="640080"/>
          </a:xfrm>
          <a:prstGeom prst="rect">
            <a:avLst/>
          </a:prstGeom>
          <a:solidFill>
            <a:srgbClr val="B45309"/>
          </a:solidFill>
          <a:ln w="12700">
            <a:solidFill>
              <a:srgbClr val="B45309"/>
            </a:solidFill>
            <a:prstDash val="solid"/>
          </a:ln>
        </p:spPr>
        <p:txBody>
          <a:bodyPr/>
          <a:lstStyle/>
          <a:p>
            <a:endParaRPr lang="en-CA"/>
          </a:p>
        </p:txBody>
      </p:sp>
      <p:sp>
        <p:nvSpPr>
          <p:cNvPr id="32" name="Text 30"/>
          <p:cNvSpPr/>
          <p:nvPr/>
        </p:nvSpPr>
        <p:spPr>
          <a:xfrm>
            <a:off x="5550408" y="1417320"/>
            <a:ext cx="1371600" cy="256032"/>
          </a:xfrm>
          <a:prstGeom prst="rect">
            <a:avLst/>
          </a:prstGeom>
          <a:noFill/>
          <a:ln/>
        </p:spPr>
        <p:txBody>
          <a:bodyPr wrap="square" lIns="0" tIns="0" rIns="0" bIns="0" rtlCol="0" anchor="ctr"/>
          <a:lstStyle/>
          <a:p>
            <a:pPr marL="0" indent="0">
              <a:buNone/>
            </a:pPr>
            <a:r>
              <a:rPr lang="en-US" sz="800" b="1" kern="0" spc="200" dirty="0">
                <a:solidFill>
                  <a:srgbClr val="AAAAAA"/>
                </a:solidFill>
                <a:latin typeface="Arial" pitchFamily="34" charset="0"/>
                <a:ea typeface="Arial" pitchFamily="34" charset="-122"/>
                <a:cs typeface="Arial" pitchFamily="34" charset="-120"/>
              </a:rPr>
              <a:t>04</a:t>
            </a:r>
            <a:endParaRPr lang="en-US" sz="800" dirty="0"/>
          </a:p>
        </p:txBody>
      </p:sp>
      <p:sp>
        <p:nvSpPr>
          <p:cNvPr id="33" name="Text 31"/>
          <p:cNvSpPr/>
          <p:nvPr/>
        </p:nvSpPr>
        <p:spPr>
          <a:xfrm>
            <a:off x="5550408" y="1664208"/>
            <a:ext cx="137160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Nuclear / OPG</a:t>
            </a:r>
            <a:endParaRPr lang="en-US" sz="1050" dirty="0"/>
          </a:p>
        </p:txBody>
      </p:sp>
      <p:sp>
        <p:nvSpPr>
          <p:cNvPr id="34" name="Text 32"/>
          <p:cNvSpPr/>
          <p:nvPr/>
        </p:nvSpPr>
        <p:spPr>
          <a:xfrm>
            <a:off x="5550408" y="2121408"/>
            <a:ext cx="1371600" cy="384048"/>
          </a:xfrm>
          <a:prstGeom prst="rect">
            <a:avLst/>
          </a:prstGeom>
          <a:noFill/>
          <a:ln/>
        </p:spPr>
        <p:txBody>
          <a:bodyPr wrap="square" lIns="0" tIns="0" rIns="0" bIns="0" rtlCol="0" anchor="ctr"/>
          <a:lstStyle/>
          <a:p>
            <a:pPr marL="0" indent="0">
              <a:buNone/>
            </a:pPr>
            <a:r>
              <a:rPr lang="en-US" sz="1800" b="1" dirty="0">
                <a:solidFill>
                  <a:srgbClr val="0A1F5C"/>
                </a:solidFill>
                <a:latin typeface="Arial" pitchFamily="34" charset="0"/>
                <a:ea typeface="Arial" pitchFamily="34" charset="-122"/>
                <a:cs typeface="Arial" pitchFamily="34" charset="-120"/>
              </a:rPr>
              <a:t>$47.9M</a:t>
            </a:r>
            <a:endParaRPr lang="en-US" sz="1800" dirty="0"/>
          </a:p>
        </p:txBody>
      </p:sp>
      <p:sp>
        <p:nvSpPr>
          <p:cNvPr id="35" name="Text 33"/>
          <p:cNvSpPr/>
          <p:nvPr/>
        </p:nvSpPr>
        <p:spPr>
          <a:xfrm>
            <a:off x="5550408" y="2505456"/>
            <a:ext cx="1371600" cy="201168"/>
          </a:xfrm>
          <a:prstGeom prst="rect">
            <a:avLst/>
          </a:prstGeom>
          <a:noFill/>
          <a:ln/>
        </p:spPr>
        <p:txBody>
          <a:bodyPr wrap="square" lIns="0" tIns="0" rIns="0" bIns="0" rtlCol="0" anchor="ctr"/>
          <a:lstStyle/>
          <a:p>
            <a:pPr marL="0" indent="0">
              <a:buNone/>
            </a:pPr>
            <a:r>
              <a:rPr lang="en-US" sz="750" dirty="0">
                <a:solidFill>
                  <a:srgbClr val="6678A0"/>
                </a:solidFill>
                <a:latin typeface="Arial" pitchFamily="34" charset="0"/>
                <a:ea typeface="Arial" pitchFamily="34" charset="-122"/>
                <a:cs typeface="Arial" pitchFamily="34" charset="-120"/>
              </a:rPr>
              <a:t>5-yr target</a:t>
            </a:r>
            <a:endParaRPr lang="en-US" sz="750" dirty="0"/>
          </a:p>
        </p:txBody>
      </p:sp>
      <p:sp>
        <p:nvSpPr>
          <p:cNvPr id="36" name="Text 34"/>
          <p:cNvSpPr/>
          <p:nvPr/>
        </p:nvSpPr>
        <p:spPr>
          <a:xfrm>
            <a:off x="5550408" y="2788920"/>
            <a:ext cx="1371600" cy="219456"/>
          </a:xfrm>
          <a:prstGeom prst="rect">
            <a:avLst/>
          </a:prstGeom>
          <a:noFill/>
          <a:ln/>
        </p:spPr>
        <p:txBody>
          <a:bodyPr wrap="square" lIns="0" tIns="0" rIns="0" bIns="0" rtlCol="0" anchor="ctr"/>
          <a:lstStyle/>
          <a:p>
            <a:pPr marL="0" indent="0">
              <a:buNone/>
            </a:pPr>
            <a:r>
              <a:rPr lang="en-US" sz="800" b="1" dirty="0">
                <a:solidFill>
                  <a:srgbClr val="384660"/>
                </a:solidFill>
                <a:latin typeface="Arial" pitchFamily="34" charset="0"/>
                <a:ea typeface="Arial" pitchFamily="34" charset="-122"/>
                <a:cs typeface="Arial" pitchFamily="34" charset="-120"/>
              </a:rPr>
              <a:t>Olivier / Vinoth</a:t>
            </a:r>
            <a:endParaRPr lang="en-US" sz="800" dirty="0"/>
          </a:p>
        </p:txBody>
      </p:sp>
      <p:sp>
        <p:nvSpPr>
          <p:cNvPr id="37" name="Text 35"/>
          <p:cNvSpPr/>
          <p:nvPr/>
        </p:nvSpPr>
        <p:spPr>
          <a:xfrm>
            <a:off x="5550408" y="3063240"/>
            <a:ext cx="1371600" cy="1298448"/>
          </a:xfrm>
          <a:prstGeom prst="rect">
            <a:avLst/>
          </a:prstGeom>
          <a:noFill/>
          <a:ln/>
        </p:spPr>
        <p:txBody>
          <a:bodyPr wrap="square" lIns="0" tIns="0" rIns="0" bIns="0" rtlCol="0" anchor="ctr"/>
          <a:lstStyle/>
          <a:p>
            <a:pPr marL="0" indent="0">
              <a:lnSpc>
                <a:spcPct val="140000"/>
              </a:lnSpc>
              <a:buNone/>
            </a:pPr>
            <a:r>
              <a:rPr lang="en-US" sz="850" dirty="0">
                <a:solidFill>
                  <a:srgbClr val="384660"/>
                </a:solidFill>
                <a:latin typeface="Arial" pitchFamily="34" charset="0"/>
                <a:ea typeface="Arial" pitchFamily="34" charset="-122"/>
                <a:cs typeface="Arial" pitchFamily="34" charset="-120"/>
              </a:rPr>
              <a:t>The long game — needs air cover and patience. EIG and Eurazeo watching the milestones.</a:t>
            </a:r>
            <a:endParaRPr lang="en-US" sz="850" dirty="0"/>
          </a:p>
        </p:txBody>
      </p:sp>
      <p:sp>
        <p:nvSpPr>
          <p:cNvPr id="38" name="Shape 36"/>
          <p:cNvSpPr/>
          <p:nvPr/>
        </p:nvSpPr>
        <p:spPr>
          <a:xfrm>
            <a:off x="7150608" y="1389888"/>
            <a:ext cx="1572768" cy="312724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39" name="Shape 37"/>
          <p:cNvSpPr/>
          <p:nvPr/>
        </p:nvSpPr>
        <p:spPr>
          <a:xfrm>
            <a:off x="7150608" y="1389888"/>
            <a:ext cx="1572768" cy="640080"/>
          </a:xfrm>
          <a:prstGeom prst="rect">
            <a:avLst/>
          </a:prstGeom>
          <a:solidFill>
            <a:srgbClr val="B91C1C"/>
          </a:solidFill>
          <a:ln w="12700">
            <a:solidFill>
              <a:srgbClr val="B91C1C"/>
            </a:solidFill>
            <a:prstDash val="solid"/>
          </a:ln>
        </p:spPr>
        <p:txBody>
          <a:bodyPr/>
          <a:lstStyle/>
          <a:p>
            <a:endParaRPr lang="en-CA"/>
          </a:p>
        </p:txBody>
      </p:sp>
      <p:sp>
        <p:nvSpPr>
          <p:cNvPr id="40" name="Text 38"/>
          <p:cNvSpPr/>
          <p:nvPr/>
        </p:nvSpPr>
        <p:spPr>
          <a:xfrm>
            <a:off x="7242048" y="1417320"/>
            <a:ext cx="1371600" cy="256032"/>
          </a:xfrm>
          <a:prstGeom prst="rect">
            <a:avLst/>
          </a:prstGeom>
          <a:noFill/>
          <a:ln/>
        </p:spPr>
        <p:txBody>
          <a:bodyPr wrap="square" lIns="0" tIns="0" rIns="0" bIns="0" rtlCol="0" anchor="ctr"/>
          <a:lstStyle/>
          <a:p>
            <a:pPr marL="0" indent="0">
              <a:buNone/>
            </a:pPr>
            <a:r>
              <a:rPr lang="en-US" sz="800" b="1" kern="0" spc="200" dirty="0">
                <a:solidFill>
                  <a:srgbClr val="AAAAAA"/>
                </a:solidFill>
                <a:latin typeface="Arial" pitchFamily="34" charset="0"/>
                <a:ea typeface="Arial" pitchFamily="34" charset="-122"/>
                <a:cs typeface="Arial" pitchFamily="34" charset="-120"/>
              </a:rPr>
              <a:t>05</a:t>
            </a:r>
            <a:endParaRPr lang="en-US" sz="800" dirty="0"/>
          </a:p>
        </p:txBody>
      </p:sp>
      <p:sp>
        <p:nvSpPr>
          <p:cNvPr id="41" name="Text 39"/>
          <p:cNvSpPr/>
          <p:nvPr/>
        </p:nvSpPr>
        <p:spPr>
          <a:xfrm>
            <a:off x="7242048" y="1664208"/>
            <a:ext cx="1371600" cy="274320"/>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3X Composite</a:t>
            </a:r>
            <a:endParaRPr lang="en-US" sz="1050" dirty="0"/>
          </a:p>
        </p:txBody>
      </p:sp>
      <p:sp>
        <p:nvSpPr>
          <p:cNvPr id="42" name="Text 40"/>
          <p:cNvSpPr/>
          <p:nvPr/>
        </p:nvSpPr>
        <p:spPr>
          <a:xfrm>
            <a:off x="7242048" y="2121408"/>
            <a:ext cx="1371600" cy="384048"/>
          </a:xfrm>
          <a:prstGeom prst="rect">
            <a:avLst/>
          </a:prstGeom>
          <a:noFill/>
          <a:ln/>
        </p:spPr>
        <p:txBody>
          <a:bodyPr wrap="square" lIns="0" tIns="0" rIns="0" bIns="0" rtlCol="0" anchor="ctr"/>
          <a:lstStyle/>
          <a:p>
            <a:pPr marL="0" indent="0">
              <a:buNone/>
            </a:pPr>
            <a:r>
              <a:rPr lang="en-US" sz="1800" b="1" dirty="0">
                <a:solidFill>
                  <a:srgbClr val="0A1F5C"/>
                </a:solidFill>
                <a:latin typeface="Arial" pitchFamily="34" charset="0"/>
                <a:ea typeface="Arial" pitchFamily="34" charset="-122"/>
                <a:cs typeface="Arial" pitchFamily="34" charset="-120"/>
              </a:rPr>
              <a:t>$11.4M</a:t>
            </a:r>
            <a:endParaRPr lang="en-US" sz="1800" dirty="0"/>
          </a:p>
        </p:txBody>
      </p:sp>
      <p:sp>
        <p:nvSpPr>
          <p:cNvPr id="43" name="Text 41"/>
          <p:cNvSpPr/>
          <p:nvPr/>
        </p:nvSpPr>
        <p:spPr>
          <a:xfrm>
            <a:off x="7242048" y="2505456"/>
            <a:ext cx="1371600" cy="201168"/>
          </a:xfrm>
          <a:prstGeom prst="rect">
            <a:avLst/>
          </a:prstGeom>
          <a:noFill/>
          <a:ln/>
        </p:spPr>
        <p:txBody>
          <a:bodyPr wrap="square" lIns="0" tIns="0" rIns="0" bIns="0" rtlCol="0" anchor="ctr"/>
          <a:lstStyle/>
          <a:p>
            <a:pPr marL="0" indent="0">
              <a:buNone/>
            </a:pPr>
            <a:r>
              <a:rPr lang="en-US" sz="750" dirty="0">
                <a:solidFill>
                  <a:srgbClr val="6678A0"/>
                </a:solidFill>
                <a:latin typeface="Arial" pitchFamily="34" charset="0"/>
                <a:ea typeface="Arial" pitchFamily="34" charset="-122"/>
                <a:cs typeface="Arial" pitchFamily="34" charset="-120"/>
              </a:rPr>
              <a:t>5-yr target</a:t>
            </a:r>
            <a:endParaRPr lang="en-US" sz="750" dirty="0"/>
          </a:p>
        </p:txBody>
      </p:sp>
      <p:sp>
        <p:nvSpPr>
          <p:cNvPr id="44" name="Text 42"/>
          <p:cNvSpPr/>
          <p:nvPr/>
        </p:nvSpPr>
        <p:spPr>
          <a:xfrm>
            <a:off x="7242048" y="2788920"/>
            <a:ext cx="1371600" cy="219456"/>
          </a:xfrm>
          <a:prstGeom prst="rect">
            <a:avLst/>
          </a:prstGeom>
          <a:noFill/>
          <a:ln/>
        </p:spPr>
        <p:txBody>
          <a:bodyPr wrap="square" lIns="0" tIns="0" rIns="0" bIns="0" rtlCol="0" anchor="ctr"/>
          <a:lstStyle/>
          <a:p>
            <a:pPr marL="0" indent="0">
              <a:buNone/>
            </a:pPr>
            <a:r>
              <a:rPr lang="en-US" sz="800" b="1" dirty="0">
                <a:solidFill>
                  <a:srgbClr val="384660"/>
                </a:solidFill>
                <a:latin typeface="Arial" pitchFamily="34" charset="0"/>
                <a:ea typeface="Arial" pitchFamily="34" charset="-122"/>
                <a:cs typeface="Arial" pitchFamily="34" charset="-120"/>
              </a:rPr>
              <a:t>Vinoth / Emmanuel</a:t>
            </a:r>
            <a:endParaRPr lang="en-US" sz="800" dirty="0"/>
          </a:p>
        </p:txBody>
      </p:sp>
      <p:sp>
        <p:nvSpPr>
          <p:cNvPr id="45" name="Text 43"/>
          <p:cNvSpPr/>
          <p:nvPr/>
        </p:nvSpPr>
        <p:spPr>
          <a:xfrm>
            <a:off x="7242048" y="3063240"/>
            <a:ext cx="1371600" cy="1298448"/>
          </a:xfrm>
          <a:prstGeom prst="rect">
            <a:avLst/>
          </a:prstGeom>
          <a:noFill/>
          <a:ln/>
        </p:spPr>
        <p:txBody>
          <a:bodyPr wrap="square" lIns="0" tIns="0" rIns="0" bIns="0" rtlCol="0" anchor="ctr"/>
          <a:lstStyle/>
          <a:p>
            <a:pPr marL="0" indent="0">
              <a:lnSpc>
                <a:spcPct val="140000"/>
              </a:lnSpc>
              <a:buNone/>
            </a:pPr>
            <a:r>
              <a:rPr lang="en-US" sz="850" dirty="0">
                <a:solidFill>
                  <a:srgbClr val="384660"/>
                </a:solidFill>
                <a:latin typeface="Arial" pitchFamily="34" charset="0"/>
                <a:ea typeface="Arial" pitchFamily="34" charset="-122"/>
                <a:cs typeface="Arial" pitchFamily="34" charset="-120"/>
              </a:rPr>
              <a:t>Already has track record. Air Liquide USA, France, BC sites. Now done deliberately.</a:t>
            </a:r>
            <a:endParaRPr lang="en-US" sz="850" dirty="0"/>
          </a:p>
        </p:txBody>
      </p:sp>
      <p:sp>
        <p:nvSpPr>
          <p:cNvPr id="46" name="Shape 44"/>
          <p:cNvSpPr/>
          <p:nvPr/>
        </p:nvSpPr>
        <p:spPr>
          <a:xfrm>
            <a:off x="0" y="4800600"/>
            <a:ext cx="9144000" cy="342900"/>
          </a:xfrm>
          <a:prstGeom prst="rect">
            <a:avLst/>
          </a:prstGeom>
          <a:solidFill>
            <a:srgbClr val="0A1F5C"/>
          </a:solidFill>
          <a:ln w="12700">
            <a:solidFill>
              <a:srgbClr val="0A1F5C"/>
            </a:solidFill>
            <a:prstDash val="solid"/>
          </a:ln>
        </p:spPr>
        <p:txBody>
          <a:bodyPr/>
          <a:lstStyle/>
          <a:p>
            <a:endParaRPr lang="en-CA"/>
          </a:p>
        </p:txBody>
      </p:sp>
      <p:sp>
        <p:nvSpPr>
          <p:cNvPr id="47" name="Text 45"/>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A5CA8"/>
          </a:solidFill>
          <a:ln w="12700">
            <a:solidFill>
              <a:srgbClr val="1A5CA8"/>
            </a:solidFill>
            <a:prstDash val="solid"/>
          </a:ln>
        </p:spPr>
        <p:txBody>
          <a:bodyPr/>
          <a:lstStyle/>
          <a:p>
            <a:endParaRPr lang="en-CA"/>
          </a:p>
        </p:txBody>
      </p:sp>
      <p:sp>
        <p:nvSpPr>
          <p:cNvPr id="3" name="Text 1"/>
          <p:cNvSpPr/>
          <p:nvPr/>
        </p:nvSpPr>
        <p:spPr>
          <a:xfrm>
            <a:off x="502920" y="201168"/>
            <a:ext cx="5486400" cy="256032"/>
          </a:xfrm>
          <a:prstGeom prst="rect">
            <a:avLst/>
          </a:prstGeom>
          <a:noFill/>
          <a:ln/>
        </p:spPr>
        <p:txBody>
          <a:bodyPr wrap="square" lIns="0" tIns="0" rIns="0" bIns="0" rtlCol="0" anchor="ctr"/>
          <a:lstStyle/>
          <a:p>
            <a:pPr marL="0" indent="0">
              <a:buNone/>
            </a:pPr>
            <a:r>
              <a:rPr lang="en-US" sz="800" b="1" kern="0" spc="300" dirty="0">
                <a:solidFill>
                  <a:srgbClr val="1A5CA8"/>
                </a:solidFill>
                <a:latin typeface="Arial" pitchFamily="34" charset="0"/>
                <a:ea typeface="Arial" pitchFamily="34" charset="-122"/>
                <a:cs typeface="Arial" pitchFamily="34" charset="-120"/>
              </a:rPr>
              <a:t>YOUR CLEAR LANE</a:t>
            </a:r>
            <a:endParaRPr lang="en-US" sz="800" dirty="0"/>
          </a:p>
        </p:txBody>
      </p:sp>
      <p:sp>
        <p:nvSpPr>
          <p:cNvPr id="4" name="Text 2"/>
          <p:cNvSpPr/>
          <p:nvPr/>
        </p:nvSpPr>
        <p:spPr>
          <a:xfrm>
            <a:off x="502920" y="457200"/>
            <a:ext cx="8229600" cy="502920"/>
          </a:xfrm>
          <a:prstGeom prst="rect">
            <a:avLst/>
          </a:prstGeom>
          <a:noFill/>
          <a:ln/>
        </p:spPr>
        <p:txBody>
          <a:bodyPr wrap="square" lIns="0" tIns="0" rIns="0" bIns="0" rtlCol="0" anchor="ctr"/>
          <a:lstStyle/>
          <a:p>
            <a:pPr marL="0" indent="0">
              <a:buNone/>
            </a:pPr>
            <a:r>
              <a:rPr lang="en-US" sz="2400" b="1" dirty="0">
                <a:solidFill>
                  <a:srgbClr val="0A1F5C"/>
                </a:solidFill>
                <a:latin typeface="Arial" pitchFamily="34" charset="0"/>
                <a:ea typeface="Arial" pitchFamily="34" charset="-122"/>
                <a:cs typeface="Arial" pitchFamily="34" charset="-120"/>
              </a:rPr>
              <a:t>What the structure gives each team</a:t>
            </a:r>
            <a:endParaRPr lang="en-US" sz="2400" dirty="0"/>
          </a:p>
        </p:txBody>
      </p:sp>
      <p:sp>
        <p:nvSpPr>
          <p:cNvPr id="5" name="Shape 3"/>
          <p:cNvSpPr/>
          <p:nvPr/>
        </p:nvSpPr>
        <p:spPr>
          <a:xfrm>
            <a:off x="411480" y="1115568"/>
            <a:ext cx="2697480" cy="340156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6" name="Shape 4"/>
          <p:cNvSpPr/>
          <p:nvPr/>
        </p:nvSpPr>
        <p:spPr>
          <a:xfrm>
            <a:off x="411480" y="1115568"/>
            <a:ext cx="2697480" cy="54864"/>
          </a:xfrm>
          <a:prstGeom prst="rect">
            <a:avLst/>
          </a:prstGeom>
          <a:solidFill>
            <a:srgbClr val="00AEEF"/>
          </a:solidFill>
          <a:ln w="12700">
            <a:solidFill>
              <a:srgbClr val="00AEEF"/>
            </a:solidFill>
            <a:prstDash val="solid"/>
          </a:ln>
        </p:spPr>
        <p:txBody>
          <a:bodyPr/>
          <a:lstStyle/>
          <a:p>
            <a:endParaRPr lang="en-CA"/>
          </a:p>
        </p:txBody>
      </p:sp>
      <p:sp>
        <p:nvSpPr>
          <p:cNvPr id="7" name="Text 5"/>
          <p:cNvSpPr/>
          <p:nvPr/>
        </p:nvSpPr>
        <p:spPr>
          <a:xfrm>
            <a:off x="576072" y="1225296"/>
            <a:ext cx="2423160" cy="594360"/>
          </a:xfrm>
          <a:prstGeom prst="rect">
            <a:avLst/>
          </a:prstGeom>
          <a:noFill/>
          <a:ln/>
        </p:spPr>
        <p:txBody>
          <a:bodyPr wrap="square" lIns="0" tIns="0" rIns="0" bIns="0" rtlCol="0" anchor="ctr"/>
          <a:lstStyle/>
          <a:p>
            <a:pPr marL="0" indent="0">
              <a:lnSpc>
                <a:spcPct val="130000"/>
              </a:lnSpc>
              <a:buNone/>
            </a:pPr>
            <a:r>
              <a:rPr lang="en-US" sz="1050" b="1" dirty="0">
                <a:solidFill>
                  <a:srgbClr val="0A1F5C"/>
                </a:solidFill>
                <a:latin typeface="Arial" pitchFamily="34" charset="0"/>
                <a:ea typeface="Arial" pitchFamily="34" charset="-122"/>
                <a:cs typeface="Arial" pitchFamily="34" charset="-120"/>
              </a:rPr>
              <a:t>Commercial Team</a:t>
            </a:r>
            <a:endParaRPr lang="en-US" sz="1050" dirty="0"/>
          </a:p>
          <a:p>
            <a:pPr marL="0" indent="0">
              <a:lnSpc>
                <a:spcPct val="130000"/>
              </a:lnSpc>
              <a:buNone/>
            </a:pPr>
            <a:r>
              <a:rPr lang="en-US" sz="1050" b="1" dirty="0">
                <a:solidFill>
                  <a:srgbClr val="0A1F5C"/>
                </a:solidFill>
                <a:latin typeface="Arial" pitchFamily="34" charset="0"/>
                <a:ea typeface="Arial" pitchFamily="34" charset="-122"/>
                <a:cs typeface="Arial" pitchFamily="34" charset="-120"/>
              </a:rPr>
              <a:t>Vinoth · Emmanuel</a:t>
            </a:r>
            <a:endParaRPr lang="en-US" sz="1050" dirty="0"/>
          </a:p>
        </p:txBody>
      </p:sp>
      <p:sp>
        <p:nvSpPr>
          <p:cNvPr id="8" name="Shape 6"/>
          <p:cNvSpPr/>
          <p:nvPr/>
        </p:nvSpPr>
        <p:spPr>
          <a:xfrm>
            <a:off x="576072" y="1883664"/>
            <a:ext cx="2377440" cy="0"/>
          </a:xfrm>
          <a:prstGeom prst="line">
            <a:avLst/>
          </a:prstGeom>
          <a:noFill/>
          <a:ln w="9525">
            <a:solidFill>
              <a:srgbClr val="DDE3EF"/>
            </a:solidFill>
            <a:prstDash val="solid"/>
          </a:ln>
        </p:spPr>
        <p:txBody>
          <a:bodyPr/>
          <a:lstStyle/>
          <a:p>
            <a:endParaRPr lang="en-CA"/>
          </a:p>
        </p:txBody>
      </p:sp>
      <p:sp>
        <p:nvSpPr>
          <p:cNvPr id="9" name="Text 7"/>
          <p:cNvSpPr/>
          <p:nvPr/>
        </p:nvSpPr>
        <p:spPr>
          <a:xfrm>
            <a:off x="576072" y="2011680"/>
            <a:ext cx="2423160" cy="2359152"/>
          </a:xfrm>
          <a:prstGeom prst="rect">
            <a:avLst/>
          </a:prstGeom>
          <a:noFill/>
          <a:ln/>
        </p:spPr>
        <p:txBody>
          <a:bodyPr wrap="square" lIns="0" tIns="0" rIns="0" bIns="0" rtlCol="0" anchor="ctr"/>
          <a:lstStyle/>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Clear mandate documents — your lane is defined</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No more ambiguity on who dropped the ball</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Route anything outside your lane the same day</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Weekly Salesforce tagging is the only new habit</a:t>
            </a:r>
            <a:endParaRPr lang="en-US" sz="950" dirty="0"/>
          </a:p>
        </p:txBody>
      </p:sp>
      <p:sp>
        <p:nvSpPr>
          <p:cNvPr id="10" name="Shape 8"/>
          <p:cNvSpPr/>
          <p:nvPr/>
        </p:nvSpPr>
        <p:spPr>
          <a:xfrm>
            <a:off x="3291840" y="1115568"/>
            <a:ext cx="2697480" cy="340156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11" name="Shape 9"/>
          <p:cNvSpPr/>
          <p:nvPr/>
        </p:nvSpPr>
        <p:spPr>
          <a:xfrm>
            <a:off x="3291840" y="1115568"/>
            <a:ext cx="2697480" cy="54864"/>
          </a:xfrm>
          <a:prstGeom prst="rect">
            <a:avLst/>
          </a:prstGeom>
          <a:solidFill>
            <a:srgbClr val="16A34A"/>
          </a:solidFill>
          <a:ln w="12700">
            <a:solidFill>
              <a:srgbClr val="16A34A"/>
            </a:solidFill>
            <a:prstDash val="solid"/>
          </a:ln>
        </p:spPr>
        <p:txBody>
          <a:bodyPr/>
          <a:lstStyle/>
          <a:p>
            <a:endParaRPr lang="en-CA"/>
          </a:p>
        </p:txBody>
      </p:sp>
      <p:sp>
        <p:nvSpPr>
          <p:cNvPr id="12" name="Text 10"/>
          <p:cNvSpPr/>
          <p:nvPr/>
        </p:nvSpPr>
        <p:spPr>
          <a:xfrm>
            <a:off x="3456432" y="1225296"/>
            <a:ext cx="2423160" cy="594360"/>
          </a:xfrm>
          <a:prstGeom prst="rect">
            <a:avLst/>
          </a:prstGeom>
          <a:noFill/>
          <a:ln/>
        </p:spPr>
        <p:txBody>
          <a:bodyPr wrap="square" lIns="0" tIns="0" rIns="0" bIns="0" rtlCol="0" anchor="ctr"/>
          <a:lstStyle/>
          <a:p>
            <a:pPr marL="0" indent="0">
              <a:lnSpc>
                <a:spcPct val="130000"/>
              </a:lnSpc>
              <a:buNone/>
            </a:pPr>
            <a:r>
              <a:rPr lang="en-US" sz="1050" b="1" dirty="0">
                <a:solidFill>
                  <a:srgbClr val="0A1F5C"/>
                </a:solidFill>
                <a:latin typeface="Arial" pitchFamily="34" charset="0"/>
                <a:ea typeface="Arial" pitchFamily="34" charset="-122"/>
                <a:cs typeface="Arial" pitchFamily="34" charset="-120"/>
              </a:rPr>
              <a:t>Ops Directors</a:t>
            </a:r>
            <a:endParaRPr lang="en-US" sz="1050" dirty="0"/>
          </a:p>
          <a:p>
            <a:pPr marL="0" indent="0">
              <a:lnSpc>
                <a:spcPct val="130000"/>
              </a:lnSpc>
              <a:buNone/>
            </a:pPr>
            <a:r>
              <a:rPr lang="en-US" sz="1050" b="1" dirty="0">
                <a:solidFill>
                  <a:srgbClr val="0A1F5C"/>
                </a:solidFill>
                <a:latin typeface="Arial" pitchFamily="34" charset="0"/>
                <a:ea typeface="Arial" pitchFamily="34" charset="-122"/>
                <a:cs typeface="Arial" pitchFamily="34" charset="-120"/>
              </a:rPr>
              <a:t>Eric R · Joel D · Keith · Brook · Louis-Pier · Jason</a:t>
            </a:r>
            <a:endParaRPr lang="en-US" sz="1050" dirty="0"/>
          </a:p>
        </p:txBody>
      </p:sp>
      <p:sp>
        <p:nvSpPr>
          <p:cNvPr id="13" name="Shape 11"/>
          <p:cNvSpPr/>
          <p:nvPr/>
        </p:nvSpPr>
        <p:spPr>
          <a:xfrm>
            <a:off x="3456432" y="1883664"/>
            <a:ext cx="2377440" cy="0"/>
          </a:xfrm>
          <a:prstGeom prst="line">
            <a:avLst/>
          </a:prstGeom>
          <a:noFill/>
          <a:ln w="9525">
            <a:solidFill>
              <a:srgbClr val="DDE3EF"/>
            </a:solidFill>
            <a:prstDash val="solid"/>
          </a:ln>
        </p:spPr>
        <p:txBody>
          <a:bodyPr/>
          <a:lstStyle/>
          <a:p>
            <a:endParaRPr lang="en-CA"/>
          </a:p>
        </p:txBody>
      </p:sp>
      <p:sp>
        <p:nvSpPr>
          <p:cNvPr id="14" name="Text 12"/>
          <p:cNvSpPr/>
          <p:nvPr/>
        </p:nvSpPr>
        <p:spPr>
          <a:xfrm>
            <a:off x="3456432" y="2011680"/>
            <a:ext cx="2423160" cy="2359152"/>
          </a:xfrm>
          <a:prstGeom prst="rect">
            <a:avLst/>
          </a:prstGeom>
          <a:noFill/>
          <a:ln/>
        </p:spPr>
        <p:txBody>
          <a:bodyPr wrap="square" lIns="0" tIns="0" rIns="0" bIns="0" rtlCol="0" anchor="ctr"/>
          <a:lstStyle/>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Your role is delivery — written down so you can point to it</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New client calls: loop in commercial owner same day</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People &amp; Capacity Dashboard = live overhead % and utilization by office — your advocacy tool for headcount and resources</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No selling. No gatekeeping. The delivery engine.</a:t>
            </a:r>
            <a:endParaRPr lang="en-US" sz="950" dirty="0"/>
          </a:p>
        </p:txBody>
      </p:sp>
      <p:sp>
        <p:nvSpPr>
          <p:cNvPr id="15" name="Shape 13"/>
          <p:cNvSpPr/>
          <p:nvPr/>
        </p:nvSpPr>
        <p:spPr>
          <a:xfrm>
            <a:off x="6172200" y="1115568"/>
            <a:ext cx="2697480" cy="340156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16" name="Shape 14"/>
          <p:cNvSpPr/>
          <p:nvPr/>
        </p:nvSpPr>
        <p:spPr>
          <a:xfrm>
            <a:off x="6172200" y="1115568"/>
            <a:ext cx="2697480" cy="54864"/>
          </a:xfrm>
          <a:prstGeom prst="rect">
            <a:avLst/>
          </a:prstGeom>
          <a:solidFill>
            <a:srgbClr val="C9860A"/>
          </a:solidFill>
          <a:ln w="12700">
            <a:solidFill>
              <a:srgbClr val="C9860A"/>
            </a:solidFill>
            <a:prstDash val="solid"/>
          </a:ln>
        </p:spPr>
        <p:txBody>
          <a:bodyPr/>
          <a:lstStyle/>
          <a:p>
            <a:endParaRPr lang="en-CA"/>
          </a:p>
        </p:txBody>
      </p:sp>
      <p:sp>
        <p:nvSpPr>
          <p:cNvPr id="17" name="Text 15"/>
          <p:cNvSpPr/>
          <p:nvPr/>
        </p:nvSpPr>
        <p:spPr>
          <a:xfrm>
            <a:off x="6336792" y="1225296"/>
            <a:ext cx="2423160" cy="594360"/>
          </a:xfrm>
          <a:prstGeom prst="rect">
            <a:avLst/>
          </a:prstGeom>
          <a:noFill/>
          <a:ln/>
        </p:spPr>
        <p:txBody>
          <a:bodyPr wrap="square" lIns="0" tIns="0" rIns="0" bIns="0" rtlCol="0" anchor="ctr"/>
          <a:lstStyle/>
          <a:p>
            <a:pPr marL="0" indent="0">
              <a:lnSpc>
                <a:spcPct val="130000"/>
              </a:lnSpc>
              <a:buNone/>
            </a:pPr>
            <a:r>
              <a:rPr lang="en-US" sz="1050" b="1" dirty="0">
                <a:solidFill>
                  <a:srgbClr val="0A1F5C"/>
                </a:solidFill>
                <a:latin typeface="Arial" pitchFamily="34" charset="0"/>
                <a:ea typeface="Arial" pitchFamily="34" charset="-122"/>
                <a:cs typeface="Arial" pitchFamily="34" charset="-120"/>
              </a:rPr>
              <a:t>PI Group</a:t>
            </a:r>
            <a:endParaRPr lang="en-US" sz="1050" dirty="0"/>
          </a:p>
          <a:p>
            <a:pPr marL="0" indent="0">
              <a:lnSpc>
                <a:spcPct val="130000"/>
              </a:lnSpc>
              <a:buNone/>
            </a:pPr>
            <a:r>
              <a:rPr lang="en-US" sz="1050" b="1" dirty="0">
                <a:solidFill>
                  <a:srgbClr val="0A1F5C"/>
                </a:solidFill>
                <a:latin typeface="Arial" pitchFamily="34" charset="0"/>
                <a:ea typeface="Arial" pitchFamily="34" charset="-122"/>
                <a:cs typeface="Arial" pitchFamily="34" charset="-120"/>
              </a:rPr>
              <a:t>Rick Carlton · Joel Carlton</a:t>
            </a:r>
            <a:endParaRPr lang="en-US" sz="1050" dirty="0"/>
          </a:p>
        </p:txBody>
      </p:sp>
      <p:sp>
        <p:nvSpPr>
          <p:cNvPr id="18" name="Shape 16"/>
          <p:cNvSpPr/>
          <p:nvPr/>
        </p:nvSpPr>
        <p:spPr>
          <a:xfrm>
            <a:off x="6336792" y="1883664"/>
            <a:ext cx="2377440" cy="0"/>
          </a:xfrm>
          <a:prstGeom prst="line">
            <a:avLst/>
          </a:prstGeom>
          <a:noFill/>
          <a:ln w="9525">
            <a:solidFill>
              <a:srgbClr val="DDE3EF"/>
            </a:solidFill>
            <a:prstDash val="solid"/>
          </a:ln>
        </p:spPr>
        <p:txBody>
          <a:bodyPr/>
          <a:lstStyle/>
          <a:p>
            <a:endParaRPr lang="en-CA"/>
          </a:p>
        </p:txBody>
      </p:sp>
      <p:sp>
        <p:nvSpPr>
          <p:cNvPr id="19" name="Text 17"/>
          <p:cNvSpPr/>
          <p:nvPr/>
        </p:nvSpPr>
        <p:spPr>
          <a:xfrm>
            <a:off x="6336792" y="2011680"/>
            <a:ext cx="2423160" cy="2359152"/>
          </a:xfrm>
          <a:prstGeom prst="rect">
            <a:avLst/>
          </a:prstGeom>
          <a:noFill/>
          <a:ln/>
        </p:spPr>
        <p:txBody>
          <a:bodyPr wrap="square" lIns="0" tIns="0" rIns="0" bIns="0" rtlCol="0" anchor="ctr"/>
          <a:lstStyle/>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Pipeline DA is one of five pillars — $30M, 5 years</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EIG and Eurazeo are watching this initiative</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Rick's Pembina/Tidewater relationships are the door opener</a:t>
            </a:r>
            <a:endParaRPr lang="en-US" sz="950" dirty="0"/>
          </a:p>
          <a:p>
            <a:pPr marL="342900" indent="-342900">
              <a:lnSpc>
                <a:spcPct val="140000"/>
              </a:lnSpc>
              <a:spcAft>
                <a:spcPts val="600"/>
              </a:spcAft>
              <a:buSzPct val="100000"/>
              <a:buChar char="•"/>
            </a:pPr>
            <a:r>
              <a:rPr lang="en-US" sz="950" dirty="0">
                <a:solidFill>
                  <a:srgbClr val="384660"/>
                </a:solidFill>
                <a:latin typeface="Arial" pitchFamily="34" charset="0"/>
                <a:ea typeface="Arial" pitchFamily="34" charset="-122"/>
                <a:cs typeface="Arial" pitchFamily="34" charset="-120"/>
              </a:rPr>
              <a:t>Joel's execution is what keeps that door open</a:t>
            </a:r>
            <a:endParaRPr lang="en-US" sz="950" dirty="0"/>
          </a:p>
        </p:txBody>
      </p:sp>
      <p:sp>
        <p:nvSpPr>
          <p:cNvPr id="20" name="Shape 18"/>
          <p:cNvSpPr/>
          <p:nvPr/>
        </p:nvSpPr>
        <p:spPr>
          <a:xfrm>
            <a:off x="0" y="4800600"/>
            <a:ext cx="9144000" cy="342900"/>
          </a:xfrm>
          <a:prstGeom prst="rect">
            <a:avLst/>
          </a:prstGeom>
          <a:solidFill>
            <a:srgbClr val="0A1F5C"/>
          </a:solidFill>
          <a:ln w="12700">
            <a:solidFill>
              <a:srgbClr val="0A1F5C"/>
            </a:solidFill>
            <a:prstDash val="solid"/>
          </a:ln>
        </p:spPr>
        <p:txBody>
          <a:bodyPr/>
          <a:lstStyle/>
          <a:p>
            <a:endParaRPr lang="en-CA"/>
          </a:p>
        </p:txBody>
      </p:sp>
      <p:sp>
        <p:nvSpPr>
          <p:cNvPr id="21" name="Text 19"/>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860A"/>
          </a:solidFill>
          <a:ln w="12700">
            <a:solidFill>
              <a:srgbClr val="C9860A"/>
            </a:solidFill>
            <a:prstDash val="solid"/>
          </a:ln>
        </p:spPr>
        <p:txBody>
          <a:bodyPr/>
          <a:lstStyle/>
          <a:p>
            <a:endParaRPr lang="en-CA"/>
          </a:p>
        </p:txBody>
      </p:sp>
      <p:sp>
        <p:nvSpPr>
          <p:cNvPr id="3" name="Text 1"/>
          <p:cNvSpPr/>
          <p:nvPr/>
        </p:nvSpPr>
        <p:spPr>
          <a:xfrm>
            <a:off x="502920" y="228600"/>
            <a:ext cx="8229600" cy="256032"/>
          </a:xfrm>
          <a:prstGeom prst="rect">
            <a:avLst/>
          </a:prstGeom>
          <a:noFill/>
          <a:ln/>
        </p:spPr>
        <p:txBody>
          <a:bodyPr wrap="square" lIns="0" tIns="0" rIns="0" bIns="0" rtlCol="0" anchor="ctr"/>
          <a:lstStyle/>
          <a:p>
            <a:pPr marL="0" indent="0">
              <a:buNone/>
            </a:pPr>
            <a:r>
              <a:rPr lang="en-US" sz="800" b="1" kern="0" spc="300" dirty="0">
                <a:solidFill>
                  <a:srgbClr val="C9860A"/>
                </a:solidFill>
                <a:latin typeface="Arial" pitchFamily="34" charset="0"/>
                <a:ea typeface="Arial" pitchFamily="34" charset="-122"/>
                <a:cs typeface="Arial" pitchFamily="34" charset="-120"/>
              </a:rPr>
              <a:t>THE BASE BUSINESS CONNECTION</a:t>
            </a:r>
            <a:endParaRPr lang="en-US" sz="800" dirty="0"/>
          </a:p>
        </p:txBody>
      </p:sp>
      <p:sp>
        <p:nvSpPr>
          <p:cNvPr id="4" name="Text 2"/>
          <p:cNvSpPr/>
          <p:nvPr/>
        </p:nvSpPr>
        <p:spPr>
          <a:xfrm>
            <a:off x="502920" y="502920"/>
            <a:ext cx="8229600" cy="59436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The initiatives grow out of what you're already doing.</a:t>
            </a:r>
            <a:endParaRPr lang="en-US" sz="2200" dirty="0"/>
          </a:p>
        </p:txBody>
      </p:sp>
      <p:sp>
        <p:nvSpPr>
          <p:cNvPr id="5" name="Shape 3"/>
          <p:cNvSpPr/>
          <p:nvPr/>
        </p:nvSpPr>
        <p:spPr>
          <a:xfrm>
            <a:off x="411480" y="1325880"/>
            <a:ext cx="2926080" cy="713232"/>
          </a:xfrm>
          <a:prstGeom prst="rect">
            <a:avLst/>
          </a:prstGeom>
          <a:solidFill>
            <a:srgbClr val="0A1F5C"/>
          </a:solidFill>
          <a:ln w="12700">
            <a:solidFill>
              <a:srgbClr val="2D4A7A"/>
            </a:solidFill>
            <a:prstDash val="solid"/>
          </a:ln>
        </p:spPr>
        <p:txBody>
          <a:bodyPr/>
          <a:lstStyle/>
          <a:p>
            <a:endParaRPr lang="en-CA"/>
          </a:p>
        </p:txBody>
      </p:sp>
      <p:sp>
        <p:nvSpPr>
          <p:cNvPr id="6" name="Text 4"/>
          <p:cNvSpPr/>
          <p:nvPr/>
        </p:nvSpPr>
        <p:spPr>
          <a:xfrm>
            <a:off x="594360" y="1417320"/>
            <a:ext cx="2651760" cy="530352"/>
          </a:xfrm>
          <a:prstGeom prst="rect">
            <a:avLst/>
          </a:prstGeom>
          <a:noFill/>
          <a:ln/>
        </p:spPr>
        <p:txBody>
          <a:bodyPr wrap="square" lIns="0" tIns="0" rIns="0" bIns="0" rtlCol="0" anchor="ctr"/>
          <a:lstStyle/>
          <a:p>
            <a:pPr marL="0" indent="0">
              <a:lnSpc>
                <a:spcPct val="130000"/>
              </a:lnSpc>
              <a:buNone/>
            </a:pPr>
            <a:r>
              <a:rPr lang="en-US" sz="1000" dirty="0">
                <a:solidFill>
                  <a:srgbClr val="E8EDF5"/>
                </a:solidFill>
                <a:latin typeface="Arial" pitchFamily="34" charset="0"/>
                <a:ea typeface="Arial" pitchFamily="34" charset="-122"/>
                <a:cs typeface="Arial" pitchFamily="34" charset="-120"/>
              </a:rPr>
              <a:t>Mining accounts</a:t>
            </a:r>
            <a:endParaRPr lang="en-US" sz="1000" dirty="0"/>
          </a:p>
          <a:p>
            <a:pPr marL="0" indent="0">
              <a:lnSpc>
                <a:spcPct val="130000"/>
              </a:lnSpc>
              <a:buNone/>
            </a:pPr>
            <a:r>
              <a:rPr lang="en-US" sz="1000" dirty="0">
                <a:solidFill>
                  <a:srgbClr val="E8EDF5"/>
                </a:solidFill>
                <a:latin typeface="Arial" pitchFamily="34" charset="0"/>
                <a:ea typeface="Arial" pitchFamily="34" charset="-122"/>
                <a:cs typeface="Arial" pitchFamily="34" charset="-120"/>
              </a:rPr>
              <a:t>you already have</a:t>
            </a:r>
            <a:endParaRPr lang="en-US" sz="1000" dirty="0"/>
          </a:p>
        </p:txBody>
      </p:sp>
      <p:sp>
        <p:nvSpPr>
          <p:cNvPr id="7" name="Text 5"/>
          <p:cNvSpPr/>
          <p:nvPr/>
        </p:nvSpPr>
        <p:spPr>
          <a:xfrm>
            <a:off x="3429000" y="1527048"/>
            <a:ext cx="548640" cy="320040"/>
          </a:xfrm>
          <a:prstGeom prst="rect">
            <a:avLst/>
          </a:prstGeom>
          <a:noFill/>
          <a:ln/>
        </p:spPr>
        <p:txBody>
          <a:bodyPr wrap="square" lIns="0" tIns="0" rIns="0" bIns="0" rtlCol="0" anchor="ctr"/>
          <a:lstStyle/>
          <a:p>
            <a:pPr marL="0" indent="0" algn="ctr">
              <a:buNone/>
            </a:pPr>
            <a:r>
              <a:rPr lang="en-US" sz="1800" b="1" dirty="0">
                <a:solidFill>
                  <a:srgbClr val="196B24"/>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4069080" y="1325880"/>
            <a:ext cx="2926080" cy="713232"/>
          </a:xfrm>
          <a:prstGeom prst="rect">
            <a:avLst/>
          </a:prstGeom>
          <a:solidFill>
            <a:srgbClr val="060E2A"/>
          </a:solidFill>
          <a:ln w="19050">
            <a:solidFill>
              <a:srgbClr val="196B24"/>
            </a:solidFill>
            <a:prstDash val="solid"/>
          </a:ln>
        </p:spPr>
        <p:txBody>
          <a:bodyPr/>
          <a:lstStyle/>
          <a:p>
            <a:endParaRPr lang="en-CA"/>
          </a:p>
        </p:txBody>
      </p:sp>
      <p:sp>
        <p:nvSpPr>
          <p:cNvPr id="9" name="Text 7"/>
          <p:cNvSpPr/>
          <p:nvPr/>
        </p:nvSpPr>
        <p:spPr>
          <a:xfrm>
            <a:off x="4251960" y="1417320"/>
            <a:ext cx="2651760" cy="530352"/>
          </a:xfrm>
          <a:prstGeom prst="rect">
            <a:avLst/>
          </a:prstGeom>
          <a:noFill/>
          <a:ln/>
        </p:spPr>
        <p:txBody>
          <a:bodyPr wrap="square" lIns="0" tIns="0" rIns="0" bIns="0" rtlCol="0" anchor="ctr"/>
          <a:lstStyle/>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Mining NDT</a:t>
            </a:r>
            <a:endParaRPr lang="en-US" sz="1000" dirty="0"/>
          </a:p>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initiative</a:t>
            </a:r>
            <a:endParaRPr lang="en-US" sz="1000" dirty="0"/>
          </a:p>
        </p:txBody>
      </p:sp>
      <p:sp>
        <p:nvSpPr>
          <p:cNvPr id="10" name="Shape 8"/>
          <p:cNvSpPr/>
          <p:nvPr/>
        </p:nvSpPr>
        <p:spPr>
          <a:xfrm>
            <a:off x="411480" y="2221992"/>
            <a:ext cx="2926080" cy="713232"/>
          </a:xfrm>
          <a:prstGeom prst="rect">
            <a:avLst/>
          </a:prstGeom>
          <a:solidFill>
            <a:srgbClr val="0A1F5C"/>
          </a:solidFill>
          <a:ln w="12700">
            <a:solidFill>
              <a:srgbClr val="2D4A7A"/>
            </a:solidFill>
            <a:prstDash val="solid"/>
          </a:ln>
        </p:spPr>
        <p:txBody>
          <a:bodyPr/>
          <a:lstStyle/>
          <a:p>
            <a:endParaRPr lang="en-CA"/>
          </a:p>
        </p:txBody>
      </p:sp>
      <p:sp>
        <p:nvSpPr>
          <p:cNvPr id="11" name="Text 9"/>
          <p:cNvSpPr/>
          <p:nvPr/>
        </p:nvSpPr>
        <p:spPr>
          <a:xfrm>
            <a:off x="594360" y="2313432"/>
            <a:ext cx="2651760" cy="530352"/>
          </a:xfrm>
          <a:prstGeom prst="rect">
            <a:avLst/>
          </a:prstGeom>
          <a:noFill/>
          <a:ln/>
        </p:spPr>
        <p:txBody>
          <a:bodyPr wrap="square" lIns="0" tIns="0" rIns="0" bIns="0" rtlCol="0" anchor="ctr"/>
          <a:lstStyle/>
          <a:p>
            <a:pPr marL="0" indent="0">
              <a:lnSpc>
                <a:spcPct val="130000"/>
              </a:lnSpc>
              <a:buNone/>
            </a:pPr>
            <a:r>
              <a:rPr lang="en-US" sz="1000" dirty="0">
                <a:solidFill>
                  <a:srgbClr val="E8EDF5"/>
                </a:solidFill>
                <a:latin typeface="Arial" pitchFamily="34" charset="0"/>
                <a:ea typeface="Arial" pitchFamily="34" charset="-122"/>
                <a:cs typeface="Arial" pitchFamily="34" charset="-120"/>
              </a:rPr>
              <a:t>Nortech pipeline</a:t>
            </a:r>
            <a:endParaRPr lang="en-US" sz="1000" dirty="0"/>
          </a:p>
          <a:p>
            <a:pPr marL="0" indent="0">
              <a:lnSpc>
                <a:spcPct val="130000"/>
              </a:lnSpc>
              <a:buNone/>
            </a:pPr>
            <a:r>
              <a:rPr lang="en-US" sz="1000" dirty="0">
                <a:solidFill>
                  <a:srgbClr val="E8EDF5"/>
                </a:solidFill>
                <a:latin typeface="Arial" pitchFamily="34" charset="0"/>
                <a:ea typeface="Arial" pitchFamily="34" charset="-122"/>
                <a:cs typeface="Arial" pitchFamily="34" charset="-120"/>
              </a:rPr>
              <a:t>integrity work</a:t>
            </a:r>
            <a:endParaRPr lang="en-US" sz="1000" dirty="0"/>
          </a:p>
        </p:txBody>
      </p:sp>
      <p:sp>
        <p:nvSpPr>
          <p:cNvPr id="12" name="Text 10"/>
          <p:cNvSpPr/>
          <p:nvPr/>
        </p:nvSpPr>
        <p:spPr>
          <a:xfrm>
            <a:off x="3429000" y="2423160"/>
            <a:ext cx="548640" cy="320040"/>
          </a:xfrm>
          <a:prstGeom prst="rect">
            <a:avLst/>
          </a:prstGeom>
          <a:noFill/>
          <a:ln/>
        </p:spPr>
        <p:txBody>
          <a:bodyPr wrap="square" lIns="0" tIns="0" rIns="0" bIns="0" rtlCol="0" anchor="ctr"/>
          <a:lstStyle/>
          <a:p>
            <a:pPr marL="0" indent="0" algn="ctr">
              <a:buNone/>
            </a:pPr>
            <a:r>
              <a:rPr lang="en-US" sz="1800" b="1" dirty="0">
                <a:solidFill>
                  <a:srgbClr val="0A3A6B"/>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4069080" y="2221992"/>
            <a:ext cx="2926080" cy="713232"/>
          </a:xfrm>
          <a:prstGeom prst="rect">
            <a:avLst/>
          </a:prstGeom>
          <a:solidFill>
            <a:srgbClr val="060E2A"/>
          </a:solidFill>
          <a:ln w="19050">
            <a:solidFill>
              <a:srgbClr val="0A3A6B"/>
            </a:solidFill>
            <a:prstDash val="solid"/>
          </a:ln>
        </p:spPr>
        <p:txBody>
          <a:bodyPr/>
          <a:lstStyle/>
          <a:p>
            <a:endParaRPr lang="en-CA"/>
          </a:p>
        </p:txBody>
      </p:sp>
      <p:sp>
        <p:nvSpPr>
          <p:cNvPr id="14" name="Text 12"/>
          <p:cNvSpPr/>
          <p:nvPr/>
        </p:nvSpPr>
        <p:spPr>
          <a:xfrm>
            <a:off x="4251960" y="2313432"/>
            <a:ext cx="2651760" cy="530352"/>
          </a:xfrm>
          <a:prstGeom prst="rect">
            <a:avLst/>
          </a:prstGeom>
          <a:noFill/>
          <a:ln/>
        </p:spPr>
        <p:txBody>
          <a:bodyPr wrap="square" lIns="0" tIns="0" rIns="0" bIns="0" rtlCol="0" anchor="ctr"/>
          <a:lstStyle/>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Pipeline DA</a:t>
            </a:r>
            <a:endParaRPr lang="en-US" sz="1000" dirty="0"/>
          </a:p>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$30M practice</a:t>
            </a:r>
            <a:endParaRPr lang="en-US" sz="1000" dirty="0"/>
          </a:p>
        </p:txBody>
      </p:sp>
      <p:sp>
        <p:nvSpPr>
          <p:cNvPr id="15" name="Shape 13"/>
          <p:cNvSpPr/>
          <p:nvPr/>
        </p:nvSpPr>
        <p:spPr>
          <a:xfrm>
            <a:off x="411480" y="3118104"/>
            <a:ext cx="2926080" cy="713232"/>
          </a:xfrm>
          <a:prstGeom prst="rect">
            <a:avLst/>
          </a:prstGeom>
          <a:solidFill>
            <a:srgbClr val="0A1F5C"/>
          </a:solidFill>
          <a:ln w="12700">
            <a:solidFill>
              <a:srgbClr val="2D4A7A"/>
            </a:solidFill>
            <a:prstDash val="solid"/>
          </a:ln>
        </p:spPr>
        <p:txBody>
          <a:bodyPr/>
          <a:lstStyle/>
          <a:p>
            <a:endParaRPr lang="en-CA"/>
          </a:p>
        </p:txBody>
      </p:sp>
      <p:sp>
        <p:nvSpPr>
          <p:cNvPr id="16" name="Text 14"/>
          <p:cNvSpPr/>
          <p:nvPr/>
        </p:nvSpPr>
        <p:spPr>
          <a:xfrm>
            <a:off x="594360" y="3209544"/>
            <a:ext cx="2651760" cy="530352"/>
          </a:xfrm>
          <a:prstGeom prst="rect">
            <a:avLst/>
          </a:prstGeom>
          <a:noFill/>
          <a:ln/>
        </p:spPr>
        <p:txBody>
          <a:bodyPr wrap="square" lIns="0" tIns="0" rIns="0" bIns="0" rtlCol="0" anchor="ctr"/>
          <a:lstStyle/>
          <a:p>
            <a:pPr marL="0" indent="0">
              <a:lnSpc>
                <a:spcPct val="130000"/>
              </a:lnSpc>
              <a:buNone/>
            </a:pPr>
            <a:r>
              <a:rPr lang="en-US" sz="1000" dirty="0">
                <a:solidFill>
                  <a:srgbClr val="E8EDF5"/>
                </a:solidFill>
                <a:latin typeface="Arial" pitchFamily="34" charset="0"/>
                <a:ea typeface="Arial" pitchFamily="34" charset="-122"/>
                <a:cs typeface="Arial" pitchFamily="34" charset="-120"/>
              </a:rPr>
              <a:t>AMBER/RED defect</a:t>
            </a:r>
            <a:endParaRPr lang="en-US" sz="1000" dirty="0"/>
          </a:p>
          <a:p>
            <a:pPr marL="0" indent="0">
              <a:lnSpc>
                <a:spcPct val="130000"/>
              </a:lnSpc>
              <a:buNone/>
            </a:pPr>
            <a:r>
              <a:rPr lang="en-US" sz="1000" dirty="0">
                <a:solidFill>
                  <a:srgbClr val="E8EDF5"/>
                </a:solidFill>
                <a:latin typeface="Arial" pitchFamily="34" charset="0"/>
                <a:ea typeface="Arial" pitchFamily="34" charset="-122"/>
                <a:cs typeface="Arial" pitchFamily="34" charset="-120"/>
              </a:rPr>
              <a:t>in any field report</a:t>
            </a:r>
            <a:endParaRPr lang="en-US" sz="1000" dirty="0"/>
          </a:p>
        </p:txBody>
      </p:sp>
      <p:sp>
        <p:nvSpPr>
          <p:cNvPr id="17" name="Text 15"/>
          <p:cNvSpPr/>
          <p:nvPr/>
        </p:nvSpPr>
        <p:spPr>
          <a:xfrm>
            <a:off x="3429000" y="3319272"/>
            <a:ext cx="548640" cy="320040"/>
          </a:xfrm>
          <a:prstGeom prst="rect">
            <a:avLst/>
          </a:prstGeom>
          <a:noFill/>
          <a:ln/>
        </p:spPr>
        <p:txBody>
          <a:bodyPr wrap="square" lIns="0" tIns="0" rIns="0" bIns="0" rtlCol="0" anchor="ctr"/>
          <a:lstStyle/>
          <a:p>
            <a:pPr marL="0" indent="0" algn="ctr">
              <a:buNone/>
            </a:pPr>
            <a:r>
              <a:rPr lang="en-US" sz="1800" b="1" dirty="0">
                <a:solidFill>
                  <a:srgbClr val="B91C1C"/>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4069080" y="3118104"/>
            <a:ext cx="2926080" cy="713232"/>
          </a:xfrm>
          <a:prstGeom prst="rect">
            <a:avLst/>
          </a:prstGeom>
          <a:solidFill>
            <a:srgbClr val="060E2A"/>
          </a:solidFill>
          <a:ln w="19050">
            <a:solidFill>
              <a:srgbClr val="B91C1C"/>
            </a:solidFill>
            <a:prstDash val="solid"/>
          </a:ln>
        </p:spPr>
        <p:txBody>
          <a:bodyPr/>
          <a:lstStyle/>
          <a:p>
            <a:endParaRPr lang="en-CA"/>
          </a:p>
        </p:txBody>
      </p:sp>
      <p:sp>
        <p:nvSpPr>
          <p:cNvPr id="19" name="Text 17"/>
          <p:cNvSpPr/>
          <p:nvPr/>
        </p:nvSpPr>
        <p:spPr>
          <a:xfrm>
            <a:off x="4251960" y="3209544"/>
            <a:ext cx="2651760" cy="530352"/>
          </a:xfrm>
          <a:prstGeom prst="rect">
            <a:avLst/>
          </a:prstGeom>
          <a:noFill/>
          <a:ln/>
        </p:spPr>
        <p:txBody>
          <a:bodyPr wrap="square" lIns="0" tIns="0" rIns="0" bIns="0" rtlCol="0" anchor="ctr"/>
          <a:lstStyle/>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3X Composite</a:t>
            </a:r>
            <a:endParaRPr lang="en-US" sz="1000" dirty="0"/>
          </a:p>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repair revenue</a:t>
            </a:r>
            <a:endParaRPr lang="en-US" sz="1000" dirty="0"/>
          </a:p>
        </p:txBody>
      </p:sp>
      <p:sp>
        <p:nvSpPr>
          <p:cNvPr id="20" name="Shape 18"/>
          <p:cNvSpPr/>
          <p:nvPr/>
        </p:nvSpPr>
        <p:spPr>
          <a:xfrm>
            <a:off x="411480" y="4014216"/>
            <a:ext cx="2926080" cy="713232"/>
          </a:xfrm>
          <a:prstGeom prst="rect">
            <a:avLst/>
          </a:prstGeom>
          <a:solidFill>
            <a:srgbClr val="0A1F5C"/>
          </a:solidFill>
          <a:ln w="12700">
            <a:solidFill>
              <a:srgbClr val="2D4A7A"/>
            </a:solidFill>
            <a:prstDash val="solid"/>
          </a:ln>
        </p:spPr>
        <p:txBody>
          <a:bodyPr/>
          <a:lstStyle/>
          <a:p>
            <a:endParaRPr lang="en-CA"/>
          </a:p>
        </p:txBody>
      </p:sp>
      <p:sp>
        <p:nvSpPr>
          <p:cNvPr id="21" name="Text 19"/>
          <p:cNvSpPr/>
          <p:nvPr/>
        </p:nvSpPr>
        <p:spPr>
          <a:xfrm>
            <a:off x="594360" y="4105656"/>
            <a:ext cx="2651760" cy="530352"/>
          </a:xfrm>
          <a:prstGeom prst="rect">
            <a:avLst/>
          </a:prstGeom>
          <a:noFill/>
          <a:ln/>
        </p:spPr>
        <p:txBody>
          <a:bodyPr wrap="square" lIns="0" tIns="0" rIns="0" bIns="0" rtlCol="0" anchor="ctr"/>
          <a:lstStyle/>
          <a:p>
            <a:pPr marL="0" indent="0">
              <a:lnSpc>
                <a:spcPct val="130000"/>
              </a:lnSpc>
              <a:buNone/>
            </a:pPr>
            <a:r>
              <a:rPr lang="en-US" sz="1000" dirty="0">
                <a:solidFill>
                  <a:srgbClr val="E8EDF5"/>
                </a:solidFill>
                <a:latin typeface="Arial" pitchFamily="34" charset="0"/>
                <a:ea typeface="Arial" pitchFamily="34" charset="-122"/>
                <a:cs typeface="Arial" pitchFamily="34" charset="-120"/>
              </a:rPr>
              <a:t>Crew utilisation</a:t>
            </a:r>
            <a:endParaRPr lang="en-US" sz="1000" dirty="0"/>
          </a:p>
          <a:p>
            <a:pPr marL="0" indent="0">
              <a:lnSpc>
                <a:spcPct val="130000"/>
              </a:lnSpc>
              <a:buNone/>
            </a:pPr>
            <a:r>
              <a:rPr lang="en-US" sz="1000" dirty="0">
                <a:solidFill>
                  <a:srgbClr val="E8EDF5"/>
                </a:solidFill>
                <a:latin typeface="Arial" pitchFamily="34" charset="0"/>
                <a:ea typeface="Arial" pitchFamily="34" charset="-122"/>
                <a:cs typeface="Arial" pitchFamily="34" charset="-120"/>
              </a:rPr>
              <a:t>data every Wednesday</a:t>
            </a:r>
            <a:endParaRPr lang="en-US" sz="1000" dirty="0"/>
          </a:p>
        </p:txBody>
      </p:sp>
      <p:sp>
        <p:nvSpPr>
          <p:cNvPr id="22" name="Text 20"/>
          <p:cNvSpPr/>
          <p:nvPr/>
        </p:nvSpPr>
        <p:spPr>
          <a:xfrm>
            <a:off x="3429000" y="4215384"/>
            <a:ext cx="548640" cy="320040"/>
          </a:xfrm>
          <a:prstGeom prst="rect">
            <a:avLst/>
          </a:prstGeom>
          <a:noFill/>
          <a:ln/>
        </p:spPr>
        <p:txBody>
          <a:bodyPr wrap="square" lIns="0" tIns="0" rIns="0" bIns="0" rtlCol="0" anchor="ctr"/>
          <a:lstStyle/>
          <a:p>
            <a:pPr marL="0" indent="0" algn="ctr">
              <a:buNone/>
            </a:pPr>
            <a:r>
              <a:rPr lang="en-US" sz="1800" b="1" dirty="0">
                <a:solidFill>
                  <a:srgbClr val="C9860A"/>
                </a:solidFill>
                <a:latin typeface="Arial" pitchFamily="34" charset="0"/>
                <a:ea typeface="Arial" pitchFamily="34" charset="-122"/>
                <a:cs typeface="Arial" pitchFamily="34" charset="-120"/>
              </a:rPr>
              <a:t>→</a:t>
            </a:r>
            <a:endParaRPr lang="en-US" sz="1800" dirty="0"/>
          </a:p>
        </p:txBody>
      </p:sp>
      <p:sp>
        <p:nvSpPr>
          <p:cNvPr id="23" name="Shape 21"/>
          <p:cNvSpPr/>
          <p:nvPr/>
        </p:nvSpPr>
        <p:spPr>
          <a:xfrm>
            <a:off x="4069080" y="4014216"/>
            <a:ext cx="2926080" cy="713232"/>
          </a:xfrm>
          <a:prstGeom prst="rect">
            <a:avLst/>
          </a:prstGeom>
          <a:solidFill>
            <a:srgbClr val="060E2A"/>
          </a:solidFill>
          <a:ln w="19050">
            <a:solidFill>
              <a:srgbClr val="C9860A"/>
            </a:solidFill>
            <a:prstDash val="solid"/>
          </a:ln>
        </p:spPr>
        <p:txBody>
          <a:bodyPr/>
          <a:lstStyle/>
          <a:p>
            <a:endParaRPr lang="en-CA"/>
          </a:p>
        </p:txBody>
      </p:sp>
      <p:sp>
        <p:nvSpPr>
          <p:cNvPr id="24" name="Text 22"/>
          <p:cNvSpPr/>
          <p:nvPr/>
        </p:nvSpPr>
        <p:spPr>
          <a:xfrm>
            <a:off x="4251960" y="4105656"/>
            <a:ext cx="2651760" cy="530352"/>
          </a:xfrm>
          <a:prstGeom prst="rect">
            <a:avLst/>
          </a:prstGeom>
          <a:noFill/>
          <a:ln/>
        </p:spPr>
        <p:txBody>
          <a:bodyPr wrap="square" lIns="0" tIns="0" rIns="0" bIns="0" rtlCol="0" anchor="ctr"/>
          <a:lstStyle/>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Headcount &amp;</a:t>
            </a:r>
            <a:endParaRPr lang="en-US" sz="1000" dirty="0"/>
          </a:p>
          <a:p>
            <a:pPr marL="0" indent="0">
              <a:lnSpc>
                <a:spcPct val="130000"/>
              </a:lnSpc>
              <a:buNone/>
            </a:pPr>
            <a:r>
              <a:rPr lang="en-US" sz="1000" b="1" dirty="0">
                <a:solidFill>
                  <a:srgbClr val="FFFFFF"/>
                </a:solidFill>
                <a:latin typeface="Arial" pitchFamily="34" charset="0"/>
                <a:ea typeface="Arial" pitchFamily="34" charset="-122"/>
                <a:cs typeface="Arial" pitchFamily="34" charset="-120"/>
              </a:rPr>
              <a:t>resources advocacy</a:t>
            </a:r>
            <a:endParaRPr lang="en-US" sz="1000" dirty="0"/>
          </a:p>
        </p:txBody>
      </p:sp>
      <p:sp>
        <p:nvSpPr>
          <p:cNvPr id="25" name="Shape 23"/>
          <p:cNvSpPr/>
          <p:nvPr/>
        </p:nvSpPr>
        <p:spPr>
          <a:xfrm>
            <a:off x="7223760" y="1298448"/>
            <a:ext cx="1737360" cy="3218688"/>
          </a:xfrm>
          <a:prstGeom prst="rect">
            <a:avLst/>
          </a:prstGeom>
          <a:solidFill>
            <a:srgbClr val="0A1F5C"/>
          </a:solidFill>
          <a:ln w="12700">
            <a:solidFill>
              <a:srgbClr val="C9860A"/>
            </a:solidFill>
            <a:prstDash val="solid"/>
          </a:ln>
        </p:spPr>
        <p:txBody>
          <a:bodyPr/>
          <a:lstStyle/>
          <a:p>
            <a:endParaRPr lang="en-CA"/>
          </a:p>
        </p:txBody>
      </p:sp>
      <p:sp>
        <p:nvSpPr>
          <p:cNvPr id="26" name="Shape 24"/>
          <p:cNvSpPr/>
          <p:nvPr/>
        </p:nvSpPr>
        <p:spPr>
          <a:xfrm>
            <a:off x="7223760" y="1298448"/>
            <a:ext cx="1737360" cy="54864"/>
          </a:xfrm>
          <a:prstGeom prst="rect">
            <a:avLst/>
          </a:prstGeom>
          <a:solidFill>
            <a:srgbClr val="C9860A"/>
          </a:solidFill>
          <a:ln w="12700">
            <a:solidFill>
              <a:srgbClr val="C9860A"/>
            </a:solidFill>
            <a:prstDash val="solid"/>
          </a:ln>
        </p:spPr>
        <p:txBody>
          <a:bodyPr/>
          <a:lstStyle/>
          <a:p>
            <a:endParaRPr lang="en-CA"/>
          </a:p>
        </p:txBody>
      </p:sp>
      <p:sp>
        <p:nvSpPr>
          <p:cNvPr id="27" name="Text 25"/>
          <p:cNvSpPr/>
          <p:nvPr/>
        </p:nvSpPr>
        <p:spPr>
          <a:xfrm>
            <a:off x="7360920" y="1444752"/>
            <a:ext cx="1463040" cy="2926080"/>
          </a:xfrm>
          <a:prstGeom prst="rect">
            <a:avLst/>
          </a:prstGeom>
          <a:noFill/>
          <a:ln/>
        </p:spPr>
        <p:txBody>
          <a:bodyPr wrap="square" lIns="0" tIns="0" rIns="0" bIns="0" rtlCol="0" anchor="ctr"/>
          <a:lstStyle/>
          <a:p>
            <a:pPr marL="0" indent="0">
              <a:lnSpc>
                <a:spcPct val="150000"/>
              </a:lnSpc>
              <a:buNone/>
            </a:pPr>
            <a:r>
              <a:rPr lang="en-US" sz="900" dirty="0">
                <a:solidFill>
                  <a:srgbClr val="E8EDF5"/>
                </a:solidFill>
                <a:latin typeface="Arial" pitchFamily="34" charset="0"/>
                <a:ea typeface="Arial" pitchFamily="34" charset="-122"/>
                <a:cs typeface="Arial" pitchFamily="34" charset="-120"/>
              </a:rPr>
              <a:t>Every account in your territory is a candidate for multiple initiatives.</a:t>
            </a:r>
            <a:endParaRPr lang="en-US" sz="900" dirty="0"/>
          </a:p>
          <a:p>
            <a:pPr marL="0" indent="0">
              <a:lnSpc>
                <a:spcPct val="150000"/>
              </a:lnSpc>
              <a:buNone/>
            </a:pPr>
            <a:endParaRPr lang="en-US" sz="900" dirty="0"/>
          </a:p>
          <a:p>
            <a:pPr marL="0" indent="0">
              <a:lnSpc>
                <a:spcPct val="150000"/>
              </a:lnSpc>
              <a:buNone/>
            </a:pPr>
            <a:r>
              <a:rPr lang="en-US" sz="900" dirty="0">
                <a:solidFill>
                  <a:srgbClr val="E8EDF5"/>
                </a:solidFill>
                <a:latin typeface="Arial" pitchFamily="34" charset="0"/>
                <a:ea typeface="Arial" pitchFamily="34" charset="-122"/>
                <a:cs typeface="Arial" pitchFamily="34" charset="-120"/>
              </a:rPr>
              <a:t>The structure makes it easier to see which lever to pull.</a:t>
            </a:r>
            <a:endParaRPr lang="en-US" sz="900" dirty="0"/>
          </a:p>
        </p:txBody>
      </p:sp>
      <p:sp>
        <p:nvSpPr>
          <p:cNvPr id="28" name="Shape 26"/>
          <p:cNvSpPr/>
          <p:nvPr/>
        </p:nvSpPr>
        <p:spPr>
          <a:xfrm>
            <a:off x="0" y="4800600"/>
            <a:ext cx="9144000" cy="342900"/>
          </a:xfrm>
          <a:prstGeom prst="rect">
            <a:avLst/>
          </a:prstGeom>
          <a:solidFill>
            <a:srgbClr val="060E2A"/>
          </a:solidFill>
          <a:ln w="12700">
            <a:solidFill>
              <a:srgbClr val="060E2A"/>
            </a:solidFill>
            <a:prstDash val="solid"/>
          </a:ln>
        </p:spPr>
        <p:txBody>
          <a:bodyPr/>
          <a:lstStyle/>
          <a:p>
            <a:endParaRPr lang="en-CA"/>
          </a:p>
        </p:txBody>
      </p:sp>
      <p:sp>
        <p:nvSpPr>
          <p:cNvPr id="29" name="Text 27"/>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B"/>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AEEF"/>
          </a:solidFill>
          <a:ln w="12700">
            <a:solidFill>
              <a:srgbClr val="00AEEF"/>
            </a:solidFill>
            <a:prstDash val="solid"/>
          </a:ln>
        </p:spPr>
        <p:txBody>
          <a:bodyPr/>
          <a:lstStyle/>
          <a:p>
            <a:endParaRPr lang="en-CA"/>
          </a:p>
        </p:txBody>
      </p:sp>
      <p:sp>
        <p:nvSpPr>
          <p:cNvPr id="3" name="Text 1"/>
          <p:cNvSpPr/>
          <p:nvPr/>
        </p:nvSpPr>
        <p:spPr>
          <a:xfrm>
            <a:off x="502920" y="201168"/>
            <a:ext cx="5486400" cy="256032"/>
          </a:xfrm>
          <a:prstGeom prst="rect">
            <a:avLst/>
          </a:prstGeom>
          <a:noFill/>
          <a:ln/>
        </p:spPr>
        <p:txBody>
          <a:bodyPr wrap="square" lIns="0" tIns="0" rIns="0" bIns="0" rtlCol="0" anchor="ctr"/>
          <a:lstStyle/>
          <a:p>
            <a:pPr marL="0" indent="0">
              <a:buNone/>
            </a:pPr>
            <a:r>
              <a:rPr lang="en-US" sz="800" b="1" kern="0" spc="300" dirty="0">
                <a:solidFill>
                  <a:srgbClr val="00AEEF"/>
                </a:solidFill>
                <a:latin typeface="Arial" pitchFamily="34" charset="0"/>
                <a:ea typeface="Arial" pitchFamily="34" charset="-122"/>
                <a:cs typeface="Arial" pitchFamily="34" charset="-120"/>
              </a:rPr>
              <a:t>WHAT ACTUALLY CHANGES FOR YOU</a:t>
            </a:r>
            <a:endParaRPr lang="en-US" sz="800" dirty="0"/>
          </a:p>
        </p:txBody>
      </p:sp>
      <p:sp>
        <p:nvSpPr>
          <p:cNvPr id="4" name="Text 2"/>
          <p:cNvSpPr/>
          <p:nvPr/>
        </p:nvSpPr>
        <p:spPr>
          <a:xfrm>
            <a:off x="502920" y="457200"/>
            <a:ext cx="8229600" cy="548640"/>
          </a:xfrm>
          <a:prstGeom prst="rect">
            <a:avLst/>
          </a:prstGeom>
          <a:noFill/>
          <a:ln/>
        </p:spPr>
        <p:txBody>
          <a:bodyPr wrap="square" lIns="0" tIns="0" rIns="0" bIns="0" rtlCol="0" anchor="ctr"/>
          <a:lstStyle/>
          <a:p>
            <a:pPr marL="0" indent="0">
              <a:buNone/>
            </a:pPr>
            <a:r>
              <a:rPr lang="en-US" sz="2800" b="1" dirty="0">
                <a:solidFill>
                  <a:srgbClr val="0A1F5C"/>
                </a:solidFill>
                <a:latin typeface="Arial" pitchFamily="34" charset="0"/>
                <a:ea typeface="Arial" pitchFamily="34" charset="-122"/>
                <a:cs typeface="Arial" pitchFamily="34" charset="-120"/>
              </a:rPr>
              <a:t>Two things. That's it.</a:t>
            </a:r>
            <a:endParaRPr lang="en-US" sz="2800" dirty="0"/>
          </a:p>
        </p:txBody>
      </p:sp>
      <p:sp>
        <p:nvSpPr>
          <p:cNvPr id="5" name="Shape 3"/>
          <p:cNvSpPr/>
          <p:nvPr/>
        </p:nvSpPr>
        <p:spPr>
          <a:xfrm>
            <a:off x="411480" y="1207008"/>
            <a:ext cx="3886200" cy="331012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6" name="Shape 4"/>
          <p:cNvSpPr/>
          <p:nvPr/>
        </p:nvSpPr>
        <p:spPr>
          <a:xfrm>
            <a:off x="411480" y="1207008"/>
            <a:ext cx="3886200" cy="54864"/>
          </a:xfrm>
          <a:prstGeom prst="rect">
            <a:avLst/>
          </a:prstGeom>
          <a:solidFill>
            <a:srgbClr val="00AEEF"/>
          </a:solidFill>
          <a:ln w="12700">
            <a:solidFill>
              <a:srgbClr val="00AEEF"/>
            </a:solidFill>
            <a:prstDash val="solid"/>
          </a:ln>
        </p:spPr>
        <p:txBody>
          <a:bodyPr/>
          <a:lstStyle/>
          <a:p>
            <a:endParaRPr lang="en-CA"/>
          </a:p>
        </p:txBody>
      </p:sp>
      <p:sp>
        <p:nvSpPr>
          <p:cNvPr id="7" name="Text 5"/>
          <p:cNvSpPr/>
          <p:nvPr/>
        </p:nvSpPr>
        <p:spPr>
          <a:xfrm>
            <a:off x="548640" y="1298448"/>
            <a:ext cx="822960" cy="822960"/>
          </a:xfrm>
          <a:prstGeom prst="rect">
            <a:avLst/>
          </a:prstGeom>
          <a:noFill/>
          <a:ln/>
        </p:spPr>
        <p:txBody>
          <a:bodyPr wrap="square" lIns="0" tIns="0" rIns="0" bIns="0" rtlCol="0" anchor="ctr"/>
          <a:lstStyle/>
          <a:p>
            <a:pPr marL="0" indent="0">
              <a:buNone/>
            </a:pPr>
            <a:r>
              <a:rPr lang="en-US" sz="4800" b="1" dirty="0">
                <a:solidFill>
                  <a:srgbClr val="00AEEF"/>
                </a:solidFill>
                <a:latin typeface="Arial" pitchFamily="34" charset="0"/>
                <a:ea typeface="Arial" pitchFamily="34" charset="-122"/>
                <a:cs typeface="Arial" pitchFamily="34" charset="-120"/>
              </a:rPr>
              <a:t>1</a:t>
            </a:r>
            <a:endParaRPr lang="en-US" sz="4800" dirty="0"/>
          </a:p>
        </p:txBody>
      </p:sp>
      <p:sp>
        <p:nvSpPr>
          <p:cNvPr id="8" name="Text 6"/>
          <p:cNvSpPr/>
          <p:nvPr/>
        </p:nvSpPr>
        <p:spPr>
          <a:xfrm>
            <a:off x="594360" y="2194560"/>
            <a:ext cx="3566160" cy="502920"/>
          </a:xfrm>
          <a:prstGeom prst="rect">
            <a:avLst/>
          </a:prstGeom>
          <a:noFill/>
          <a:ln/>
        </p:spPr>
        <p:txBody>
          <a:bodyPr wrap="square" lIns="0" tIns="0" rIns="0" bIns="0" rtlCol="0" anchor="ctr"/>
          <a:lstStyle/>
          <a:p>
            <a:pPr marL="0" indent="0">
              <a:lnSpc>
                <a:spcPct val="120000"/>
              </a:lnSpc>
              <a:buNone/>
            </a:pPr>
            <a:r>
              <a:rPr lang="en-US" sz="1300" b="1" dirty="0">
                <a:solidFill>
                  <a:srgbClr val="0A1F5C"/>
                </a:solidFill>
                <a:latin typeface="Arial" pitchFamily="34" charset="0"/>
                <a:ea typeface="Arial" pitchFamily="34" charset="-122"/>
                <a:cs typeface="Arial" pitchFamily="34" charset="-120"/>
              </a:rPr>
              <a:t>log it in the CRM. Tag the initiative.
Nortech techs: create Work Orders in Nortech Ops.</a:t>
            </a:r>
            <a:endParaRPr lang="en-US" sz="1300" dirty="0"/>
          </a:p>
        </p:txBody>
      </p:sp>
      <p:sp>
        <p:nvSpPr>
          <p:cNvPr id="9" name="Text 7"/>
          <p:cNvSpPr/>
          <p:nvPr/>
        </p:nvSpPr>
        <p:spPr>
          <a:xfrm>
            <a:off x="594360" y="2788920"/>
            <a:ext cx="3566160" cy="1600200"/>
          </a:xfrm>
          <a:prstGeom prst="rect">
            <a:avLst/>
          </a:prstGeom>
          <a:noFill/>
          <a:ln/>
        </p:spPr>
        <p:txBody>
          <a:bodyPr wrap="square" lIns="0" tIns="0" rIns="0" bIns="0" rtlCol="0" anchor="ctr"/>
          <a:lstStyle/>
          <a:p>
            <a:pPr marL="0" indent="0">
              <a:lnSpc>
                <a:spcPct val="150000"/>
              </a:lnSpc>
              <a:buNone/>
            </a:pPr>
            <a:r>
              <a:rPr lang="en-US" sz="1000" dirty="0">
                <a:solidFill>
                  <a:srgbClr val="384660"/>
                </a:solidFill>
                <a:latin typeface="Arial" pitchFamily="34" charset="0"/>
                <a:ea typeface="Arial" pitchFamily="34" charset="-122"/>
                <a:cs typeface="Arial" pitchFamily="34" charset="-120"/>
              </a:rPr>
              <a:t>When you close a deal, three minutes in the CRM. Set the BU_Initiative__c field to the right initiative. In exchange, the Monday meeting has real numbers instead of estimates — and Jon stops chasing five people for updates before talking to EIG.</a:t>
            </a:r>
            <a:endParaRPr lang="en-US" sz="1000" dirty="0"/>
          </a:p>
        </p:txBody>
      </p:sp>
      <p:sp>
        <p:nvSpPr>
          <p:cNvPr id="10" name="Shape 8"/>
          <p:cNvSpPr/>
          <p:nvPr/>
        </p:nvSpPr>
        <p:spPr>
          <a:xfrm>
            <a:off x="4846320" y="1207008"/>
            <a:ext cx="3886200" cy="3310128"/>
          </a:xfrm>
          <a:prstGeom prst="rect">
            <a:avLst/>
          </a:prstGeom>
          <a:solidFill>
            <a:srgbClr val="FFFFFF"/>
          </a:solidFill>
          <a:ln w="12700">
            <a:solidFill>
              <a:srgbClr val="DDE3EF"/>
            </a:solidFill>
            <a:prstDash val="solid"/>
          </a:ln>
          <a:effectLst>
            <a:outerShdw blurRad="101600" dist="25400" dir="8100000" algn="bl" rotWithShape="0">
              <a:srgbClr val="000000">
                <a:alpha val="18000"/>
              </a:srgbClr>
            </a:outerShdw>
          </a:effectLst>
        </p:spPr>
        <p:txBody>
          <a:bodyPr/>
          <a:lstStyle/>
          <a:p>
            <a:endParaRPr lang="en-CA"/>
          </a:p>
        </p:txBody>
      </p:sp>
      <p:sp>
        <p:nvSpPr>
          <p:cNvPr id="11" name="Shape 9"/>
          <p:cNvSpPr/>
          <p:nvPr/>
        </p:nvSpPr>
        <p:spPr>
          <a:xfrm>
            <a:off x="4846320" y="1207008"/>
            <a:ext cx="3886200" cy="54864"/>
          </a:xfrm>
          <a:prstGeom prst="rect">
            <a:avLst/>
          </a:prstGeom>
          <a:solidFill>
            <a:srgbClr val="16A34A"/>
          </a:solidFill>
          <a:ln w="12700">
            <a:solidFill>
              <a:srgbClr val="16A34A"/>
            </a:solidFill>
            <a:prstDash val="solid"/>
          </a:ln>
        </p:spPr>
        <p:txBody>
          <a:bodyPr/>
          <a:lstStyle/>
          <a:p>
            <a:endParaRPr lang="en-CA"/>
          </a:p>
        </p:txBody>
      </p:sp>
      <p:sp>
        <p:nvSpPr>
          <p:cNvPr id="12" name="Text 10"/>
          <p:cNvSpPr/>
          <p:nvPr/>
        </p:nvSpPr>
        <p:spPr>
          <a:xfrm>
            <a:off x="4983480" y="1298448"/>
            <a:ext cx="822960" cy="822960"/>
          </a:xfrm>
          <a:prstGeom prst="rect">
            <a:avLst/>
          </a:prstGeom>
          <a:noFill/>
          <a:ln/>
        </p:spPr>
        <p:txBody>
          <a:bodyPr wrap="square" lIns="0" tIns="0" rIns="0" bIns="0" rtlCol="0" anchor="ctr"/>
          <a:lstStyle/>
          <a:p>
            <a:pPr marL="0" indent="0">
              <a:buNone/>
            </a:pPr>
            <a:r>
              <a:rPr lang="en-US" sz="4800" b="1" dirty="0">
                <a:solidFill>
                  <a:srgbClr val="16A34A"/>
                </a:solidFill>
                <a:latin typeface="Arial" pitchFamily="34" charset="0"/>
                <a:ea typeface="Arial" pitchFamily="34" charset="-122"/>
                <a:cs typeface="Arial" pitchFamily="34" charset="-120"/>
              </a:rPr>
              <a:t>2</a:t>
            </a:r>
            <a:endParaRPr lang="en-US" sz="4800" dirty="0"/>
          </a:p>
        </p:txBody>
      </p:sp>
      <p:sp>
        <p:nvSpPr>
          <p:cNvPr id="13" name="Text 11"/>
          <p:cNvSpPr/>
          <p:nvPr/>
        </p:nvSpPr>
        <p:spPr>
          <a:xfrm>
            <a:off x="5029200" y="2194560"/>
            <a:ext cx="3566160" cy="502920"/>
          </a:xfrm>
          <a:prstGeom prst="rect">
            <a:avLst/>
          </a:prstGeom>
          <a:noFill/>
          <a:ln/>
        </p:spPr>
        <p:txBody>
          <a:bodyPr wrap="square" lIns="0" tIns="0" rIns="0" bIns="0" rtlCol="0" anchor="ctr"/>
          <a:lstStyle/>
          <a:p>
            <a:pPr marL="0" indent="0">
              <a:lnSpc>
                <a:spcPct val="120000"/>
              </a:lnSpc>
              <a:buNone/>
            </a:pPr>
            <a:r>
              <a:rPr lang="en-US" sz="1300" b="1" dirty="0">
                <a:solidFill>
                  <a:srgbClr val="0A1F5C"/>
                </a:solidFill>
                <a:latin typeface="Arial" pitchFamily="34" charset="0"/>
                <a:ea typeface="Arial" pitchFamily="34" charset="-122"/>
                <a:cs typeface="Arial" pitchFamily="34" charset="-120"/>
              </a:rPr>
              <a:t>Flag AMBER/RED findings to the commercial owner.</a:t>
            </a:r>
            <a:endParaRPr lang="en-US" sz="1300" dirty="0"/>
          </a:p>
        </p:txBody>
      </p:sp>
      <p:sp>
        <p:nvSpPr>
          <p:cNvPr id="14" name="Text 12"/>
          <p:cNvSpPr/>
          <p:nvPr/>
        </p:nvSpPr>
        <p:spPr>
          <a:xfrm>
            <a:off x="5029200" y="2788920"/>
            <a:ext cx="3566160" cy="1600200"/>
          </a:xfrm>
          <a:prstGeom prst="rect">
            <a:avLst/>
          </a:prstGeom>
          <a:noFill/>
          <a:ln/>
        </p:spPr>
        <p:txBody>
          <a:bodyPr wrap="square" lIns="0" tIns="0" rIns="0" bIns="0" rtlCol="0" anchor="ctr"/>
          <a:lstStyle/>
          <a:p>
            <a:pPr marL="0" indent="0">
              <a:lnSpc>
                <a:spcPct val="150000"/>
              </a:lnSpc>
              <a:buNone/>
            </a:pPr>
            <a:r>
              <a:rPr lang="en-US" sz="1000" dirty="0">
                <a:solidFill>
                  <a:srgbClr val="384660"/>
                </a:solidFill>
                <a:latin typeface="Arial" pitchFamily="34" charset="0"/>
                <a:ea typeface="Arial" pitchFamily="34" charset="-122"/>
                <a:cs typeface="Arial" pitchFamily="34" charset="-120"/>
              </a:rPr>
              <a:t>When your crew identifies an AMBER or RED corrosion finding in the field, flag it to the commercial owner the same day. The 3X Composite repair revenue is already there in the field. We're just building the closed loop to capture it.</a:t>
            </a:r>
            <a:endParaRPr lang="en-US" sz="1000" dirty="0"/>
          </a:p>
        </p:txBody>
      </p:sp>
      <p:sp>
        <p:nvSpPr>
          <p:cNvPr id="15" name="Shape 13"/>
          <p:cNvSpPr/>
          <p:nvPr/>
        </p:nvSpPr>
        <p:spPr>
          <a:xfrm>
            <a:off x="0" y="4800600"/>
            <a:ext cx="9144000" cy="342900"/>
          </a:xfrm>
          <a:prstGeom prst="rect">
            <a:avLst/>
          </a:prstGeom>
          <a:solidFill>
            <a:srgbClr val="0A1F5C"/>
          </a:solidFill>
          <a:ln w="12700">
            <a:solidFill>
              <a:srgbClr val="0A1F5C"/>
            </a:solidFill>
            <a:prstDash val="solid"/>
          </a:ln>
        </p:spPr>
        <p:txBody>
          <a:bodyPr/>
          <a:lstStyle/>
          <a:p>
            <a:endParaRPr lang="en-CA"/>
          </a:p>
        </p:txBody>
      </p:sp>
      <p:sp>
        <p:nvSpPr>
          <p:cNvPr id="16" name="Text 14"/>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6A34A"/>
          </a:solidFill>
          <a:ln w="12700">
            <a:solidFill>
              <a:srgbClr val="16A34A"/>
            </a:solidFill>
            <a:prstDash val="solid"/>
          </a:ln>
        </p:spPr>
        <p:txBody>
          <a:bodyPr/>
          <a:lstStyle/>
          <a:p>
            <a:endParaRPr lang="en-CA"/>
          </a:p>
        </p:txBody>
      </p:sp>
      <p:sp>
        <p:nvSpPr>
          <p:cNvPr id="3" name="Text 1"/>
          <p:cNvSpPr/>
          <p:nvPr/>
        </p:nvSpPr>
        <p:spPr>
          <a:xfrm>
            <a:off x="502920" y="228600"/>
            <a:ext cx="5486400" cy="256032"/>
          </a:xfrm>
          <a:prstGeom prst="rect">
            <a:avLst/>
          </a:prstGeom>
          <a:noFill/>
          <a:ln/>
        </p:spPr>
        <p:txBody>
          <a:bodyPr wrap="square" lIns="0" tIns="0" rIns="0" bIns="0" rtlCol="0" anchor="ctr"/>
          <a:lstStyle/>
          <a:p>
            <a:pPr marL="0" indent="0">
              <a:buNone/>
            </a:pPr>
            <a:r>
              <a:rPr lang="en-US" sz="800" b="1" kern="0" spc="300" dirty="0">
                <a:solidFill>
                  <a:srgbClr val="16A34A"/>
                </a:solidFill>
                <a:latin typeface="Arial" pitchFamily="34" charset="0"/>
                <a:ea typeface="Arial" pitchFamily="34" charset="-122"/>
                <a:cs typeface="Arial" pitchFamily="34" charset="-120"/>
              </a:rPr>
              <a:t>WHAT HAPPENS NOW</a:t>
            </a:r>
            <a:endParaRPr lang="en-US" sz="800" dirty="0"/>
          </a:p>
        </p:txBody>
      </p:sp>
      <p:sp>
        <p:nvSpPr>
          <p:cNvPr id="4" name="Text 2"/>
          <p:cNvSpPr/>
          <p:nvPr/>
        </p:nvSpPr>
        <p:spPr>
          <a:xfrm>
            <a:off x="502920" y="50292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The system is live. Here's how to use it.</a:t>
            </a:r>
            <a:endParaRPr lang="en-US" sz="2400" dirty="0"/>
          </a:p>
        </p:txBody>
      </p:sp>
      <p:sp>
        <p:nvSpPr>
          <p:cNvPr id="5" name="Shape 3"/>
          <p:cNvSpPr/>
          <p:nvPr/>
        </p:nvSpPr>
        <p:spPr>
          <a:xfrm>
            <a:off x="411480" y="1261872"/>
            <a:ext cx="8321040" cy="1042416"/>
          </a:xfrm>
          <a:prstGeom prst="rect">
            <a:avLst/>
          </a:prstGeom>
          <a:solidFill>
            <a:srgbClr val="0A1F5C"/>
          </a:solidFill>
          <a:ln w="12700">
            <a:solidFill>
              <a:srgbClr val="2D4A7A"/>
            </a:solidFill>
            <a:prstDash val="solid"/>
          </a:ln>
        </p:spPr>
        <p:txBody>
          <a:bodyPr/>
          <a:lstStyle/>
          <a:p>
            <a:endParaRPr lang="en-CA"/>
          </a:p>
        </p:txBody>
      </p:sp>
      <p:sp>
        <p:nvSpPr>
          <p:cNvPr id="6" name="Shape 4"/>
          <p:cNvSpPr/>
          <p:nvPr/>
        </p:nvSpPr>
        <p:spPr>
          <a:xfrm>
            <a:off x="411480" y="1261872"/>
            <a:ext cx="54864" cy="1042416"/>
          </a:xfrm>
          <a:prstGeom prst="rect">
            <a:avLst/>
          </a:prstGeom>
          <a:solidFill>
            <a:srgbClr val="00AEEF"/>
          </a:solidFill>
          <a:ln w="12700">
            <a:solidFill>
              <a:srgbClr val="00AEEF"/>
            </a:solidFill>
            <a:prstDash val="solid"/>
          </a:ln>
        </p:spPr>
        <p:txBody>
          <a:bodyPr/>
          <a:lstStyle/>
          <a:p>
            <a:endParaRPr lang="en-CA"/>
          </a:p>
        </p:txBody>
      </p:sp>
      <p:sp>
        <p:nvSpPr>
          <p:cNvPr id="7" name="Text 5"/>
          <p:cNvSpPr/>
          <p:nvPr/>
        </p:nvSpPr>
        <p:spPr>
          <a:xfrm>
            <a:off x="548640" y="1371600"/>
            <a:ext cx="502920" cy="384048"/>
          </a:xfrm>
          <a:prstGeom prst="rect">
            <a:avLst/>
          </a:prstGeom>
          <a:noFill/>
          <a:ln/>
        </p:spPr>
        <p:txBody>
          <a:bodyPr wrap="square" lIns="0" tIns="0" rIns="0" bIns="0" rtlCol="0" anchor="ctr"/>
          <a:lstStyle/>
          <a:p>
            <a:pPr marL="0" indent="0">
              <a:buNone/>
            </a:pPr>
            <a:r>
              <a:rPr lang="en-US" sz="1300" b="1" kern="0" spc="100" dirty="0">
                <a:solidFill>
                  <a:srgbClr val="00AEEF"/>
                </a:solidFill>
                <a:latin typeface="Arial" pitchFamily="34" charset="0"/>
                <a:ea typeface="Arial" pitchFamily="34" charset="-122"/>
                <a:cs typeface="Arial" pitchFamily="34" charset="-120"/>
              </a:rPr>
              <a:t>01</a:t>
            </a:r>
            <a:endParaRPr lang="en-US" sz="1300" dirty="0"/>
          </a:p>
        </p:txBody>
      </p:sp>
      <p:sp>
        <p:nvSpPr>
          <p:cNvPr id="8" name="Text 6"/>
          <p:cNvSpPr/>
          <p:nvPr/>
        </p:nvSpPr>
        <p:spPr>
          <a:xfrm>
            <a:off x="548640" y="1828800"/>
            <a:ext cx="1005840" cy="219456"/>
          </a:xfrm>
          <a:prstGeom prst="rect">
            <a:avLst/>
          </a:prstGeom>
          <a:noFill/>
          <a:ln/>
        </p:spPr>
        <p:txBody>
          <a:bodyPr wrap="square" lIns="0" tIns="0" rIns="0" bIns="0" rtlCol="0" anchor="ctr"/>
          <a:lstStyle/>
          <a:p>
            <a:pPr marL="0" indent="0">
              <a:buNone/>
            </a:pPr>
            <a:r>
              <a:rPr lang="en-US" sz="750" b="1" kern="0" spc="100" dirty="0">
                <a:solidFill>
                  <a:srgbClr val="00AEEF"/>
                </a:solidFill>
                <a:latin typeface="Arial" pitchFamily="34" charset="0"/>
                <a:ea typeface="Arial" pitchFamily="34" charset="-122"/>
                <a:cs typeface="Arial" pitchFamily="34" charset="-120"/>
              </a:rPr>
              <a:t>Everyone</a:t>
            </a:r>
            <a:endParaRPr lang="en-US" sz="750" dirty="0"/>
          </a:p>
        </p:txBody>
      </p:sp>
      <p:sp>
        <p:nvSpPr>
          <p:cNvPr id="9" name="Text 7"/>
          <p:cNvSpPr/>
          <p:nvPr/>
        </p:nvSpPr>
        <p:spPr>
          <a:xfrm>
            <a:off x="1298448" y="1371600"/>
            <a:ext cx="3108960" cy="36576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Read your role brief</a:t>
            </a:r>
            <a:endParaRPr lang="en-US" sz="1150" dirty="0"/>
          </a:p>
        </p:txBody>
      </p:sp>
      <p:sp>
        <p:nvSpPr>
          <p:cNvPr id="10" name="Text 8"/>
          <p:cNvSpPr/>
          <p:nvPr/>
        </p:nvSpPr>
        <p:spPr>
          <a:xfrm>
            <a:off x="4572000" y="1353312"/>
            <a:ext cx="4023360" cy="859536"/>
          </a:xfrm>
          <a:prstGeom prst="rect">
            <a:avLst/>
          </a:prstGeom>
          <a:noFill/>
          <a:ln/>
        </p:spPr>
        <p:txBody>
          <a:bodyPr wrap="square" lIns="0" tIns="0" rIns="0" bIns="0" rtlCol="0" anchor="ctr"/>
          <a:lstStyle/>
          <a:p>
            <a:pPr marL="0" indent="0">
              <a:lnSpc>
                <a:spcPct val="140000"/>
              </a:lnSpc>
              <a:buNone/>
            </a:pPr>
            <a:r>
              <a:rPr lang="en-US" sz="950" dirty="0">
                <a:solidFill>
                  <a:srgbClr val="E8EDF5"/>
                </a:solidFill>
                <a:latin typeface="Arial" pitchFamily="34" charset="0"/>
                <a:ea typeface="Arial" pitchFamily="34" charset="-122"/>
                <a:cs typeface="Arial" pitchFamily="34" charset="-120"/>
              </a:rPr>
              <a:t>Two pages. If something doesn't match how you understand your job, come talk to Jon this week — not by email. Misalignments fixed now are better than misalignments fixed in six months.</a:t>
            </a:r>
            <a:endParaRPr lang="en-US" sz="950" dirty="0"/>
          </a:p>
        </p:txBody>
      </p:sp>
      <p:sp>
        <p:nvSpPr>
          <p:cNvPr id="11" name="Shape 9"/>
          <p:cNvSpPr/>
          <p:nvPr/>
        </p:nvSpPr>
        <p:spPr>
          <a:xfrm>
            <a:off x="4434840" y="1399032"/>
            <a:ext cx="0" cy="777240"/>
          </a:xfrm>
          <a:prstGeom prst="line">
            <a:avLst/>
          </a:prstGeom>
          <a:noFill/>
          <a:ln w="9525">
            <a:solidFill>
              <a:srgbClr val="2D4A7A"/>
            </a:solidFill>
            <a:prstDash val="solid"/>
          </a:ln>
        </p:spPr>
        <p:txBody>
          <a:bodyPr/>
          <a:lstStyle/>
          <a:p>
            <a:endParaRPr lang="en-CA"/>
          </a:p>
        </p:txBody>
      </p:sp>
      <p:sp>
        <p:nvSpPr>
          <p:cNvPr id="12" name="Shape 10"/>
          <p:cNvSpPr/>
          <p:nvPr/>
        </p:nvSpPr>
        <p:spPr>
          <a:xfrm>
            <a:off x="411480" y="2450592"/>
            <a:ext cx="8321040" cy="1042416"/>
          </a:xfrm>
          <a:prstGeom prst="rect">
            <a:avLst/>
          </a:prstGeom>
          <a:solidFill>
            <a:srgbClr val="0A1F5C"/>
          </a:solidFill>
          <a:ln w="12700">
            <a:solidFill>
              <a:srgbClr val="2D4A7A"/>
            </a:solidFill>
            <a:prstDash val="solid"/>
          </a:ln>
        </p:spPr>
        <p:txBody>
          <a:bodyPr/>
          <a:lstStyle/>
          <a:p>
            <a:endParaRPr lang="en-CA"/>
          </a:p>
        </p:txBody>
      </p:sp>
      <p:sp>
        <p:nvSpPr>
          <p:cNvPr id="13" name="Shape 11"/>
          <p:cNvSpPr/>
          <p:nvPr/>
        </p:nvSpPr>
        <p:spPr>
          <a:xfrm>
            <a:off x="411480" y="2450592"/>
            <a:ext cx="54864" cy="1042416"/>
          </a:xfrm>
          <a:prstGeom prst="rect">
            <a:avLst/>
          </a:prstGeom>
          <a:solidFill>
            <a:srgbClr val="16A34A"/>
          </a:solidFill>
          <a:ln w="12700">
            <a:solidFill>
              <a:srgbClr val="16A34A"/>
            </a:solidFill>
            <a:prstDash val="solid"/>
          </a:ln>
        </p:spPr>
        <p:txBody>
          <a:bodyPr/>
          <a:lstStyle/>
          <a:p>
            <a:endParaRPr lang="en-CA"/>
          </a:p>
        </p:txBody>
      </p:sp>
      <p:sp>
        <p:nvSpPr>
          <p:cNvPr id="14" name="Text 12"/>
          <p:cNvSpPr/>
          <p:nvPr/>
        </p:nvSpPr>
        <p:spPr>
          <a:xfrm>
            <a:off x="548640" y="2560320"/>
            <a:ext cx="502920" cy="384048"/>
          </a:xfrm>
          <a:prstGeom prst="rect">
            <a:avLst/>
          </a:prstGeom>
          <a:noFill/>
          <a:ln/>
        </p:spPr>
        <p:txBody>
          <a:bodyPr wrap="square" lIns="0" tIns="0" rIns="0" bIns="0" rtlCol="0" anchor="ctr"/>
          <a:lstStyle/>
          <a:p>
            <a:pPr marL="0" indent="0">
              <a:buNone/>
            </a:pPr>
            <a:r>
              <a:rPr lang="en-US" sz="1300" b="1" kern="0" spc="100" dirty="0">
                <a:solidFill>
                  <a:srgbClr val="16A34A"/>
                </a:solidFill>
                <a:latin typeface="Arial" pitchFamily="34" charset="0"/>
                <a:ea typeface="Arial" pitchFamily="34" charset="-122"/>
                <a:cs typeface="Arial" pitchFamily="34" charset="-120"/>
              </a:rPr>
              <a:t>02</a:t>
            </a:r>
            <a:endParaRPr lang="en-US" sz="1300" dirty="0"/>
          </a:p>
        </p:txBody>
      </p:sp>
      <p:sp>
        <p:nvSpPr>
          <p:cNvPr id="15" name="Text 13"/>
          <p:cNvSpPr/>
          <p:nvPr/>
        </p:nvSpPr>
        <p:spPr>
          <a:xfrm>
            <a:off x="548640" y="3017520"/>
            <a:ext cx="1005840" cy="219456"/>
          </a:xfrm>
          <a:prstGeom prst="rect">
            <a:avLst/>
          </a:prstGeom>
          <a:noFill/>
          <a:ln/>
        </p:spPr>
        <p:txBody>
          <a:bodyPr wrap="square" lIns="0" tIns="0" rIns="0" bIns="0" rtlCol="0" anchor="ctr"/>
          <a:lstStyle/>
          <a:p>
            <a:pPr marL="0" indent="0">
              <a:buNone/>
            </a:pPr>
            <a:r>
              <a:rPr lang="en-US" sz="750" b="1" kern="0" spc="100" dirty="0">
                <a:solidFill>
                  <a:srgbClr val="16A34A"/>
                </a:solidFill>
                <a:latin typeface="Arial" pitchFamily="34" charset="0"/>
                <a:ea typeface="Arial" pitchFamily="34" charset="-122"/>
                <a:cs typeface="Arial" pitchFamily="34" charset="-120"/>
              </a:rPr>
              <a:t>Commercial team</a:t>
            </a:r>
            <a:endParaRPr lang="en-US" sz="750" dirty="0"/>
          </a:p>
        </p:txBody>
      </p:sp>
      <p:sp>
        <p:nvSpPr>
          <p:cNvPr id="16" name="Text 14"/>
          <p:cNvSpPr/>
          <p:nvPr/>
        </p:nvSpPr>
        <p:spPr>
          <a:xfrm>
            <a:off x="1298448" y="2560320"/>
            <a:ext cx="3108960" cy="36576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Open the CRM Backfill Tracker</a:t>
            </a:r>
            <a:endParaRPr lang="en-US" sz="1150" dirty="0"/>
          </a:p>
        </p:txBody>
      </p:sp>
      <p:sp>
        <p:nvSpPr>
          <p:cNvPr id="17" name="Text 15"/>
          <p:cNvSpPr/>
          <p:nvPr/>
        </p:nvSpPr>
        <p:spPr>
          <a:xfrm>
            <a:off x="4572000" y="2542032"/>
            <a:ext cx="4023360" cy="859536"/>
          </a:xfrm>
          <a:prstGeom prst="rect">
            <a:avLst/>
          </a:prstGeom>
          <a:noFill/>
          <a:ln/>
        </p:spPr>
        <p:txBody>
          <a:bodyPr wrap="square" lIns="0" tIns="0" rIns="0" bIns="0" rtlCol="0" anchor="ctr"/>
          <a:lstStyle/>
          <a:p>
            <a:pPr marL="0" indent="0">
              <a:lnSpc>
                <a:spcPct val="140000"/>
              </a:lnSpc>
              <a:buNone/>
            </a:pPr>
            <a:r>
              <a:rPr lang="en-US" sz="950" dirty="0">
                <a:solidFill>
                  <a:srgbClr val="E8EDF5"/>
                </a:solidFill>
                <a:latin typeface="Arial" pitchFamily="34" charset="0"/>
                <a:ea typeface="Arial" pitchFamily="34" charset="-122"/>
                <a:cs typeface="Arial" pitchFamily="34" charset="-120"/>
              </a:rPr>
              <a:t>Éric will share the link. Tag all your 2026 the CRM deals with the right initiative (Mining NDT / Pipeline DA / Powerline / Nuclear/OPG / 3X Composite / Base Business). This is the one technical step before go-live.</a:t>
            </a:r>
            <a:endParaRPr lang="en-US" sz="950" dirty="0"/>
          </a:p>
        </p:txBody>
      </p:sp>
      <p:sp>
        <p:nvSpPr>
          <p:cNvPr id="18" name="Shape 16"/>
          <p:cNvSpPr/>
          <p:nvPr/>
        </p:nvSpPr>
        <p:spPr>
          <a:xfrm>
            <a:off x="4434840" y="2587752"/>
            <a:ext cx="0" cy="777240"/>
          </a:xfrm>
          <a:prstGeom prst="line">
            <a:avLst/>
          </a:prstGeom>
          <a:noFill/>
          <a:ln w="9525">
            <a:solidFill>
              <a:srgbClr val="2D4A7A"/>
            </a:solidFill>
            <a:prstDash val="solid"/>
          </a:ln>
        </p:spPr>
        <p:txBody>
          <a:bodyPr/>
          <a:lstStyle/>
          <a:p>
            <a:endParaRPr lang="en-CA"/>
          </a:p>
        </p:txBody>
      </p:sp>
      <p:sp>
        <p:nvSpPr>
          <p:cNvPr id="19" name="Shape 17"/>
          <p:cNvSpPr/>
          <p:nvPr/>
        </p:nvSpPr>
        <p:spPr>
          <a:xfrm>
            <a:off x="411480" y="3639312"/>
            <a:ext cx="8321040" cy="1042416"/>
          </a:xfrm>
          <a:prstGeom prst="rect">
            <a:avLst/>
          </a:prstGeom>
          <a:solidFill>
            <a:srgbClr val="0A1F5C"/>
          </a:solidFill>
          <a:ln w="12700">
            <a:solidFill>
              <a:srgbClr val="2D4A7A"/>
            </a:solidFill>
            <a:prstDash val="solid"/>
          </a:ln>
        </p:spPr>
        <p:txBody>
          <a:bodyPr/>
          <a:lstStyle/>
          <a:p>
            <a:endParaRPr lang="en-CA"/>
          </a:p>
        </p:txBody>
      </p:sp>
      <p:sp>
        <p:nvSpPr>
          <p:cNvPr id="20" name="Shape 18"/>
          <p:cNvSpPr/>
          <p:nvPr/>
        </p:nvSpPr>
        <p:spPr>
          <a:xfrm>
            <a:off x="411480" y="3639312"/>
            <a:ext cx="54864" cy="1042416"/>
          </a:xfrm>
          <a:prstGeom prst="rect">
            <a:avLst/>
          </a:prstGeom>
          <a:solidFill>
            <a:srgbClr val="C9860A"/>
          </a:solidFill>
          <a:ln w="12700">
            <a:solidFill>
              <a:srgbClr val="C9860A"/>
            </a:solidFill>
            <a:prstDash val="solid"/>
          </a:ln>
        </p:spPr>
        <p:txBody>
          <a:bodyPr/>
          <a:lstStyle/>
          <a:p>
            <a:endParaRPr lang="en-CA"/>
          </a:p>
        </p:txBody>
      </p:sp>
      <p:sp>
        <p:nvSpPr>
          <p:cNvPr id="21" name="Text 19"/>
          <p:cNvSpPr/>
          <p:nvPr/>
        </p:nvSpPr>
        <p:spPr>
          <a:xfrm>
            <a:off x="548640" y="3749040"/>
            <a:ext cx="502920" cy="384048"/>
          </a:xfrm>
          <a:prstGeom prst="rect">
            <a:avLst/>
          </a:prstGeom>
          <a:noFill/>
          <a:ln/>
        </p:spPr>
        <p:txBody>
          <a:bodyPr wrap="square" lIns="0" tIns="0" rIns="0" bIns="0" rtlCol="0" anchor="ctr"/>
          <a:lstStyle/>
          <a:p>
            <a:pPr marL="0" indent="0">
              <a:buNone/>
            </a:pPr>
            <a:r>
              <a:rPr lang="en-US" sz="1300" b="1" kern="0" spc="100" dirty="0">
                <a:solidFill>
                  <a:srgbClr val="C9860A"/>
                </a:solidFill>
                <a:latin typeface="Arial" pitchFamily="34" charset="0"/>
                <a:ea typeface="Arial" pitchFamily="34" charset="-122"/>
                <a:cs typeface="Arial" pitchFamily="34" charset="-120"/>
              </a:rPr>
              <a:t>03</a:t>
            </a:r>
            <a:endParaRPr lang="en-US" sz="1300" dirty="0"/>
          </a:p>
        </p:txBody>
      </p:sp>
      <p:sp>
        <p:nvSpPr>
          <p:cNvPr id="22" name="Text 20"/>
          <p:cNvSpPr/>
          <p:nvPr/>
        </p:nvSpPr>
        <p:spPr>
          <a:xfrm>
            <a:off x="548640" y="4206240"/>
            <a:ext cx="1005840" cy="219456"/>
          </a:xfrm>
          <a:prstGeom prst="rect">
            <a:avLst/>
          </a:prstGeom>
          <a:noFill/>
          <a:ln/>
        </p:spPr>
        <p:txBody>
          <a:bodyPr wrap="square" lIns="0" tIns="0" rIns="0" bIns="0" rtlCol="0" anchor="ctr"/>
          <a:lstStyle/>
          <a:p>
            <a:pPr marL="0" indent="0">
              <a:buNone/>
            </a:pPr>
            <a:r>
              <a:rPr lang="en-US" sz="750" b="1" kern="0" spc="100" dirty="0">
                <a:solidFill>
                  <a:srgbClr val="C9860A"/>
                </a:solidFill>
                <a:latin typeface="Arial" pitchFamily="34" charset="0"/>
                <a:ea typeface="Arial" pitchFamily="34" charset="-122"/>
                <a:cs typeface="Arial" pitchFamily="34" charset="-120"/>
              </a:rPr>
              <a:t>Everyone</a:t>
            </a:r>
            <a:endParaRPr lang="en-US" sz="750" dirty="0"/>
          </a:p>
        </p:txBody>
      </p:sp>
      <p:sp>
        <p:nvSpPr>
          <p:cNvPr id="23" name="Text 21"/>
          <p:cNvSpPr/>
          <p:nvPr/>
        </p:nvSpPr>
        <p:spPr>
          <a:xfrm>
            <a:off x="1298448" y="3749040"/>
            <a:ext cx="3108960" cy="365760"/>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Monday — first live Commercial meeting</a:t>
            </a:r>
            <a:endParaRPr lang="en-US" sz="1150" dirty="0"/>
          </a:p>
        </p:txBody>
      </p:sp>
      <p:sp>
        <p:nvSpPr>
          <p:cNvPr id="24" name="Text 22"/>
          <p:cNvSpPr/>
          <p:nvPr/>
        </p:nvSpPr>
        <p:spPr>
          <a:xfrm>
            <a:off x="4572000" y="3730752"/>
            <a:ext cx="4023360" cy="859536"/>
          </a:xfrm>
          <a:prstGeom prst="rect">
            <a:avLst/>
          </a:prstGeom>
          <a:noFill/>
          <a:ln/>
        </p:spPr>
        <p:txBody>
          <a:bodyPr wrap="square" lIns="0" tIns="0" rIns="0" bIns="0" rtlCol="0" anchor="ctr"/>
          <a:lstStyle/>
          <a:p>
            <a:pPr marL="0" indent="0">
              <a:lnSpc>
                <a:spcPct val="140000"/>
              </a:lnSpc>
              <a:buNone/>
            </a:pPr>
            <a:r>
              <a:rPr lang="en-US" sz="950" dirty="0">
                <a:solidFill>
                  <a:srgbClr val="E8EDF5"/>
                </a:solidFill>
                <a:latin typeface="Arial" pitchFamily="34" charset="0"/>
                <a:ea typeface="Arial" pitchFamily="34" charset="-122"/>
                <a:cs typeface="Arial" pitchFamily="34" charset="-120"/>
              </a:rPr>
              <a:t>The Command Centre will be open on screen. Numbers will be live. The People &amp; Capacity Dashboard shows overhead % and utilization by office in real time. If something looks wrong, we'll fix it together. This rolls out honestly, not perfectly.</a:t>
            </a:r>
            <a:endParaRPr lang="en-US" sz="950" dirty="0"/>
          </a:p>
        </p:txBody>
      </p:sp>
      <p:sp>
        <p:nvSpPr>
          <p:cNvPr id="25" name="Shape 23"/>
          <p:cNvSpPr/>
          <p:nvPr/>
        </p:nvSpPr>
        <p:spPr>
          <a:xfrm>
            <a:off x="4434840" y="3776472"/>
            <a:ext cx="0" cy="777240"/>
          </a:xfrm>
          <a:prstGeom prst="line">
            <a:avLst/>
          </a:prstGeom>
          <a:noFill/>
          <a:ln w="9525">
            <a:solidFill>
              <a:srgbClr val="2D4A7A"/>
            </a:solidFill>
            <a:prstDash val="solid"/>
          </a:ln>
        </p:spPr>
        <p:txBody>
          <a:bodyPr/>
          <a:lstStyle/>
          <a:p>
            <a:endParaRPr lang="en-CA"/>
          </a:p>
        </p:txBody>
      </p:sp>
      <p:sp>
        <p:nvSpPr>
          <p:cNvPr id="26" name="Shape 24"/>
          <p:cNvSpPr/>
          <p:nvPr/>
        </p:nvSpPr>
        <p:spPr>
          <a:xfrm>
            <a:off x="0" y="4800600"/>
            <a:ext cx="9144000" cy="342900"/>
          </a:xfrm>
          <a:prstGeom prst="rect">
            <a:avLst/>
          </a:prstGeom>
          <a:solidFill>
            <a:srgbClr val="060E2A"/>
          </a:solidFill>
          <a:ln w="12700">
            <a:solidFill>
              <a:srgbClr val="060E2A"/>
            </a:solidFill>
            <a:prstDash val="solid"/>
          </a:ln>
        </p:spPr>
        <p:txBody>
          <a:bodyPr/>
          <a:lstStyle/>
          <a:p>
            <a:endParaRPr lang="en-CA"/>
          </a:p>
        </p:txBody>
      </p:sp>
      <p:sp>
        <p:nvSpPr>
          <p:cNvPr id="27" name="Text 25"/>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Team Rollout  ·  Confidential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EEF"/>
          </a:solidFill>
          <a:ln w="12700">
            <a:solidFill>
              <a:srgbClr val="00AEEF"/>
            </a:solidFill>
            <a:prstDash val="solid"/>
          </a:ln>
        </p:spPr>
        <p:txBody>
          <a:bodyPr/>
          <a:lstStyle/>
          <a:p>
            <a:endParaRPr lang="en-CA"/>
          </a:p>
        </p:txBody>
      </p:sp>
      <p:sp>
        <p:nvSpPr>
          <p:cNvPr id="3" name="Shape 1"/>
          <p:cNvSpPr/>
          <p:nvPr/>
        </p:nvSpPr>
        <p:spPr>
          <a:xfrm>
            <a:off x="0" y="0"/>
            <a:ext cx="4754880" cy="5143500"/>
          </a:xfrm>
          <a:prstGeom prst="rect">
            <a:avLst/>
          </a:prstGeom>
          <a:solidFill>
            <a:srgbClr val="0A1F5C"/>
          </a:solidFill>
          <a:ln w="12700">
            <a:solidFill>
              <a:srgbClr val="0A1F5C"/>
            </a:solidFill>
            <a:prstDash val="solid"/>
          </a:ln>
        </p:spPr>
        <p:txBody>
          <a:bodyPr/>
          <a:lstStyle/>
          <a:p>
            <a:endParaRPr lang="en-CA"/>
          </a:p>
        </p:txBody>
      </p:sp>
      <p:sp>
        <p:nvSpPr>
          <p:cNvPr id="4" name="Shape 2"/>
          <p:cNvSpPr/>
          <p:nvPr/>
        </p:nvSpPr>
        <p:spPr>
          <a:xfrm>
            <a:off x="4754880" y="0"/>
            <a:ext cx="45720" cy="5143500"/>
          </a:xfrm>
          <a:prstGeom prst="rect">
            <a:avLst/>
          </a:prstGeom>
          <a:solidFill>
            <a:srgbClr val="00AEEF"/>
          </a:solidFill>
          <a:ln w="12700">
            <a:solidFill>
              <a:srgbClr val="00AEEF"/>
            </a:solidFill>
            <a:prstDash val="solid"/>
          </a:ln>
        </p:spPr>
        <p:txBody>
          <a:bodyPr/>
          <a:lstStyle/>
          <a:p>
            <a:endParaRPr lang="en-CA"/>
          </a:p>
        </p:txBody>
      </p:sp>
      <p:sp>
        <p:nvSpPr>
          <p:cNvPr id="5" name="Text 3"/>
          <p:cNvSpPr/>
          <p:nvPr/>
        </p:nvSpPr>
        <p:spPr>
          <a:xfrm>
            <a:off x="502920" y="731520"/>
            <a:ext cx="4069080" cy="1280160"/>
          </a:xfrm>
          <a:prstGeom prst="rect">
            <a:avLst/>
          </a:prstGeom>
          <a:noFill/>
          <a:ln/>
        </p:spPr>
        <p:txBody>
          <a:bodyPr wrap="square" lIns="0" tIns="0" rIns="0" bIns="0" rtlCol="0" anchor="ctr"/>
          <a:lstStyle/>
          <a:p>
            <a:pPr marL="0" indent="0">
              <a:lnSpc>
                <a:spcPct val="120000"/>
              </a:lnSpc>
              <a:buNone/>
            </a:pPr>
            <a:r>
              <a:rPr lang="en-US" sz="2800" b="1" dirty="0">
                <a:solidFill>
                  <a:srgbClr val="FFFFFF"/>
                </a:solidFill>
                <a:latin typeface="Arial" pitchFamily="34" charset="0"/>
                <a:ea typeface="Arial" pitchFamily="34" charset="-122"/>
                <a:cs typeface="Arial" pitchFamily="34" charset="-120"/>
              </a:rPr>
              <a:t>You built what</a:t>
            </a:r>
            <a:endParaRPr lang="en-US" sz="2800" dirty="0"/>
          </a:p>
          <a:p>
            <a:pPr marL="0" indent="0">
              <a:lnSpc>
                <a:spcPct val="120000"/>
              </a:lnSpc>
              <a:buNone/>
            </a:pPr>
            <a:r>
              <a:rPr lang="en-US" sz="2800" b="1" dirty="0">
                <a:solidFill>
                  <a:srgbClr val="FFFFFF"/>
                </a:solidFill>
                <a:latin typeface="Arial" pitchFamily="34" charset="0"/>
                <a:ea typeface="Arial" pitchFamily="34" charset="-122"/>
                <a:cs typeface="Arial" pitchFamily="34" charset="-120"/>
              </a:rPr>
              <a:t>brought us here.</a:t>
            </a:r>
            <a:endParaRPr lang="en-US" sz="2800" dirty="0"/>
          </a:p>
        </p:txBody>
      </p:sp>
      <p:sp>
        <p:nvSpPr>
          <p:cNvPr id="6" name="Text 4"/>
          <p:cNvSpPr/>
          <p:nvPr/>
        </p:nvSpPr>
        <p:spPr>
          <a:xfrm>
            <a:off x="502920" y="2121408"/>
            <a:ext cx="4069080" cy="1097280"/>
          </a:xfrm>
          <a:prstGeom prst="rect">
            <a:avLst/>
          </a:prstGeom>
          <a:noFill/>
          <a:ln/>
        </p:spPr>
        <p:txBody>
          <a:bodyPr wrap="square" lIns="0" tIns="0" rIns="0" bIns="0" rtlCol="0" anchor="ctr"/>
          <a:lstStyle/>
          <a:p>
            <a:pPr marL="0" indent="0">
              <a:lnSpc>
                <a:spcPct val="130000"/>
              </a:lnSpc>
              <a:buNone/>
            </a:pPr>
            <a:r>
              <a:rPr lang="en-US" sz="2000" dirty="0">
                <a:solidFill>
                  <a:srgbClr val="00AEEF"/>
                </a:solidFill>
                <a:latin typeface="Arial" pitchFamily="34" charset="0"/>
                <a:ea typeface="Arial" pitchFamily="34" charset="-122"/>
                <a:cs typeface="Arial" pitchFamily="34" charset="-120"/>
              </a:rPr>
              <a:t>I'm asking you to help</a:t>
            </a:r>
            <a:endParaRPr lang="en-US" sz="2000" dirty="0"/>
          </a:p>
          <a:p>
            <a:pPr marL="0" indent="0">
              <a:lnSpc>
                <a:spcPct val="130000"/>
              </a:lnSpc>
              <a:buNone/>
            </a:pPr>
            <a:r>
              <a:rPr lang="en-US" sz="2000" dirty="0">
                <a:solidFill>
                  <a:srgbClr val="00AEEF"/>
                </a:solidFill>
                <a:latin typeface="Arial" pitchFamily="34" charset="0"/>
                <a:ea typeface="Arial" pitchFamily="34" charset="-122"/>
                <a:cs typeface="Arial" pitchFamily="34" charset="-120"/>
              </a:rPr>
              <a:t>build what comes next.</a:t>
            </a:r>
            <a:endParaRPr lang="en-US" sz="2000" dirty="0"/>
          </a:p>
        </p:txBody>
      </p:sp>
      <p:sp>
        <p:nvSpPr>
          <p:cNvPr id="7" name="Text 5"/>
          <p:cNvSpPr/>
          <p:nvPr/>
        </p:nvSpPr>
        <p:spPr>
          <a:xfrm>
            <a:off x="502920" y="3703320"/>
            <a:ext cx="4069080" cy="594360"/>
          </a:xfrm>
          <a:prstGeom prst="rect">
            <a:avLst/>
          </a:prstGeom>
          <a:noFill/>
          <a:ln/>
        </p:spPr>
        <p:txBody>
          <a:bodyPr wrap="square" lIns="0" tIns="0" rIns="0" bIns="0" rtlCol="0" anchor="ctr"/>
          <a:lstStyle/>
          <a:p>
            <a:pPr marL="0" indent="0">
              <a:lnSpc>
                <a:spcPct val="150000"/>
              </a:lnSpc>
              <a:buNone/>
            </a:pPr>
            <a:r>
              <a:rPr lang="en-US" sz="950" dirty="0">
                <a:solidFill>
                  <a:srgbClr val="6678A0"/>
                </a:solidFill>
                <a:latin typeface="Arial" pitchFamily="34" charset="0"/>
                <a:ea typeface="Arial" pitchFamily="34" charset="-122"/>
                <a:cs typeface="Arial" pitchFamily="34" charset="-120"/>
              </a:rPr>
              <a:t>Jon Eustace  ·  CEO North America</a:t>
            </a:r>
            <a:endParaRPr lang="en-US" sz="950" dirty="0"/>
          </a:p>
          <a:p>
            <a:pPr marL="0" indent="0">
              <a:lnSpc>
                <a:spcPct val="150000"/>
              </a:lnSpc>
              <a:buNone/>
            </a:pPr>
            <a:r>
              <a:rPr lang="en-US" sz="950" dirty="0">
                <a:solidFill>
                  <a:srgbClr val="6678A0"/>
                </a:solidFill>
                <a:latin typeface="Arial" pitchFamily="34" charset="0"/>
                <a:ea typeface="Arial" pitchFamily="34" charset="-122"/>
                <a:cs typeface="Arial" pitchFamily="34" charset="-120"/>
              </a:rPr>
              <a:t>Ekoscan Integrity Group  ·  April 2026</a:t>
            </a:r>
            <a:endParaRPr lang="en-US" sz="950" dirty="0"/>
          </a:p>
        </p:txBody>
      </p:sp>
      <p:sp>
        <p:nvSpPr>
          <p:cNvPr id="8" name="Text 6"/>
          <p:cNvSpPr/>
          <p:nvPr/>
        </p:nvSpPr>
        <p:spPr>
          <a:xfrm>
            <a:off x="5029200" y="777240"/>
            <a:ext cx="3840480" cy="82296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$92.8M</a:t>
            </a:r>
            <a:endParaRPr lang="en-US" sz="3800" dirty="0"/>
          </a:p>
        </p:txBody>
      </p:sp>
      <p:sp>
        <p:nvSpPr>
          <p:cNvPr id="9" name="Text 7"/>
          <p:cNvSpPr/>
          <p:nvPr/>
        </p:nvSpPr>
        <p:spPr>
          <a:xfrm>
            <a:off x="5029200" y="1581912"/>
            <a:ext cx="3840480" cy="320040"/>
          </a:xfrm>
          <a:prstGeom prst="rect">
            <a:avLst/>
          </a:prstGeom>
          <a:noFill/>
          <a:ln/>
        </p:spPr>
        <p:txBody>
          <a:bodyPr wrap="square" lIns="0" tIns="0" rIns="0" bIns="0" rtlCol="0" anchor="ctr"/>
          <a:lstStyle/>
          <a:p>
            <a:pPr marL="0" indent="0">
              <a:buNone/>
            </a:pPr>
            <a:r>
              <a:rPr lang="en-US" sz="1000" dirty="0">
                <a:solidFill>
                  <a:srgbClr val="6678A0"/>
                </a:solidFill>
                <a:latin typeface="Arial" pitchFamily="34" charset="0"/>
                <a:ea typeface="Arial" pitchFamily="34" charset="-122"/>
                <a:cs typeface="Arial" pitchFamily="34" charset="-120"/>
              </a:rPr>
              <a:t>2030 total revenue target</a:t>
            </a:r>
            <a:endParaRPr lang="en-US" sz="1000" dirty="0"/>
          </a:p>
        </p:txBody>
      </p:sp>
      <p:sp>
        <p:nvSpPr>
          <p:cNvPr id="10" name="Shape 8"/>
          <p:cNvSpPr/>
          <p:nvPr/>
        </p:nvSpPr>
        <p:spPr>
          <a:xfrm>
            <a:off x="5029200" y="2011680"/>
            <a:ext cx="3657600" cy="0"/>
          </a:xfrm>
          <a:prstGeom prst="line">
            <a:avLst/>
          </a:prstGeom>
          <a:noFill/>
          <a:ln w="9525">
            <a:solidFill>
              <a:srgbClr val="2D4A7A"/>
            </a:solidFill>
            <a:prstDash val="solid"/>
          </a:ln>
        </p:spPr>
        <p:txBody>
          <a:bodyPr/>
          <a:lstStyle/>
          <a:p>
            <a:endParaRPr lang="en-CA"/>
          </a:p>
        </p:txBody>
      </p:sp>
      <p:sp>
        <p:nvSpPr>
          <p:cNvPr id="11" name="Text 9"/>
          <p:cNvSpPr/>
          <p:nvPr/>
        </p:nvSpPr>
        <p:spPr>
          <a:xfrm>
            <a:off x="5029200" y="2194560"/>
            <a:ext cx="3840480" cy="82296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5</a:t>
            </a:r>
            <a:endParaRPr lang="en-US" sz="3800" dirty="0"/>
          </a:p>
        </p:txBody>
      </p:sp>
      <p:sp>
        <p:nvSpPr>
          <p:cNvPr id="12" name="Text 10"/>
          <p:cNvSpPr/>
          <p:nvPr/>
        </p:nvSpPr>
        <p:spPr>
          <a:xfrm>
            <a:off x="5029200" y="2999232"/>
            <a:ext cx="3840480" cy="320040"/>
          </a:xfrm>
          <a:prstGeom prst="rect">
            <a:avLst/>
          </a:prstGeom>
          <a:noFill/>
          <a:ln/>
        </p:spPr>
        <p:txBody>
          <a:bodyPr wrap="square" lIns="0" tIns="0" rIns="0" bIns="0" rtlCol="0" anchor="ctr"/>
          <a:lstStyle/>
          <a:p>
            <a:pPr marL="0" indent="0">
              <a:buNone/>
            </a:pPr>
            <a:r>
              <a:rPr lang="en-US" sz="1000" dirty="0">
                <a:solidFill>
                  <a:srgbClr val="6678A0"/>
                </a:solidFill>
                <a:latin typeface="Arial" pitchFamily="34" charset="0"/>
                <a:ea typeface="Arial" pitchFamily="34" charset="-122"/>
                <a:cs typeface="Arial" pitchFamily="34" charset="-120"/>
              </a:rPr>
              <a:t>growth initiatives, all backed by EIG</a:t>
            </a:r>
            <a:endParaRPr lang="en-US" sz="1000" dirty="0"/>
          </a:p>
        </p:txBody>
      </p:sp>
      <p:sp>
        <p:nvSpPr>
          <p:cNvPr id="13" name="Shape 11"/>
          <p:cNvSpPr/>
          <p:nvPr/>
        </p:nvSpPr>
        <p:spPr>
          <a:xfrm>
            <a:off x="5029200" y="3429000"/>
            <a:ext cx="3657600" cy="0"/>
          </a:xfrm>
          <a:prstGeom prst="line">
            <a:avLst/>
          </a:prstGeom>
          <a:noFill/>
          <a:ln w="9525">
            <a:solidFill>
              <a:srgbClr val="2D4A7A"/>
            </a:solidFill>
            <a:prstDash val="solid"/>
          </a:ln>
        </p:spPr>
        <p:txBody>
          <a:bodyPr/>
          <a:lstStyle/>
          <a:p>
            <a:endParaRPr lang="en-CA"/>
          </a:p>
        </p:txBody>
      </p:sp>
      <p:sp>
        <p:nvSpPr>
          <p:cNvPr id="14" name="Text 12"/>
          <p:cNvSpPr/>
          <p:nvPr/>
        </p:nvSpPr>
        <p:spPr>
          <a:xfrm>
            <a:off x="5029200" y="3611880"/>
            <a:ext cx="3840480" cy="82296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2</a:t>
            </a:r>
            <a:endParaRPr lang="en-US" sz="3800" dirty="0"/>
          </a:p>
        </p:txBody>
      </p:sp>
      <p:sp>
        <p:nvSpPr>
          <p:cNvPr id="15" name="Text 13"/>
          <p:cNvSpPr/>
          <p:nvPr/>
        </p:nvSpPr>
        <p:spPr>
          <a:xfrm>
            <a:off x="5029200" y="4416552"/>
            <a:ext cx="3840480" cy="320040"/>
          </a:xfrm>
          <a:prstGeom prst="rect">
            <a:avLst/>
          </a:prstGeom>
          <a:noFill/>
          <a:ln/>
        </p:spPr>
        <p:txBody>
          <a:bodyPr wrap="square" lIns="0" tIns="0" rIns="0" bIns="0" rtlCol="0" anchor="ctr"/>
          <a:lstStyle/>
          <a:p>
            <a:pPr marL="0" indent="0">
              <a:buNone/>
            </a:pPr>
            <a:r>
              <a:rPr lang="en-US" sz="1000" dirty="0">
                <a:solidFill>
                  <a:srgbClr val="6678A0"/>
                </a:solidFill>
                <a:latin typeface="Arial" pitchFamily="34" charset="0"/>
                <a:ea typeface="Arial" pitchFamily="34" charset="-122"/>
                <a:cs typeface="Arial" pitchFamily="34" charset="-120"/>
              </a:rPr>
              <a:t>things that change for most of you</a:t>
            </a:r>
            <a:endParaRPr lang="en-US" sz="1000" dirty="0"/>
          </a:p>
        </p:txBody>
      </p:sp>
      <p:sp>
        <p:nvSpPr>
          <p:cNvPr id="16" name="Shape 14"/>
          <p:cNvSpPr/>
          <p:nvPr/>
        </p:nvSpPr>
        <p:spPr>
          <a:xfrm>
            <a:off x="0" y="4800600"/>
            <a:ext cx="9144000" cy="342900"/>
          </a:xfrm>
          <a:prstGeom prst="rect">
            <a:avLst/>
          </a:prstGeom>
          <a:solidFill>
            <a:srgbClr val="060E2A"/>
          </a:solidFill>
          <a:ln w="12700">
            <a:solidFill>
              <a:srgbClr val="060E2A"/>
            </a:solidFill>
            <a:prstDash val="solid"/>
          </a:ln>
        </p:spPr>
        <p:txBody>
          <a:bodyPr/>
          <a:lstStyle/>
          <a:p>
            <a:endParaRPr lang="en-CA"/>
          </a:p>
        </p:txBody>
      </p:sp>
      <p:sp>
        <p:nvSpPr>
          <p:cNvPr id="17" name="Text 15"/>
          <p:cNvSpPr/>
          <p:nvPr/>
        </p:nvSpPr>
        <p:spPr>
          <a:xfrm>
            <a:off x="365760" y="4828032"/>
            <a:ext cx="8412480" cy="256032"/>
          </a:xfrm>
          <a:prstGeom prst="rect">
            <a:avLst/>
          </a:prstGeom>
          <a:noFill/>
          <a:ln/>
        </p:spPr>
        <p:txBody>
          <a:bodyPr wrap="square" lIns="0" tIns="0" rIns="0" bIns="0" rtlCol="0" anchor="ctr"/>
          <a:lstStyle/>
          <a:p>
            <a:pPr marL="0" indent="0">
              <a:buNone/>
            </a:pPr>
            <a:r>
              <a:rPr lang="en-US" sz="800" dirty="0">
                <a:solidFill>
                  <a:srgbClr val="6678A0"/>
                </a:solidFill>
                <a:latin typeface="Arial" pitchFamily="34" charset="0"/>
                <a:ea typeface="Arial" pitchFamily="34" charset="-122"/>
                <a:cs typeface="Arial" pitchFamily="34" charset="-120"/>
              </a:rPr>
              <a:t>Ekoscan Integrity Group  ·  BU Services  ·  Nucleom  ·  Nortech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1214</Words>
  <Application>Microsoft Office PowerPoint</Application>
  <PresentationFormat>On-screen Show (16:9)</PresentationFormat>
  <Paragraphs>177</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 Services — Team Rollout</dc:title>
  <dc:subject>PptxGenJS Presentation</dc:subject>
  <dc:creator>Jon Eustace</dc:creator>
  <cp:lastModifiedBy>Jon EUSTACE</cp:lastModifiedBy>
  <cp:revision>2</cp:revision>
  <dcterms:created xsi:type="dcterms:W3CDTF">2026-04-20T00:20:24Z</dcterms:created>
  <dcterms:modified xsi:type="dcterms:W3CDTF">2026-04-20T00:26:40Z</dcterms:modified>
</cp:coreProperties>
</file>