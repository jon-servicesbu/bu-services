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10"/>
  </p:normalViewPr>
  <p:slideViewPr>
    <p:cSldViewPr snapToGrid="0" snapToObjects="1">
      <p:cViewPr>
        <p:scale>
          <a:sx n="153" d="100"/>
          <a:sy n="153" d="100"/>
        </p:scale>
        <p:origin x="168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798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6.png"/><Relationship Id="rId8" Type="http://schemas.openxmlformats.org/officeDocument/2006/relationships/image" Target="../media/image5.png"/><Relationship Id="rId9" Type="http://schemas.openxmlformats.org/officeDocument/2006/relationships/image" Target="../media/image18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5212080" y="0"/>
            <a:ext cx="393192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212080" y="749808"/>
            <a:ext cx="393192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212080" y="1499616"/>
            <a:ext cx="393192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5212080" y="2249424"/>
            <a:ext cx="393192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5212080" y="2999232"/>
            <a:ext cx="393192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5212080" y="3749040"/>
            <a:ext cx="393192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212080" y="4498848"/>
            <a:ext cx="393192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5961888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711696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7461504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8211312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84048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EKOSCAN INTEGRITY GROUP  ·  BU SERVICES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" y="7772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We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Next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84048" y="22402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Seven phases of commercial intelligence.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" y="26334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BF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completing live connections to predictive revenue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BF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forecasting — a system that gets smarter every month.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3401568"/>
            <a:ext cx="2560320" cy="0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384048" y="3566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 Eustace, CEO North America  ·  April 2026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40680" y="347472"/>
            <a:ext cx="3429000" cy="530352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577840" y="4754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1  ·  Complete Connections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40680" y="1024128"/>
            <a:ext cx="3429000" cy="530352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577840" y="11521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2  ·  Account Intelligence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40680" y="1700784"/>
            <a:ext cx="3429000" cy="5303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577840" y="1828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3  ·  People &amp; Capacity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40680" y="2377440"/>
            <a:ext cx="3429000" cy="530352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5577840" y="25054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4  ·  Win Rate Intelligence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40680" y="3054096"/>
            <a:ext cx="3429000" cy="530352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5577840" y="31821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5  ·  Client Portal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40680" y="3730752"/>
            <a:ext cx="3429000" cy="530352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5577840" y="38587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6  ·  Group Consolidation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40680" y="4407408"/>
            <a:ext cx="3429000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5577840" y="45354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7  ·  Predictive Intelligence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Seven Phases — Live Data to Predictive Intelligence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208483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01168" y="1115568"/>
            <a:ext cx="2084832" cy="457200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207008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00784" y="1179576"/>
            <a:ext cx="512064" cy="219456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1700784" y="119786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Now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7432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54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74320" y="18105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Complete Connections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4320" y="216712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Salesforce, Business Central, SP Lists, deck scheduling. The foundation everything builds on.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414016" y="1115568"/>
            <a:ext cx="208483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2"/>
          <p:cNvSpPr/>
          <p:nvPr/>
        </p:nvSpPr>
        <p:spPr>
          <a:xfrm>
            <a:off x="2414016" y="1115568"/>
            <a:ext cx="2084832" cy="457200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56" y="1207008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913632" y="1179576"/>
            <a:ext cx="512064" cy="219456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4"/>
          <p:cNvSpPr/>
          <p:nvPr/>
        </p:nvSpPr>
        <p:spPr>
          <a:xfrm>
            <a:off x="3913632" y="119786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1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2487168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CA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2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487168" y="18105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Account Intelligence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2487168" y="216712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accounts dashboard, account health scores, new logo tracker. Know who your best clients are.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4626864" y="1115568"/>
            <a:ext cx="208483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19"/>
          <p:cNvSpPr/>
          <p:nvPr/>
        </p:nvSpPr>
        <p:spPr>
          <a:xfrm>
            <a:off x="4626864" y="1115568"/>
            <a:ext cx="2084832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1207008"/>
            <a:ext cx="256032" cy="25603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126480" y="1179576"/>
            <a:ext cx="512064" cy="219456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1"/>
          <p:cNvSpPr/>
          <p:nvPr/>
        </p:nvSpPr>
        <p:spPr>
          <a:xfrm>
            <a:off x="6126480" y="119786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2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4700016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28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3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700016" y="18105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People &amp; Capacity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700016" y="216712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People &amp; Capacity Dashboard — BUILT. Overhead %, cumulative utilization, vacation liability, 126-employee roster. BC People PA flow (P6/P7/P8) guide ready to connect.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6839712" y="1115568"/>
            <a:ext cx="208483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Shape 26"/>
          <p:cNvSpPr/>
          <p:nvPr/>
        </p:nvSpPr>
        <p:spPr>
          <a:xfrm>
            <a:off x="6839712" y="1115568"/>
            <a:ext cx="2084832" cy="45720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1207008"/>
            <a:ext cx="256032" cy="25603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8339328" y="1179576"/>
            <a:ext cx="512064" cy="219456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28"/>
          <p:cNvSpPr/>
          <p:nvPr/>
        </p:nvSpPr>
        <p:spPr>
          <a:xfrm>
            <a:off x="8339328" y="119786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3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6912864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4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6912864" y="18105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Win Rate Intelligence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6912864" y="216712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Proposal conversion, deal velocity, pipeline health. Know what is working and what is stalling.</a:t>
            </a:r>
            <a:endParaRPr lang="en-US" sz="750" dirty="0"/>
          </a:p>
        </p:txBody>
      </p:sp>
      <p:sp>
        <p:nvSpPr>
          <p:cNvPr id="38" name="Shape 32"/>
          <p:cNvSpPr/>
          <p:nvPr/>
        </p:nvSpPr>
        <p:spPr>
          <a:xfrm>
            <a:off x="841248" y="3149795"/>
            <a:ext cx="208483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9" name="Shape 33"/>
          <p:cNvSpPr/>
          <p:nvPr/>
        </p:nvSpPr>
        <p:spPr>
          <a:xfrm>
            <a:off x="841248" y="3149795"/>
            <a:ext cx="2084832" cy="45720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3241235"/>
            <a:ext cx="256032" cy="256032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2340864" y="3213803"/>
            <a:ext cx="512064" cy="219456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35"/>
          <p:cNvSpPr/>
          <p:nvPr/>
        </p:nvSpPr>
        <p:spPr>
          <a:xfrm>
            <a:off x="2340864" y="3232091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4</a:t>
            </a:r>
            <a:endParaRPr lang="en-US" sz="750" dirty="0"/>
          </a:p>
        </p:txBody>
      </p:sp>
      <p:sp>
        <p:nvSpPr>
          <p:cNvPr id="43" name="Text 36"/>
          <p:cNvSpPr/>
          <p:nvPr/>
        </p:nvSpPr>
        <p:spPr>
          <a:xfrm>
            <a:off x="914400" y="3671003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505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5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914400" y="3844739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 Portal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914400" y="4201355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Read-only client-facing view of inspection history, scheduled work, open recommendations.</a:t>
            </a:r>
            <a:endParaRPr lang="en-US" sz="750" dirty="0"/>
          </a:p>
        </p:txBody>
      </p:sp>
      <p:sp>
        <p:nvSpPr>
          <p:cNvPr id="46" name="Shape 39"/>
          <p:cNvSpPr/>
          <p:nvPr/>
        </p:nvSpPr>
        <p:spPr>
          <a:xfrm>
            <a:off x="3493008" y="3149795"/>
            <a:ext cx="208483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7" name="Shape 40"/>
          <p:cNvSpPr/>
          <p:nvPr/>
        </p:nvSpPr>
        <p:spPr>
          <a:xfrm>
            <a:off x="3493008" y="3149795"/>
            <a:ext cx="2084832" cy="4572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4448" y="3241235"/>
            <a:ext cx="256032" cy="256032"/>
          </a:xfrm>
          <a:prstGeom prst="rect">
            <a:avLst/>
          </a:prstGeom>
        </p:spPr>
      </p:pic>
      <p:sp>
        <p:nvSpPr>
          <p:cNvPr id="49" name="Shape 41"/>
          <p:cNvSpPr/>
          <p:nvPr/>
        </p:nvSpPr>
        <p:spPr>
          <a:xfrm>
            <a:off x="4992624" y="3213803"/>
            <a:ext cx="512064" cy="219456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2"/>
          <p:cNvSpPr/>
          <p:nvPr/>
        </p:nvSpPr>
        <p:spPr>
          <a:xfrm>
            <a:off x="4992624" y="3232091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5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3566160" y="3671003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6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3566160" y="3844739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Group Consolidation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3566160" y="4201355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EIG/Eurazeo-level roll-up across all entities in EUR. Board reporting in one automated view.</a:t>
            </a:r>
            <a:endParaRPr lang="en-US" sz="750" dirty="0"/>
          </a:p>
        </p:txBody>
      </p:sp>
      <p:sp>
        <p:nvSpPr>
          <p:cNvPr id="54" name="Shape 46"/>
          <p:cNvSpPr/>
          <p:nvPr/>
        </p:nvSpPr>
        <p:spPr>
          <a:xfrm>
            <a:off x="6144768" y="3149795"/>
            <a:ext cx="208483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5" name="Shape 47"/>
          <p:cNvSpPr/>
          <p:nvPr/>
        </p:nvSpPr>
        <p:spPr>
          <a:xfrm>
            <a:off x="6144768" y="3149795"/>
            <a:ext cx="208483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3241235"/>
            <a:ext cx="256032" cy="256032"/>
          </a:xfrm>
          <a:prstGeom prst="rect">
            <a:avLst/>
          </a:prstGeom>
        </p:spPr>
      </p:pic>
      <p:sp>
        <p:nvSpPr>
          <p:cNvPr id="57" name="Shape 48"/>
          <p:cNvSpPr/>
          <p:nvPr/>
        </p:nvSpPr>
        <p:spPr>
          <a:xfrm>
            <a:off x="7644384" y="3213803"/>
            <a:ext cx="512064" cy="219456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Text 49"/>
          <p:cNvSpPr/>
          <p:nvPr/>
        </p:nvSpPr>
        <p:spPr>
          <a:xfrm>
            <a:off x="7644384" y="3232091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6+</a:t>
            </a:r>
            <a:endParaRPr lang="en-US" sz="750" dirty="0"/>
          </a:p>
        </p:txBody>
      </p:sp>
      <p:sp>
        <p:nvSpPr>
          <p:cNvPr id="59" name="Text 50"/>
          <p:cNvSpPr/>
          <p:nvPr/>
        </p:nvSpPr>
        <p:spPr>
          <a:xfrm>
            <a:off x="6217920" y="3671003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7</a:t>
            </a:r>
            <a:endParaRPr lang="en-US" sz="800" dirty="0"/>
          </a:p>
        </p:txBody>
      </p:sp>
      <p:sp>
        <p:nvSpPr>
          <p:cNvPr id="60" name="Text 51"/>
          <p:cNvSpPr/>
          <p:nvPr/>
        </p:nvSpPr>
        <p:spPr>
          <a:xfrm>
            <a:off x="6217920" y="3844739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Predictive Intelligence</a:t>
            </a:r>
            <a:endParaRPr lang="en-US" sz="1050" dirty="0"/>
          </a:p>
        </p:txBody>
      </p:sp>
      <p:sp>
        <p:nvSpPr>
          <p:cNvPr id="61" name="Text 52"/>
          <p:cNvSpPr/>
          <p:nvPr/>
        </p:nvSpPr>
        <p:spPr>
          <a:xfrm>
            <a:off x="6217920" y="4201355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forecast, utilisation forecast, at-risk client detection. The system predicts the future.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ADD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1  ·  DO THIS NOW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Nortech Field Operations — COMPLETE &amp; LIVE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1664208" cy="3685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01168" y="1115568"/>
            <a:ext cx="1664208" cy="457200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79576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07008" y="1197864"/>
            <a:ext cx="566928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1207008" y="120700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✅ NORTECH OPS LIVE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274320" y="162763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4320" y="18562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Éric · ~3 hrs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74320" y="2084832"/>
            <a:ext cx="1517904" cy="0"/>
          </a:xfrm>
          <a:prstGeom prst="line">
            <a:avLst/>
          </a:prstGeom>
          <a:noFill/>
          <a:ln w="6350">
            <a:solidFill>
              <a:srgbClr val="E2EA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194560"/>
            <a:ext cx="155448" cy="1554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" y="217627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BU_Initiative__c picklist field</a:t>
            </a:r>
            <a:endParaRPr lang="en-US" sz="7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578608"/>
            <a:ext cx="155448" cy="155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" y="25603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 Region field API name + values</a:t>
            </a:r>
            <a:endParaRPr lang="en-US" sz="7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62656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5488" y="294436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Sunday PA flow (17 SF queries)</a:t>
            </a:r>
            <a:endParaRPr lang="en-US" sz="7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346704"/>
            <a:ext cx="155448" cy="1554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5488" y="33284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team backfills 2026 deals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1965960" y="1115568"/>
            <a:ext cx="1664208" cy="3685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16"/>
          <p:cNvSpPr/>
          <p:nvPr/>
        </p:nvSpPr>
        <p:spPr>
          <a:xfrm>
            <a:off x="1965960" y="1115568"/>
            <a:ext cx="1664208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1179576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2971800" y="1197864"/>
            <a:ext cx="566928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18"/>
          <p:cNvSpPr/>
          <p:nvPr/>
        </p:nvSpPr>
        <p:spPr>
          <a:xfrm>
            <a:off x="2971800" y="120700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✅ NORTECH OPS LIVE</a:t>
            </a:r>
            <a:endParaRPr lang="en-US" sz="650" dirty="0"/>
          </a:p>
        </p:txBody>
      </p:sp>
      <p:sp>
        <p:nvSpPr>
          <p:cNvPr id="27" name="Text 19"/>
          <p:cNvSpPr/>
          <p:nvPr/>
        </p:nvSpPr>
        <p:spPr>
          <a:xfrm>
            <a:off x="2039112" y="162763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Central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2039112" y="18562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Éric + Mathieu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2039112" y="2084832"/>
            <a:ext cx="1517904" cy="0"/>
          </a:xfrm>
          <a:prstGeom prst="line">
            <a:avLst/>
          </a:prstGeom>
          <a:noFill/>
          <a:ln w="6350">
            <a:solidFill>
              <a:srgbClr val="E2EA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112" y="2194560"/>
            <a:ext cx="155448" cy="1554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240280" y="217627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Mathieu: complete Q&amp;A Workbook (30 min)</a:t>
            </a:r>
            <a:endParaRPr lang="en-US" sz="7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112" y="2578608"/>
            <a:ext cx="155448" cy="15544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240280" y="25603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D365 BC connector in PA flow</a:t>
            </a:r>
            <a:endParaRPr lang="en-US" sz="75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112" y="2962656"/>
            <a:ext cx="155448" cy="15544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2240280" y="294436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Monthly KPI fields auto-populate</a:t>
            </a:r>
            <a:endParaRPr lang="en-US" sz="7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112" y="3346704"/>
            <a:ext cx="155448" cy="15544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2240280" y="33284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min interim manual entry while building</a:t>
            </a:r>
            <a:endParaRPr lang="en-US" sz="750" dirty="0"/>
          </a:p>
        </p:txBody>
      </p:sp>
      <p:sp>
        <p:nvSpPr>
          <p:cNvPr id="38" name="Shape 26"/>
          <p:cNvSpPr/>
          <p:nvPr/>
        </p:nvSpPr>
        <p:spPr>
          <a:xfrm>
            <a:off x="3730752" y="1115568"/>
            <a:ext cx="1664208" cy="3685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9" name="Shape 27"/>
          <p:cNvSpPr/>
          <p:nvPr/>
        </p:nvSpPr>
        <p:spPr>
          <a:xfrm>
            <a:off x="3730752" y="1115568"/>
            <a:ext cx="1664208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1179576"/>
            <a:ext cx="256032" cy="256032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4736592" y="1197864"/>
            <a:ext cx="566928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29"/>
          <p:cNvSpPr/>
          <p:nvPr/>
        </p:nvSpPr>
        <p:spPr>
          <a:xfrm>
            <a:off x="4736592" y="120700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✅ NORTECH OPS LIVE</a:t>
            </a:r>
            <a:endParaRPr lang="en-US" sz="650" dirty="0"/>
          </a:p>
        </p:txBody>
      </p:sp>
      <p:sp>
        <p:nvSpPr>
          <p:cNvPr id="43" name="Text 30"/>
          <p:cNvSpPr/>
          <p:nvPr/>
        </p:nvSpPr>
        <p:spPr>
          <a:xfrm>
            <a:off x="3803904" y="162763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 Meeting Lists</a:t>
            </a:r>
            <a:endParaRPr lang="en-US" sz="1050" dirty="0"/>
          </a:p>
        </p:txBody>
      </p:sp>
      <p:sp>
        <p:nvSpPr>
          <p:cNvPr id="44" name="Text 31"/>
          <p:cNvSpPr/>
          <p:nvPr/>
        </p:nvSpPr>
        <p:spPr>
          <a:xfrm>
            <a:off x="3803904" y="18562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Éric · ~2 hrs</a:t>
            </a:r>
            <a:endParaRPr lang="en-US" sz="750" dirty="0"/>
          </a:p>
        </p:txBody>
      </p:sp>
      <p:sp>
        <p:nvSpPr>
          <p:cNvPr id="45" name="Shape 32"/>
          <p:cNvSpPr/>
          <p:nvPr/>
        </p:nvSpPr>
        <p:spPr>
          <a:xfrm>
            <a:off x="3803904" y="2084832"/>
            <a:ext cx="1517904" cy="0"/>
          </a:xfrm>
          <a:prstGeom prst="line">
            <a:avLst/>
          </a:prstGeom>
          <a:noFill/>
          <a:ln w="6350">
            <a:solidFill>
              <a:srgbClr val="E2EA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194560"/>
            <a:ext cx="155448" cy="15544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4005072" y="217627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Meeting Log + Actions SP lists</a:t>
            </a:r>
            <a:endParaRPr lang="en-US" sz="75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578608"/>
            <a:ext cx="155448" cy="155448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4005072" y="25603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OneNote meeting notebook</a:t>
            </a:r>
            <a:endParaRPr lang="en-US" sz="75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962656"/>
            <a:ext cx="155448" cy="155448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4005072" y="294436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 meeting health branch (7 series)</a:t>
            </a:r>
            <a:endParaRPr lang="en-US" sz="750" dirty="0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3346704"/>
            <a:ext cx="155448" cy="155448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4005072" y="33284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Meeting Health section live in CC</a:t>
            </a:r>
            <a:endParaRPr lang="en-US" sz="750" dirty="0"/>
          </a:p>
        </p:txBody>
      </p:sp>
      <p:sp>
        <p:nvSpPr>
          <p:cNvPr id="54" name="Shape 37"/>
          <p:cNvSpPr/>
          <p:nvPr/>
        </p:nvSpPr>
        <p:spPr>
          <a:xfrm>
            <a:off x="5495544" y="1115568"/>
            <a:ext cx="1664208" cy="3685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5" name="Shape 38"/>
          <p:cNvSpPr/>
          <p:nvPr/>
        </p:nvSpPr>
        <p:spPr>
          <a:xfrm>
            <a:off x="5495544" y="1115568"/>
            <a:ext cx="1664208" cy="45720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6984" y="1179576"/>
            <a:ext cx="256032" cy="256032"/>
          </a:xfrm>
          <a:prstGeom prst="rect">
            <a:avLst/>
          </a:prstGeom>
        </p:spPr>
      </p:pic>
      <p:sp>
        <p:nvSpPr>
          <p:cNvPr id="57" name="Shape 39"/>
          <p:cNvSpPr/>
          <p:nvPr/>
        </p:nvSpPr>
        <p:spPr>
          <a:xfrm>
            <a:off x="6501384" y="1197864"/>
            <a:ext cx="566928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Text 40"/>
          <p:cNvSpPr/>
          <p:nvPr/>
        </p:nvSpPr>
        <p:spPr>
          <a:xfrm>
            <a:off x="6501384" y="120700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✅ NORTECH OPS LIVE</a:t>
            </a:r>
            <a:endParaRPr lang="en-US" sz="650" dirty="0"/>
          </a:p>
        </p:txBody>
      </p:sp>
      <p:sp>
        <p:nvSpPr>
          <p:cNvPr id="59" name="Text 41"/>
          <p:cNvSpPr/>
          <p:nvPr/>
        </p:nvSpPr>
        <p:spPr>
          <a:xfrm>
            <a:off x="5568696" y="162763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Deck &amp; Conference</a:t>
            </a:r>
            <a:endParaRPr lang="en-US" sz="1050" dirty="0"/>
          </a:p>
        </p:txBody>
      </p:sp>
      <p:sp>
        <p:nvSpPr>
          <p:cNvPr id="60" name="Text 42"/>
          <p:cNvSpPr/>
          <p:nvPr/>
        </p:nvSpPr>
        <p:spPr>
          <a:xfrm>
            <a:off x="5568696" y="18562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Éric · 15 min + ~2.5 hrs</a:t>
            </a:r>
            <a:endParaRPr lang="en-US" sz="750" dirty="0"/>
          </a:p>
        </p:txBody>
      </p:sp>
      <p:sp>
        <p:nvSpPr>
          <p:cNvPr id="61" name="Shape 43"/>
          <p:cNvSpPr/>
          <p:nvPr/>
        </p:nvSpPr>
        <p:spPr>
          <a:xfrm>
            <a:off x="5568696" y="2084832"/>
            <a:ext cx="1517904" cy="0"/>
          </a:xfrm>
          <a:prstGeom prst="line">
            <a:avLst/>
          </a:prstGeom>
          <a:noFill/>
          <a:ln w="6350">
            <a:solidFill>
              <a:srgbClr val="E2EA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2194560"/>
            <a:ext cx="155448" cy="155448"/>
          </a:xfrm>
          <a:prstGeom prst="rect">
            <a:avLst/>
          </a:prstGeom>
        </p:spPr>
      </p:pic>
      <p:sp>
        <p:nvSpPr>
          <p:cNvPr id="63" name="Text 44"/>
          <p:cNvSpPr/>
          <p:nvPr/>
        </p:nvSpPr>
        <p:spPr>
          <a:xfrm>
            <a:off x="5769864" y="217627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Conference Cost PA flow (Step 2b)</a:t>
            </a:r>
            <a:endParaRPr lang="en-US" sz="750" dirty="0"/>
          </a:p>
        </p:txBody>
      </p:sp>
      <p:pic>
        <p:nvPicPr>
          <p:cNvPr id="64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2578608"/>
            <a:ext cx="155448" cy="155448"/>
          </a:xfrm>
          <a:prstGeom prst="rect">
            <a:avLst/>
          </a:prstGeom>
        </p:spPr>
      </p:pic>
      <p:sp>
        <p:nvSpPr>
          <p:cNvPr id="65" name="Text 45"/>
          <p:cNvSpPr/>
          <p:nvPr/>
        </p:nvSpPr>
        <p:spPr>
          <a:xfrm>
            <a:off x="5769864" y="25603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Excel Year Cal. → actuals.json</a:t>
            </a:r>
            <a:endParaRPr lang="en-US" sz="750" dirty="0"/>
          </a:p>
        </p:txBody>
      </p:sp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2962656"/>
            <a:ext cx="155448" cy="155448"/>
          </a:xfrm>
          <a:prstGeom prst="rect">
            <a:avLst/>
          </a:prstGeom>
        </p:spPr>
      </p:pic>
      <p:sp>
        <p:nvSpPr>
          <p:cNvPr id="67" name="Text 46"/>
          <p:cNvSpPr/>
          <p:nvPr/>
        </p:nvSpPr>
        <p:spPr>
          <a:xfrm>
            <a:off x="5769864" y="294436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Schedule deck generation script</a:t>
            </a:r>
            <a:endParaRPr lang="en-US" sz="750" dirty="0"/>
          </a:p>
        </p:txBody>
      </p:sp>
      <p:pic>
        <p:nvPicPr>
          <p:cNvPr id="68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3346704"/>
            <a:ext cx="155448" cy="155448"/>
          </a:xfrm>
          <a:prstGeom prst="rect">
            <a:avLst/>
          </a:prstGeom>
        </p:spPr>
      </p:pic>
      <p:sp>
        <p:nvSpPr>
          <p:cNvPr id="69" name="Text 47"/>
          <p:cNvSpPr/>
          <p:nvPr/>
        </p:nvSpPr>
        <p:spPr>
          <a:xfrm>
            <a:off x="5769864" y="33284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Conf. ROI live in Command Centre</a:t>
            </a:r>
            <a:endParaRPr lang="en-US" sz="750" dirty="0"/>
          </a:p>
        </p:txBody>
      </p:sp>
      <p:sp>
        <p:nvSpPr>
          <p:cNvPr id="70" name="Shape 48"/>
          <p:cNvSpPr/>
          <p:nvPr/>
        </p:nvSpPr>
        <p:spPr>
          <a:xfrm>
            <a:off x="7260336" y="1115568"/>
            <a:ext cx="1664208" cy="3685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1" name="Shape 49"/>
          <p:cNvSpPr/>
          <p:nvPr/>
        </p:nvSpPr>
        <p:spPr>
          <a:xfrm>
            <a:off x="7260336" y="1115568"/>
            <a:ext cx="1664208" cy="45720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1776" y="1179576"/>
            <a:ext cx="256032" cy="256032"/>
          </a:xfrm>
          <a:prstGeom prst="rect">
            <a:avLst/>
          </a:prstGeom>
        </p:spPr>
      </p:pic>
      <p:sp>
        <p:nvSpPr>
          <p:cNvPr id="73" name="Shape 50"/>
          <p:cNvSpPr/>
          <p:nvPr/>
        </p:nvSpPr>
        <p:spPr>
          <a:xfrm>
            <a:off x="8266176" y="1197864"/>
            <a:ext cx="566928" cy="20116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4" name="Text 51"/>
          <p:cNvSpPr/>
          <p:nvPr/>
        </p:nvSpPr>
        <p:spPr>
          <a:xfrm>
            <a:off x="8266176" y="120700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READY</a:t>
            </a:r>
            <a:endParaRPr lang="en-US" sz="650" dirty="0"/>
          </a:p>
        </p:txBody>
      </p:sp>
      <p:sp>
        <p:nvSpPr>
          <p:cNvPr id="75" name="Text 52"/>
          <p:cNvSpPr/>
          <p:nvPr/>
        </p:nvSpPr>
        <p:spPr>
          <a:xfrm>
            <a:off x="7333488" y="162763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Manual Data Entry</a:t>
            </a:r>
            <a:endParaRPr lang="en-US" sz="1050" dirty="0"/>
          </a:p>
        </p:txBody>
      </p:sp>
      <p:sp>
        <p:nvSpPr>
          <p:cNvPr id="76" name="Text 53"/>
          <p:cNvSpPr/>
          <p:nvPr/>
        </p:nvSpPr>
        <p:spPr>
          <a:xfrm>
            <a:off x="7333488" y="18562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 + Mathieu</a:t>
            </a:r>
            <a:endParaRPr lang="en-US" sz="750" dirty="0"/>
          </a:p>
        </p:txBody>
      </p:sp>
      <p:sp>
        <p:nvSpPr>
          <p:cNvPr id="77" name="Shape 54"/>
          <p:cNvSpPr/>
          <p:nvPr/>
        </p:nvSpPr>
        <p:spPr>
          <a:xfrm>
            <a:off x="7333488" y="2084832"/>
            <a:ext cx="1517904" cy="0"/>
          </a:xfrm>
          <a:prstGeom prst="line">
            <a:avLst/>
          </a:prstGeom>
          <a:noFill/>
          <a:ln w="6350">
            <a:solidFill>
              <a:srgbClr val="E2EA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8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2194560"/>
            <a:ext cx="155448" cy="155448"/>
          </a:xfrm>
          <a:prstGeom prst="rect">
            <a:avLst/>
          </a:prstGeom>
        </p:spPr>
      </p:pic>
      <p:sp>
        <p:nvSpPr>
          <p:cNvPr id="79" name="Text 55"/>
          <p:cNvSpPr/>
          <p:nvPr/>
        </p:nvSpPr>
        <p:spPr>
          <a:xfrm>
            <a:off x="7534656" y="217627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Upload all files to SharePoint (10 min) — includes Management Hub + People Dashboard + People Dashboard</a:t>
            </a:r>
            <a:endParaRPr lang="en-US" sz="750" dirty="0"/>
          </a:p>
          <a:p>
            <a:pPr marL="0" indent="0">
              <a:buNone/>
            </a:pPr>
            <a:r>
              <a:rPr lang="en-US" sz="800" dirty="0"/>
              <a:t>People &amp; Capacity Dashboard built — upload to SharePoint alongside Command Centre (P6/P7/P8 BC flow guide ready)</a:t>
            </a:r>
          </a:p>
        </p:txBody>
      </p:sp>
      <p:pic>
        <p:nvPicPr>
          <p:cNvPr id="80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2578608"/>
            <a:ext cx="155448" cy="155448"/>
          </a:xfrm>
          <a:prstGeom prst="rect">
            <a:avLst/>
          </a:prstGeom>
        </p:spPr>
      </p:pic>
      <p:sp>
        <p:nvSpPr>
          <p:cNvPr id="81" name="Text 56"/>
          <p:cNvSpPr/>
          <p:nvPr/>
        </p:nvSpPr>
        <p:spPr>
          <a:xfrm>
            <a:off x="7534656" y="25603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Enter budget figures + EUR rate (5 min)</a:t>
            </a:r>
            <a:endParaRPr lang="en-US" sz="750" dirty="0"/>
          </a:p>
        </p:txBody>
      </p:sp>
      <p:pic>
        <p:nvPicPr>
          <p:cNvPr id="82" name="Image 2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2962656"/>
            <a:ext cx="155448" cy="155448"/>
          </a:xfrm>
          <a:prstGeom prst="rect">
            <a:avLst/>
          </a:prstGeom>
        </p:spPr>
      </p:pic>
      <p:sp>
        <p:nvSpPr>
          <p:cNvPr id="83" name="Text 57"/>
          <p:cNvSpPr/>
          <p:nvPr/>
        </p:nvSpPr>
        <p:spPr>
          <a:xfrm>
            <a:off x="7534656" y="294436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Monthly: Nortech pipeline + cash</a:t>
            </a:r>
            <a:endParaRPr lang="en-US" sz="750" dirty="0"/>
          </a:p>
        </p:txBody>
      </p:sp>
      <p:pic>
        <p:nvPicPr>
          <p:cNvPr id="84" name="Image 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3346704"/>
            <a:ext cx="155448" cy="155448"/>
          </a:xfrm>
          <a:prstGeom prst="rect">
            <a:avLst/>
          </a:prstGeom>
        </p:spPr>
      </p:pic>
      <p:sp>
        <p:nvSpPr>
          <p:cNvPr id="85" name="Text 58"/>
          <p:cNvSpPr/>
          <p:nvPr/>
        </p:nvSpPr>
        <p:spPr>
          <a:xfrm>
            <a:off x="7534656" y="33284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EBITDA statuses as decisions made</a:t>
            </a:r>
            <a:endParaRPr lang="en-US" sz="750" dirty="0"/>
          </a:p>
        </p:txBody>
      </p:sp>
      <p:sp>
        <p:nvSpPr>
          <p:cNvPr id="86" name="Shape 59"/>
          <p:cNvSpPr/>
          <p:nvPr/>
        </p:nvSpPr>
        <p:spPr>
          <a:xfrm>
            <a:off x="201168" y="4828032"/>
            <a:ext cx="8741664" cy="237744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7" name="Text 60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Everything in Phases 2–7 depends on Phase 1 being complete  ·  Éric: ~13 hrs (incl. Step 2b + P6/P7/P8 BC People flow)  ·  Jon/Mathieu: ~15 min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ACC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2  ·  MONTH 1 AFTER GO-LIVE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Account Intelligence Layer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Phase 2 adds to the Command Centre: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892040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73152" cy="969264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329184" cy="329184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56362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1536192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Accounts Dashboard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32688" y="1828800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10 accounts by 2026 Closed Won. Each row shows YTD revenue, open pipeline value, last SF activity date, and initiative tag. Updated every Sunday automatically.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2560320"/>
            <a:ext cx="4892040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365760" y="2560320"/>
            <a:ext cx="73152" cy="969264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2"/>
          <p:cNvSpPr/>
          <p:nvPr/>
        </p:nvSpPr>
        <p:spPr>
          <a:xfrm>
            <a:off x="502920" y="2633472"/>
            <a:ext cx="329184" cy="329184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67919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32688" y="2651760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Account Health Score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32688" y="2944368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traffic light per account. Green: open opportunity + activity last 30 days. Amber: open opp but no recent activity. Red: no open opportunity this year. Alerts commercial owner when account goes red.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5760" y="3675888"/>
            <a:ext cx="4892040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6"/>
          <p:cNvSpPr/>
          <p:nvPr/>
        </p:nvSpPr>
        <p:spPr>
          <a:xfrm>
            <a:off x="365760" y="3675888"/>
            <a:ext cx="73152" cy="96926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7"/>
          <p:cNvSpPr/>
          <p:nvPr/>
        </p:nvSpPr>
        <p:spPr>
          <a:xfrm>
            <a:off x="502920" y="3749040"/>
            <a:ext cx="329184" cy="32918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794760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32688" y="3767328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 Logo Tracker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32688" y="4059936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Separates first-time Nucleom/Nortech clients from repeat business. Tracks new logos won per initiative per month. Feeds directly into Eurazeo market expansion reporting.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532120" y="1097280"/>
            <a:ext cx="3429000" cy="374904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  <a:effectLst>
            <a:outerShdw blurRad="177800" dist="635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1"/>
          <p:cNvSpPr/>
          <p:nvPr/>
        </p:nvSpPr>
        <p:spPr>
          <a:xfrm>
            <a:off x="5669280" y="12344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it's built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669280" y="1554480"/>
            <a:ext cx="3017520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3"/>
          <p:cNvSpPr/>
          <p:nvPr/>
        </p:nvSpPr>
        <p:spPr>
          <a:xfrm>
            <a:off x="5669280" y="1719072"/>
            <a:ext cx="29260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4"/>
          <p:cNvSpPr/>
          <p:nvPr/>
        </p:nvSpPr>
        <p:spPr>
          <a:xfrm>
            <a:off x="5669280" y="17373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053328" y="1719072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750" dirty="0">
                <a:solidFill>
                  <a:srgbClr val="E2EAF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SOQL: query top Accounts by Closed Won Amount this year — GROUP BY AccountId, SUM Amount, ORDER BY sum DESC LIMIT 10.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5669280" y="2468880"/>
            <a:ext cx="29260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7"/>
          <p:cNvSpPr/>
          <p:nvPr/>
        </p:nvSpPr>
        <p:spPr>
          <a:xfrm>
            <a:off x="5669280" y="248716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053328" y="246888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750" dirty="0">
                <a:solidFill>
                  <a:srgbClr val="E2EAF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 Sunday flow: add 3 new Get Records actions — TopAccounts, AccountLastActivity (30-day check), NewLogos (first-ever Closed Won).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5669280" y="3218688"/>
            <a:ext cx="29260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0"/>
          <p:cNvSpPr/>
          <p:nvPr/>
        </p:nvSpPr>
        <p:spPr>
          <a:xfrm>
            <a:off x="5669280" y="323697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6053328" y="3218688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750" dirty="0">
                <a:solidFill>
                  <a:srgbClr val="E2EAF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Write to actuals.json: top_accounts[] array (10 objects with name/won/pipeline/health), new_logos_count per initiative.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5669280" y="3968496"/>
            <a:ext cx="29260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3"/>
          <p:cNvSpPr/>
          <p:nvPr/>
        </p:nvSpPr>
        <p:spPr>
          <a:xfrm>
            <a:off x="5669280" y="39867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053328" y="3968496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750" dirty="0">
                <a:solidFill>
                  <a:srgbClr val="E2EAF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Top Accounts section to Command Centre HTML: sortable table, coloured health dots, click opens Salesforce record.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5669280" y="4663440"/>
            <a:ext cx="3154680" cy="164592"/>
          </a:xfrm>
          <a:prstGeom prst="rect">
            <a:avLst/>
          </a:prstGeom>
          <a:solidFill>
            <a:srgbClr val="00AEEF">
              <a:alpha val="78000"/>
            </a:srgbClr>
          </a:solidFill>
          <a:ln w="6350">
            <a:solidFill>
              <a:srgbClr val="00AE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6"/>
          <p:cNvSpPr/>
          <p:nvPr/>
        </p:nvSpPr>
        <p:spPr>
          <a:xfrm>
            <a:off x="5669280" y="46725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Prereq: Phase 1 Salesforce live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CAA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3  ·  MONTH 2 AFTER GO-LIVE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People &amp; Capacity Intelligence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20624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0700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" y="1207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Capacity vs Demand View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0712" y="1179576"/>
            <a:ext cx="1024128" cy="201168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3410712" y="119786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Command Centre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11480" y="1664208"/>
            <a:ext cx="40050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view of committed pipeline (crew days needed) vs available certified technicians per region. Flags regions where booked pipeline exceeds current capacity before it becomes a delivery problem.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54880" y="1115568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4754880" y="1115568"/>
            <a:ext cx="4206240" cy="457200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0700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75504" y="1207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CGSB Certification Tracker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845552" y="1179576"/>
            <a:ext cx="1024128" cy="201168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4"/>
          <p:cNvSpPr/>
          <p:nvPr/>
        </p:nvSpPr>
        <p:spPr>
          <a:xfrm>
            <a:off x="7845552" y="119786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 module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4846320" y="1664208"/>
            <a:ext cx="40050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Alert system for technician qualification expiry. 90-day warning per technician per cert type (CGSB UT2, UT3, PAUT etc.). Critical for Nuclear/OPG initiative eligibility — no cert, no contract.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2990088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7"/>
          <p:cNvSpPr/>
          <p:nvPr/>
        </p:nvSpPr>
        <p:spPr>
          <a:xfrm>
            <a:off x="320040" y="2990088"/>
            <a:ext cx="4206240" cy="45720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81528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0664" y="3081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People &amp; Capacity Dashboard — BUILT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410712" y="3054096"/>
            <a:ext cx="1024128" cy="201168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0"/>
          <p:cNvSpPr/>
          <p:nvPr/>
        </p:nvSpPr>
        <p:spPr>
          <a:xfrm>
            <a:off x="3410712" y="307238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Partially live</a:t>
            </a:r>
            <a:endParaRPr lang="en-US" sz="650" dirty="0"/>
          </a:p>
        </p:txBody>
      </p:sp>
      <p:sp>
        <p:nvSpPr>
          <p:cNvPr id="26" name="Text 21"/>
          <p:cNvSpPr/>
          <p:nvPr/>
        </p:nvSpPr>
        <p:spPr>
          <a:xfrm>
            <a:off x="411480" y="3538728"/>
            <a:ext cx="40050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 the existing 26-week Utilisation Tracker Excel to Business Central. Pull chargeable hours per technician automatically. Eliminate manual workbook entry — just review, don't enter.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754880" y="2990088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3"/>
          <p:cNvSpPr/>
          <p:nvPr/>
        </p:nvSpPr>
        <p:spPr>
          <a:xfrm>
            <a:off x="4754880" y="2990088"/>
            <a:ext cx="4206240" cy="45720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81528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175504" y="3081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Crew Deployment Map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845552" y="3054096"/>
            <a:ext cx="1024128" cy="201168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6"/>
          <p:cNvSpPr/>
          <p:nvPr/>
        </p:nvSpPr>
        <p:spPr>
          <a:xfrm>
            <a:off x="7845552" y="307238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1 dep.</a:t>
            </a:r>
            <a:endParaRPr lang="en-US" sz="650" dirty="0"/>
          </a:p>
        </p:txBody>
      </p:sp>
      <p:sp>
        <p:nvSpPr>
          <p:cNvPr id="33" name="Text 27"/>
          <p:cNvSpPr/>
          <p:nvPr/>
        </p:nvSpPr>
        <p:spPr>
          <a:xfrm>
            <a:off x="4846320" y="3538728"/>
            <a:ext cx="40050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 Phase 1 SF technician field is live 6 weeks: show which crews are assigned to active deals by region. Visualise deployment density to spot over- and under-utilised regions.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20040" y="4846320"/>
            <a:ext cx="8503920" cy="21945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29"/>
          <p:cNvSpPr/>
          <p:nvPr/>
        </p:nvSpPr>
        <p:spPr>
          <a:xfrm>
            <a:off x="457200" y="486460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DCC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People &amp; Capacity Dashboard: BUILT — deploy now. BC connection (P6/P7/P8): guide ready, Eric Rodrigue builds.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DD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4  ·  MONTH 3 AFTER GO-LIVE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Win Rate &amp; Pipeline Intelligence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65760" y="1060704"/>
            <a:ext cx="841248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02920" y="108813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4A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⚠  Phase 4 requires 2–3 months of clean Salesforce data before metrics are meaningful. Best started in Month 3.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81635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2816352" cy="402336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8191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656" y="15819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Proposal Conversion 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5760" y="2002536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Track how many quotes (Stage = Proposal Sent) convert to Closed Won by initiative and by region. Identify where the team is strongest and where deals die.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18688" y="1508760"/>
            <a:ext cx="281635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3218688" y="1508760"/>
            <a:ext cx="2816352" cy="402336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58191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21024" y="15819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Deal Velocity Tracker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310128" y="2002536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 days from Opportunity Created to Closed Won by initiative. Spot which initiatives have long sales cycles and adjust pipeline forecasting accordingly.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163056" y="1508760"/>
            <a:ext cx="281635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5"/>
          <p:cNvSpPr/>
          <p:nvPr/>
        </p:nvSpPr>
        <p:spPr>
          <a:xfrm>
            <a:off x="6163056" y="1508760"/>
            <a:ext cx="2816352" cy="402336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581912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65392" y="15819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 Deal Size Trends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254496" y="2002536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Monthly trend of average Closed Won value by initiative. Are Mining deals getting larger as the team matures? Is Pipeline DA holding up? Answers automatically.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274320" y="3172968"/>
            <a:ext cx="281635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19"/>
          <p:cNvSpPr/>
          <p:nvPr/>
        </p:nvSpPr>
        <p:spPr>
          <a:xfrm>
            <a:off x="274320" y="3172968"/>
            <a:ext cx="2816352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246120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" y="32461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Pipeline Health Score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365760" y="3666744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Composite score per initiative: weighted Commit + 50% Upside vs annual target. Green &gt;80%, Amber 50–79%, Red &lt;50%. Shown in Command Centre initiative cards.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3218688" y="3172968"/>
            <a:ext cx="281635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3"/>
          <p:cNvSpPr/>
          <p:nvPr/>
        </p:nvSpPr>
        <p:spPr>
          <a:xfrm>
            <a:off x="3218688" y="3172968"/>
            <a:ext cx="2816352" cy="402336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246120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21024" y="32461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Lost Deal Analysis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3310128" y="3666744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When Closed Lost is logged in the CRM, capture loss reason. Monthly summary of top reasons by initiative. Feeds directly into commercial team retrospectives.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6163056" y="3172968"/>
            <a:ext cx="281635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4" name="Shape 27"/>
          <p:cNvSpPr/>
          <p:nvPr/>
        </p:nvSpPr>
        <p:spPr>
          <a:xfrm>
            <a:off x="6163056" y="3172968"/>
            <a:ext cx="2816352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246120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65392" y="32461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QoQ Comparison (Deck Slide 3)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6254496" y="3666744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Currently manual narrative — Phase 4 makes the Q-on-Q comparison data-driven with % change and trend arrows calculated automatically from actuals.json.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91440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9144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AADD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5  ·  MONTH 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10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Client-Facing Portal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846320" y="73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AABB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6  ·  MONTH 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846320" y="310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EIG Group Consolidation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the client sees: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426464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65760" y="1426464"/>
            <a:ext cx="64008" cy="676656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502920" y="1499616"/>
            <a:ext cx="256032" cy="256032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527048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1508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Inspection history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1746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All completed work, dates, asset IDs and findings — read-only view from their SharePoint site.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" y="2231136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4"/>
          <p:cNvSpPr/>
          <p:nvPr/>
        </p:nvSpPr>
        <p:spPr>
          <a:xfrm>
            <a:off x="365760" y="2231136"/>
            <a:ext cx="64008" cy="676656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5"/>
          <p:cNvSpPr/>
          <p:nvPr/>
        </p:nvSpPr>
        <p:spPr>
          <a:xfrm>
            <a:off x="502920" y="2304288"/>
            <a:ext cx="256032" cy="256032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233172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68680" y="23134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Scheduled work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68680" y="25511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Upcoming inspection dates and crew assignments. No calls needed to confirm timing.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65760" y="3035808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19"/>
          <p:cNvSpPr/>
          <p:nvPr/>
        </p:nvSpPr>
        <p:spPr>
          <a:xfrm>
            <a:off x="365760" y="3035808"/>
            <a:ext cx="64008" cy="676656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0"/>
          <p:cNvSpPr/>
          <p:nvPr/>
        </p:nvSpPr>
        <p:spPr>
          <a:xfrm>
            <a:off x="502920" y="3108960"/>
            <a:ext cx="256032" cy="256032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136392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68680" y="3118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 recommendations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68680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Prioritised AMBER/RED findings not yet addressed — creates urgency and natural 3X repair opportunity.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65760" y="3840480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4"/>
          <p:cNvSpPr/>
          <p:nvPr/>
        </p:nvSpPr>
        <p:spPr>
          <a:xfrm>
            <a:off x="365760" y="3840480"/>
            <a:ext cx="64008" cy="676656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5"/>
          <p:cNvSpPr/>
          <p:nvPr/>
        </p:nvSpPr>
        <p:spPr>
          <a:xfrm>
            <a:off x="502920" y="3913632"/>
            <a:ext cx="256032" cy="256032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3941064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68680" y="39227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Access controlled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868680" y="4160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SharePoint permissions per client domain. Zero internal commercial data ever visible to clients.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65760" y="4736592"/>
            <a:ext cx="3977640" cy="256032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29"/>
          <p:cNvSpPr/>
          <p:nvPr/>
        </p:nvSpPr>
        <p:spPr>
          <a:xfrm>
            <a:off x="457200" y="4754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Strategic impact: differentiates EIG from every NDT competitor in nuclear and pipeline.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4846320" y="10972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Eurazeo sees: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846320" y="1426464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32"/>
          <p:cNvSpPr/>
          <p:nvPr/>
        </p:nvSpPr>
        <p:spPr>
          <a:xfrm>
            <a:off x="4846320" y="1426464"/>
            <a:ext cx="64008" cy="676656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3"/>
          <p:cNvSpPr/>
          <p:nvPr/>
        </p:nvSpPr>
        <p:spPr>
          <a:xfrm>
            <a:off x="4983480" y="1499616"/>
            <a:ext cx="256032" cy="256032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056" y="1527048"/>
            <a:ext cx="182880" cy="1828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349240" y="1508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Group actuals.json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5349240" y="1746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Extended schema: nucleom + nortech + arcndt + ekoscan_fr + intact_eu. All entities, one file.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4846320" y="2231136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Shape 37"/>
          <p:cNvSpPr/>
          <p:nvPr/>
        </p:nvSpPr>
        <p:spPr>
          <a:xfrm>
            <a:off x="4846320" y="2231136"/>
            <a:ext cx="64008" cy="676656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Shape 38"/>
          <p:cNvSpPr/>
          <p:nvPr/>
        </p:nvSpPr>
        <p:spPr>
          <a:xfrm>
            <a:off x="4983480" y="2304288"/>
            <a:ext cx="256032" cy="256032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0056" y="2331720"/>
            <a:ext cx="182880" cy="18288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349240" y="23134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EUR-denominated view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5349240" y="25511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All figures converted at prevailing EUR rate. EIG group total revenue and EBITDA by entity.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4846320" y="3035808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Shape 42"/>
          <p:cNvSpPr/>
          <p:nvPr/>
        </p:nvSpPr>
        <p:spPr>
          <a:xfrm>
            <a:off x="4846320" y="3035808"/>
            <a:ext cx="64008" cy="676656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Shape 43"/>
          <p:cNvSpPr/>
          <p:nvPr/>
        </p:nvSpPr>
        <p:spPr>
          <a:xfrm>
            <a:off x="4983480" y="3108960"/>
            <a:ext cx="256032" cy="256032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0056" y="3136392"/>
            <a:ext cx="182880" cy="18288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5349240" y="3118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Eurazeo board deck</a:t>
            </a:r>
            <a:endParaRPr lang="en-US" sz="1050" dirty="0"/>
          </a:p>
        </p:txBody>
      </p:sp>
      <p:sp>
        <p:nvSpPr>
          <p:cNvPr id="54" name="Text 45"/>
          <p:cNvSpPr/>
          <p:nvPr/>
        </p:nvSpPr>
        <p:spPr>
          <a:xfrm>
            <a:off x="5349240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Separate auto-generated deck for EIG group reporting. Same python-pptx framework, new template.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4846320" y="3840480"/>
            <a:ext cx="3977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Shape 47"/>
          <p:cNvSpPr/>
          <p:nvPr/>
        </p:nvSpPr>
        <p:spPr>
          <a:xfrm>
            <a:off x="4846320" y="3840480"/>
            <a:ext cx="64008" cy="676656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Shape 48"/>
          <p:cNvSpPr/>
          <p:nvPr/>
        </p:nvSpPr>
        <p:spPr>
          <a:xfrm>
            <a:off x="4983480" y="3913632"/>
            <a:ext cx="256032" cy="256032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0056" y="3941064"/>
            <a:ext cx="182880" cy="18288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5349240" y="39227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Cross-entity initiatives</a:t>
            </a:r>
            <a:endParaRPr lang="en-US" sz="1050" dirty="0"/>
          </a:p>
        </p:txBody>
      </p:sp>
      <p:sp>
        <p:nvSpPr>
          <p:cNvPr id="60" name="Text 50"/>
          <p:cNvSpPr/>
          <p:nvPr/>
        </p:nvSpPr>
        <p:spPr>
          <a:xfrm>
            <a:off x="5349240" y="4160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Show how the 5 initiatives contribute to EIG group P&amp;L — not just North America.</a:t>
            </a:r>
            <a:endParaRPr lang="en-US" sz="850" dirty="0"/>
          </a:p>
        </p:txBody>
      </p:sp>
      <p:sp>
        <p:nvSpPr>
          <p:cNvPr id="61" name="Shape 51"/>
          <p:cNvSpPr/>
          <p:nvPr/>
        </p:nvSpPr>
        <p:spPr>
          <a:xfrm>
            <a:off x="4846320" y="4736592"/>
            <a:ext cx="3977640" cy="256032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Text 52"/>
          <p:cNvSpPr/>
          <p:nvPr/>
        </p:nvSpPr>
        <p:spPr>
          <a:xfrm>
            <a:off x="4937760" y="4754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Strategic impact: Eurazeo reporting moves from quarterly manual to monthly automated.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1170432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0" y="1316736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340864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0" y="1975104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511296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0" y="2633472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681728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0" y="3950208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7022592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8193024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7  ·  MONTH 6+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Predictive Intelligence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" y="12070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8BBF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Once 12+ months of live data flows through the system, it stops describing the past and starts predicting the future.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0" y="1645920"/>
            <a:ext cx="4572000" cy="0"/>
          </a:xfrm>
          <a:prstGeom prst="line">
            <a:avLst/>
          </a:prstGeom>
          <a:noFill/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320040" y="1783080"/>
            <a:ext cx="2011680" cy="2926080"/>
          </a:xfrm>
          <a:prstGeom prst="rect">
            <a:avLst/>
          </a:prstGeom>
          <a:solidFill>
            <a:srgbClr val="0A1F5C"/>
          </a:solidFill>
          <a:ln w="10160">
            <a:solidFill>
              <a:srgbClr val="FFFFFF">
                <a:alpha val="1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320040" y="1783080"/>
            <a:ext cx="20116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1106424" y="1920240"/>
            <a:ext cx="438912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1975104"/>
            <a:ext cx="329184" cy="32918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1480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Forecast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94360" y="2880360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5"/>
          <p:cNvSpPr/>
          <p:nvPr/>
        </p:nvSpPr>
        <p:spPr>
          <a:xfrm>
            <a:off x="411480" y="2971800"/>
            <a:ext cx="1828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Based on historical conversion rates and current pipeline stage mix, project end-of-year Closed Won by initiative with confidence bands.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68880" y="1783080"/>
            <a:ext cx="2011680" cy="2926080"/>
          </a:xfrm>
          <a:prstGeom prst="rect">
            <a:avLst/>
          </a:prstGeom>
          <a:solidFill>
            <a:srgbClr val="0A1F5C"/>
          </a:solidFill>
          <a:ln w="10160">
            <a:solidFill>
              <a:srgbClr val="FFFFFF">
                <a:alpha val="1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Shape 27"/>
          <p:cNvSpPr/>
          <p:nvPr/>
        </p:nvSpPr>
        <p:spPr>
          <a:xfrm>
            <a:off x="2468880" y="1783080"/>
            <a:ext cx="2011680" cy="731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8"/>
          <p:cNvSpPr/>
          <p:nvPr/>
        </p:nvSpPr>
        <p:spPr>
          <a:xfrm>
            <a:off x="3255264" y="1920240"/>
            <a:ext cx="438912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975104"/>
            <a:ext cx="329184" cy="32918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560320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Utilisation Forecast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2743200" y="2880360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1"/>
          <p:cNvSpPr/>
          <p:nvPr/>
        </p:nvSpPr>
        <p:spPr>
          <a:xfrm>
            <a:off x="2560320" y="2971800"/>
            <a:ext cx="1828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Based on committed pipeline, project required crew-days by region for the next 12 weeks. Flag capacity constraints before they create delivery risk.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4617720" y="1783080"/>
            <a:ext cx="2011680" cy="2926080"/>
          </a:xfrm>
          <a:prstGeom prst="rect">
            <a:avLst/>
          </a:prstGeom>
          <a:solidFill>
            <a:srgbClr val="0A1F5C"/>
          </a:solidFill>
          <a:ln w="10160">
            <a:solidFill>
              <a:srgbClr val="FFFFFF">
                <a:alpha val="1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7" name="Shape 33"/>
          <p:cNvSpPr/>
          <p:nvPr/>
        </p:nvSpPr>
        <p:spPr>
          <a:xfrm>
            <a:off x="4617720" y="1783080"/>
            <a:ext cx="2011680" cy="73152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34"/>
          <p:cNvSpPr/>
          <p:nvPr/>
        </p:nvSpPr>
        <p:spPr>
          <a:xfrm>
            <a:off x="5404104" y="1920240"/>
            <a:ext cx="438912" cy="438912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1975104"/>
            <a:ext cx="329184" cy="32918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4709160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At-Risk Client Detection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4892040" y="2880360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37"/>
          <p:cNvSpPr/>
          <p:nvPr/>
        </p:nvSpPr>
        <p:spPr>
          <a:xfrm>
            <a:off x="4709160" y="2971800"/>
            <a:ext cx="1828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Flag accounts where revenue is down YoY AND no open opportunity exists. Triggers a review action in Meeting Actions SP List automatically.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6766560" y="1783080"/>
            <a:ext cx="2011680" cy="2926080"/>
          </a:xfrm>
          <a:prstGeom prst="rect">
            <a:avLst/>
          </a:prstGeom>
          <a:solidFill>
            <a:srgbClr val="0A1F5C"/>
          </a:solidFill>
          <a:ln w="10160">
            <a:solidFill>
              <a:srgbClr val="FFFFFF">
                <a:alpha val="1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4" name="Shape 39"/>
          <p:cNvSpPr/>
          <p:nvPr/>
        </p:nvSpPr>
        <p:spPr>
          <a:xfrm>
            <a:off x="6766560" y="1783080"/>
            <a:ext cx="2011680" cy="731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Shape 40"/>
          <p:cNvSpPr/>
          <p:nvPr/>
        </p:nvSpPr>
        <p:spPr>
          <a:xfrm>
            <a:off x="7552944" y="1920240"/>
            <a:ext cx="438912" cy="43891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1975104"/>
            <a:ext cx="329184" cy="329184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858000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Initiative Prioritisation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7040880" y="2880360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3"/>
          <p:cNvSpPr/>
          <p:nvPr/>
        </p:nvSpPr>
        <p:spPr>
          <a:xfrm>
            <a:off x="6858000" y="2971800"/>
            <a:ext cx="1828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Score each initiative monthly: pipeline momentum × conversion rate × margin per hour. Surface which initiatives deserve more resource investment.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1645920" y="4789326"/>
            <a:ext cx="5852160" cy="256032"/>
          </a:xfrm>
          <a:prstGeom prst="rect">
            <a:avLst/>
          </a:prstGeom>
          <a:solidFill>
            <a:srgbClr val="00AEEF">
              <a:alpha val="20000"/>
            </a:srgbClr>
          </a:solidFill>
          <a:ln w="6350">
            <a:solidFill>
              <a:srgbClr val="00AEE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Text 45"/>
          <p:cNvSpPr/>
          <p:nvPr/>
        </p:nvSpPr>
        <p:spPr>
          <a:xfrm>
            <a:off x="1645920" y="4807614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Prerequisite: 12+ months of live Salesforce + BC data · Phases 1–4 complete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MASTER TIMELINE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Apr 2026 ✅ to May 2027 — Seven Phases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8138160" cy="0"/>
          </a:xfrm>
          <a:prstGeom prst="line">
            <a:avLst/>
          </a:prstGeom>
          <a:noFill/>
          <a:ln w="254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0" cy="182880"/>
          </a:xfrm>
          <a:prstGeom prst="line">
            <a:avLst/>
          </a:prstGeom>
          <a:noFill/>
          <a:ln w="190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28600" y="3063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May '26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08760" y="2834640"/>
            <a:ext cx="0" cy="182880"/>
          </a:xfrm>
          <a:prstGeom prst="line">
            <a:avLst/>
          </a:prstGeom>
          <a:noFill/>
          <a:ln w="190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234440" y="3063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Jun '26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14600" y="2834640"/>
            <a:ext cx="0" cy="182880"/>
          </a:xfrm>
          <a:prstGeom prst="line">
            <a:avLst/>
          </a:prstGeom>
          <a:noFill/>
          <a:ln w="190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2240280" y="3063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Jul '26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520440" y="2834640"/>
            <a:ext cx="0" cy="182880"/>
          </a:xfrm>
          <a:prstGeom prst="line">
            <a:avLst/>
          </a:prstGeom>
          <a:noFill/>
          <a:ln w="190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246120" y="3063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Aug '26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26280" y="2834640"/>
            <a:ext cx="0" cy="182880"/>
          </a:xfrm>
          <a:prstGeom prst="line">
            <a:avLst/>
          </a:prstGeom>
          <a:noFill/>
          <a:ln w="190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251960" y="3063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Sep '26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532120" y="2834640"/>
            <a:ext cx="0" cy="182880"/>
          </a:xfrm>
          <a:prstGeom prst="line">
            <a:avLst/>
          </a:prstGeom>
          <a:noFill/>
          <a:ln w="190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257800" y="3063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Oct '26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37960" y="2834640"/>
            <a:ext cx="0" cy="182880"/>
          </a:xfrm>
          <a:prstGeom prst="line">
            <a:avLst/>
          </a:prstGeom>
          <a:noFill/>
          <a:ln w="190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263640" y="3063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Nov '26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43800" y="2834640"/>
            <a:ext cx="0" cy="182880"/>
          </a:xfrm>
          <a:prstGeom prst="line">
            <a:avLst/>
          </a:prstGeom>
          <a:noFill/>
          <a:ln w="190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269480" y="3063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 '26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549640" y="2834640"/>
            <a:ext cx="0" cy="182880"/>
          </a:xfrm>
          <a:prstGeom prst="line">
            <a:avLst/>
          </a:prstGeom>
          <a:noFill/>
          <a:ln w="1905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8275320" y="3063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Jan '27+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1234440"/>
            <a:ext cx="885139" cy="457200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94360" y="1325880"/>
            <a:ext cx="747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P1  Complete Connections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45490" y="1691640"/>
            <a:ext cx="0" cy="1234440"/>
          </a:xfrm>
          <a:prstGeom prst="line">
            <a:avLst/>
          </a:prstGeom>
          <a:noFill/>
          <a:ln w="12700">
            <a:solidFill>
              <a:srgbClr val="00547A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1609344" y="1874520"/>
            <a:ext cx="1287475" cy="457200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1700784" y="1965960"/>
            <a:ext cx="11503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P2  Account Intelligence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53082" y="2331720"/>
            <a:ext cx="0" cy="594360"/>
          </a:xfrm>
          <a:prstGeom prst="line">
            <a:avLst/>
          </a:prstGeom>
          <a:noFill/>
          <a:ln w="12700">
            <a:solidFill>
              <a:srgbClr val="1A5CA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1609344" y="2487168"/>
            <a:ext cx="1609344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1700784" y="257860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P3  People &amp; Capacity ✓ Dashboard built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14016" y="2944368"/>
            <a:ext cx="0" cy="0"/>
          </a:xfrm>
          <a:prstGeom prst="line">
            <a:avLst/>
          </a:prstGeom>
          <a:noFill/>
          <a:ln w="12700">
            <a:solidFill>
              <a:srgbClr val="6D28D9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3118104" y="1234440"/>
            <a:ext cx="1991563" cy="45720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3209544" y="1325880"/>
            <a:ext cx="1854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P4  Win Rate Intelligence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3886" y="1691640"/>
            <a:ext cx="0" cy="1234440"/>
          </a:xfrm>
          <a:prstGeom prst="line">
            <a:avLst/>
          </a:prstGeom>
          <a:noFill/>
          <a:ln w="12700">
            <a:solidFill>
              <a:srgbClr val="C9860A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3822192" y="1874520"/>
            <a:ext cx="2212848" cy="45720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3913632" y="196596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P5  Client Portal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928616" y="2331720"/>
            <a:ext cx="0" cy="594360"/>
          </a:xfrm>
          <a:prstGeom prst="line">
            <a:avLst/>
          </a:prstGeom>
          <a:noFill/>
          <a:ln w="12700">
            <a:solidFill>
              <a:srgbClr val="0D5050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Shape 38"/>
          <p:cNvSpPr/>
          <p:nvPr/>
        </p:nvSpPr>
        <p:spPr>
          <a:xfrm>
            <a:off x="4928616" y="2487168"/>
            <a:ext cx="2212848" cy="4572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5020056" y="257860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P6  Group Consolidation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35040" y="2944368"/>
            <a:ext cx="0" cy="0"/>
          </a:xfrm>
          <a:prstGeom prst="line">
            <a:avLst/>
          </a:prstGeom>
          <a:noFill/>
          <a:ln w="12700">
            <a:solidFill>
              <a:srgbClr val="0A1F5C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>
            <a:off x="7141464" y="1234440"/>
            <a:ext cx="231343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7232904" y="132588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P7  Predictive Intelligence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298180" y="1691640"/>
            <a:ext cx="0" cy="1234440"/>
          </a:xfrm>
          <a:prstGeom prst="line">
            <a:avLst/>
          </a:prstGeom>
          <a:noFill/>
          <a:ln w="12700">
            <a:solidFill>
              <a:srgbClr val="16A34A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Shape 44"/>
          <p:cNvSpPr/>
          <p:nvPr/>
        </p:nvSpPr>
        <p:spPr>
          <a:xfrm>
            <a:off x="6647688" y="3337560"/>
            <a:ext cx="1947672" cy="29260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6675120" y="33558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Needs 12mo data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3730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 milestones: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4005072"/>
            <a:ext cx="7589520" cy="0"/>
          </a:xfrm>
          <a:prstGeom prst="line">
            <a:avLst/>
          </a:prstGeom>
          <a:noFill/>
          <a:ln w="12700">
            <a:solidFill>
              <a:srgbClr val="D0DC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Shape 48"/>
          <p:cNvSpPr/>
          <p:nvPr/>
        </p:nvSpPr>
        <p:spPr>
          <a:xfrm>
            <a:off x="429768" y="3931920"/>
            <a:ext cx="146304" cy="146304"/>
          </a:xfrm>
          <a:prstGeom prst="ellipse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0" y="4114800"/>
            <a:ext cx="1170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0054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Week 3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0054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 live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536192" y="3931920"/>
            <a:ext cx="146304" cy="146304"/>
          </a:xfrm>
          <a:prstGeom prst="ellipse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Text 51"/>
          <p:cNvSpPr/>
          <p:nvPr/>
        </p:nvSpPr>
        <p:spPr>
          <a:xfrm>
            <a:off x="1106424" y="4114800"/>
            <a:ext cx="1170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1A5CA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1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1A5CA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accounts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044952" y="3931920"/>
            <a:ext cx="146304" cy="146304"/>
          </a:xfrm>
          <a:prstGeom prst="ellipse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Text 53"/>
          <p:cNvSpPr/>
          <p:nvPr/>
        </p:nvSpPr>
        <p:spPr>
          <a:xfrm>
            <a:off x="2615184" y="4114800"/>
            <a:ext cx="1170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3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Win rate data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251960" y="3931920"/>
            <a:ext cx="146304" cy="146304"/>
          </a:xfrm>
          <a:prstGeom prst="ellipse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Text 55"/>
          <p:cNvSpPr/>
          <p:nvPr/>
        </p:nvSpPr>
        <p:spPr>
          <a:xfrm>
            <a:off x="3822192" y="4114800"/>
            <a:ext cx="1170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0D505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4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0D505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 portal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068312" y="3931920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9" name="Text 57"/>
          <p:cNvSpPr/>
          <p:nvPr/>
        </p:nvSpPr>
        <p:spPr>
          <a:xfrm>
            <a:off x="6638544" y="4114800"/>
            <a:ext cx="1170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6+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Predictive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the Full System Changes for EIG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0624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206240" cy="402336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256032" cy="256032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197864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" y="11887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Visibility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0" y="1179576"/>
            <a:ext cx="731520" cy="201168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3657600" y="11887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P1–2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84048" y="1572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91C1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Before: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41248" y="15316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figures calculated manually before each meeting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84048" y="1847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After: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841248" y="18059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Closed Won vs budget for all 5 initiatives, updated every Sunday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709160" y="1097280"/>
            <a:ext cx="420624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5"/>
          <p:cNvSpPr/>
          <p:nvPr/>
        </p:nvSpPr>
        <p:spPr>
          <a:xfrm>
            <a:off x="4709160" y="1097280"/>
            <a:ext cx="4206240" cy="402336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6"/>
          <p:cNvSpPr/>
          <p:nvPr/>
        </p:nvSpPr>
        <p:spPr>
          <a:xfrm>
            <a:off x="4800600" y="1170432"/>
            <a:ext cx="256032" cy="256032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197864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29784" y="11887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 &amp; Crew Intelligence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092440" y="1179576"/>
            <a:ext cx="731520" cy="201168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19"/>
          <p:cNvSpPr/>
          <p:nvPr/>
        </p:nvSpPr>
        <p:spPr>
          <a:xfrm>
            <a:off x="8092440" y="11887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P2–3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818888" y="1572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91C1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Before: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5276088" y="15517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Account health tracked informally through relationship memory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4818888" y="1847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After: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276088" y="18260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health scores, at-risk alerts, capacity warnings — before problems are visible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274320" y="2395728"/>
            <a:ext cx="420624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5"/>
          <p:cNvSpPr/>
          <p:nvPr/>
        </p:nvSpPr>
        <p:spPr>
          <a:xfrm>
            <a:off x="274320" y="2395728"/>
            <a:ext cx="4206240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6"/>
          <p:cNvSpPr/>
          <p:nvPr/>
        </p:nvSpPr>
        <p:spPr>
          <a:xfrm>
            <a:off x="365760" y="2468880"/>
            <a:ext cx="256032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2496312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4944" y="24871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Execution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3657600" y="2478024"/>
            <a:ext cx="731520" cy="201168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29"/>
          <p:cNvSpPr/>
          <p:nvPr/>
        </p:nvSpPr>
        <p:spPr>
          <a:xfrm>
            <a:off x="3657600" y="24871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P4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384048" y="28712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91C1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Before: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841248" y="2841341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Win rates estimated from memory; deal stall not visible until too late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384048" y="3145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After: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841248" y="3115661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Conversion rates, velocity, and pipeline health by initiative — data not instinct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4709160" y="2395728"/>
            <a:ext cx="420624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0" name="Shape 35"/>
          <p:cNvSpPr/>
          <p:nvPr/>
        </p:nvSpPr>
        <p:spPr>
          <a:xfrm>
            <a:off x="4709160" y="2395728"/>
            <a:ext cx="4206240" cy="402336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Shape 36"/>
          <p:cNvSpPr/>
          <p:nvPr/>
        </p:nvSpPr>
        <p:spPr>
          <a:xfrm>
            <a:off x="4800600" y="2468880"/>
            <a:ext cx="256032" cy="256032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496312"/>
            <a:ext cx="201168" cy="20116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129784" y="24871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 Retention &amp; 3X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8092440" y="2478024"/>
            <a:ext cx="731520" cy="201168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39"/>
          <p:cNvSpPr/>
          <p:nvPr/>
        </p:nvSpPr>
        <p:spPr>
          <a:xfrm>
            <a:off x="8092440" y="24871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P5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4818888" y="28712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91C1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Before: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5276088" y="28300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Clients chase for records; 3X opportunities missed at finding-report stage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4818888" y="3145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After: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5276088" y="31043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Clients self-serve; every AMBER/RED finding automatically prompts a 3X repair quote</a:t>
            </a:r>
            <a:endParaRPr lang="en-US" sz="750" dirty="0"/>
          </a:p>
        </p:txBody>
      </p:sp>
      <p:sp>
        <p:nvSpPr>
          <p:cNvPr id="50" name="Shape 44"/>
          <p:cNvSpPr/>
          <p:nvPr/>
        </p:nvSpPr>
        <p:spPr>
          <a:xfrm>
            <a:off x="274320" y="3694176"/>
            <a:ext cx="420624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1" name="Shape 45"/>
          <p:cNvSpPr/>
          <p:nvPr/>
        </p:nvSpPr>
        <p:spPr>
          <a:xfrm>
            <a:off x="274320" y="3694176"/>
            <a:ext cx="4206240" cy="402336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Shape 46"/>
          <p:cNvSpPr/>
          <p:nvPr/>
        </p:nvSpPr>
        <p:spPr>
          <a:xfrm>
            <a:off x="365760" y="3767328"/>
            <a:ext cx="256032" cy="256032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3794760"/>
            <a:ext cx="201168" cy="201168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694944" y="37856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Eurazeo Reporting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3657600" y="3776472"/>
            <a:ext cx="731520" cy="201168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Text 49"/>
          <p:cNvSpPr/>
          <p:nvPr/>
        </p:nvSpPr>
        <p:spPr>
          <a:xfrm>
            <a:off x="3657600" y="3785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P6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384048" y="4169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91C1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Before:</a:t>
            </a:r>
            <a:endParaRPr lang="en-US" sz="750" dirty="0"/>
          </a:p>
        </p:txBody>
      </p:sp>
      <p:sp>
        <p:nvSpPr>
          <p:cNvPr id="58" name="Text 51"/>
          <p:cNvSpPr/>
          <p:nvPr/>
        </p:nvSpPr>
        <p:spPr>
          <a:xfrm>
            <a:off x="841248" y="4142295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Group reporting assembled manually from 4+ entity spreadsheets each quarter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384048" y="4443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After:</a:t>
            </a:r>
            <a:endParaRPr lang="en-US" sz="750" dirty="0"/>
          </a:p>
        </p:txBody>
      </p:sp>
      <p:sp>
        <p:nvSpPr>
          <p:cNvPr id="60" name="Text 53"/>
          <p:cNvSpPr/>
          <p:nvPr/>
        </p:nvSpPr>
        <p:spPr>
          <a:xfrm>
            <a:off x="841248" y="4416615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Monthly automated group view in EUR — Eurazeo sees performance before the board meeting</a:t>
            </a:r>
            <a:endParaRPr lang="en-US" sz="750" dirty="0"/>
          </a:p>
        </p:txBody>
      </p:sp>
      <p:sp>
        <p:nvSpPr>
          <p:cNvPr id="61" name="Shape 54"/>
          <p:cNvSpPr/>
          <p:nvPr/>
        </p:nvSpPr>
        <p:spPr>
          <a:xfrm>
            <a:off x="4709160" y="3694176"/>
            <a:ext cx="420624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2" name="Shape 55"/>
          <p:cNvSpPr/>
          <p:nvPr/>
        </p:nvSpPr>
        <p:spPr>
          <a:xfrm>
            <a:off x="4709160" y="3694176"/>
            <a:ext cx="420624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3" name="Shape 56"/>
          <p:cNvSpPr/>
          <p:nvPr/>
        </p:nvSpPr>
        <p:spPr>
          <a:xfrm>
            <a:off x="4800600" y="3767328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794760"/>
            <a:ext cx="201168" cy="201168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5129784" y="37856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Forward-Looking Management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8092440" y="3776472"/>
            <a:ext cx="731520" cy="201168"/>
          </a:xfrm>
          <a:prstGeom prst="rect">
            <a:avLst/>
          </a:prstGeom>
          <a:solidFill>
            <a:srgbClr val="FFFFFF">
              <a:alpha val="7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7" name="Text 59"/>
          <p:cNvSpPr/>
          <p:nvPr/>
        </p:nvSpPr>
        <p:spPr>
          <a:xfrm>
            <a:off x="8092440" y="3785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P7</a:t>
            </a:r>
            <a:endParaRPr lang="en-US" sz="800" dirty="0"/>
          </a:p>
        </p:txBody>
      </p:sp>
      <p:sp>
        <p:nvSpPr>
          <p:cNvPr id="68" name="Text 60"/>
          <p:cNvSpPr/>
          <p:nvPr/>
        </p:nvSpPr>
        <p:spPr>
          <a:xfrm>
            <a:off x="4818888" y="4169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91C1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Before:</a:t>
            </a:r>
            <a:endParaRPr lang="en-US" sz="750" dirty="0"/>
          </a:p>
        </p:txBody>
      </p:sp>
      <p:sp>
        <p:nvSpPr>
          <p:cNvPr id="69" name="Text 61"/>
          <p:cNvSpPr/>
          <p:nvPr/>
        </p:nvSpPr>
        <p:spPr>
          <a:xfrm>
            <a:off x="5276088" y="4142295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Strategy discussions based on where the business has been</a:t>
            </a:r>
            <a:endParaRPr lang="en-US" sz="750" dirty="0"/>
          </a:p>
        </p:txBody>
      </p:sp>
      <p:sp>
        <p:nvSpPr>
          <p:cNvPr id="70" name="Text 62"/>
          <p:cNvSpPr/>
          <p:nvPr/>
        </p:nvSpPr>
        <p:spPr>
          <a:xfrm>
            <a:off x="4818888" y="4443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After:</a:t>
            </a:r>
            <a:endParaRPr lang="en-US" sz="750" dirty="0"/>
          </a:p>
        </p:txBody>
      </p:sp>
      <p:sp>
        <p:nvSpPr>
          <p:cNvPr id="71" name="Text 63"/>
          <p:cNvSpPr/>
          <p:nvPr/>
        </p:nvSpPr>
        <p:spPr>
          <a:xfrm>
            <a:off x="5276088" y="4416615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A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forecasts, utilisation projections, at-risk alerts — manage what is coming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DECISIONS NEEDED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Leadership Needs to Decide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47472" cy="111556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92608" y="15179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1170432"/>
            <a:ext cx="822960" cy="20116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713232" y="11795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COMPLETED ✅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591056" y="11795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 + Éric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3232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Nortech Ops live on GitHub Pages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17373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the meeting agenda deck (BU_Services_Eric_Meeting_Agenda_v6.pptx) for the technical session. For org structure, team roles, and operating rhythm, use the Management Hub (BU_Services_Management_Hub.html) — it is the single front door covering who does what, weekly rhythms, and meeting cadences.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347472" cy="111556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727448" y="15179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48072" y="1170432"/>
            <a:ext cx="822960" cy="20116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148072" y="11795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COMPLETED ✅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025896" y="11795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Mathieu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48072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Complete Dynamics Q&amp;A Workbook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48072" y="17373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 questions about the Business Central environment. Takes 30 minutes. Without it, Éric cannot build the BC connector — monthly KPI charts stay blank.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4320" y="2359152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274320" y="2359152"/>
            <a:ext cx="347472" cy="111556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292608" y="27797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3232" y="2432304"/>
            <a:ext cx="822960" cy="20116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713232" y="24414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1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591056" y="2441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 + Olivier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3232" y="2688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 Phase 5 pilot client scope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3232" y="29992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Identify 2–3 nuclear or pipeline clients for the portal pilot. This scopes the SharePoint permission structure and determines what data is exposed.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09160" y="2359152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4709160" y="2359152"/>
            <a:ext cx="347472" cy="111556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4727448" y="27797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148072" y="2432304"/>
            <a:ext cx="822960" cy="20116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5148072" y="24414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4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025896" y="2441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 + EIG France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48072" y="2688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Align Phase 6 entity data sources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48072" y="29992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Group consolidation requires entity data from Ekoscan France and INTACT. Confirm whether those entities use Business Central or a different ERP and who the data owner is.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3621024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274320" y="3621024"/>
            <a:ext cx="347472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292608" y="40416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13232" y="3694176"/>
            <a:ext cx="822960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713232" y="3703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ONGOING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591056" y="3703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 + Commercial team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13232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Prioritise account backfill for Phase 2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3232" y="42611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 Phase 1 launch, spend 2 hours with Vinoth and Max tagging the top 20 accounts in the CRM correctly. This is the seed data for the accounts dashboard.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09160" y="3621024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7" name="Shape 45"/>
          <p:cNvSpPr/>
          <p:nvPr/>
        </p:nvSpPr>
        <p:spPr>
          <a:xfrm>
            <a:off x="4709160" y="3621024"/>
            <a:ext cx="347472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4727448" y="40416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148072" y="3694176"/>
            <a:ext cx="82296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5148072" y="3703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025896" y="3703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 xml:space="preserve">Jon + Alex 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48072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Agree capacity planning methodology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148072" y="42611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78A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Capacity vs Demand view needs a definition: what counts as a committed crew day? Closed Won only, or include Commit-stage pipeline too? Align before Phase 3 builds.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0" y="585216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1170432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0" y="1170432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340864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0" y="1755648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511296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0" y="2340864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681728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0" y="3511296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7022592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0" y="4096512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8193024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0" y="4681728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9363456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5720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DESTINATION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658368"/>
            <a:ext cx="8229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system that thinks</a:t>
            </a:r>
            <a:endParaRPr lang="en-US" sz="3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ahead of the business.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2286000" y="2011680"/>
            <a:ext cx="4572000" cy="0"/>
          </a:xfrm>
          <a:prstGeom prst="line">
            <a:avLst/>
          </a:prstGeom>
          <a:noFill/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685800" y="21762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85800" y="27980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77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Phases of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77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0" y="21762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P1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286000" y="27980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77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Starts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77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Week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86200" y="21762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P2–4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886200" y="27980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77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Months 1–3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77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Analytics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0" y="21762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P5–6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486400" y="27980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77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Months 4–5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77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Differentiation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86600" y="21762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E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P7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086600" y="27980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77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 6+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7799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Predictive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0" y="3310128"/>
            <a:ext cx="4572000" cy="0"/>
          </a:xfrm>
          <a:prstGeom prst="line">
            <a:avLst/>
          </a:prstGeom>
          <a:noFill/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914400" y="3456432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050" i="1" dirty="0">
                <a:solidFill>
                  <a:srgbClr val="8BBF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1 costs ~13 hours of Éric's time (incl. Conference Cost flow).</a:t>
            </a:r>
            <a:endParaRPr lang="en-US" sz="105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050" i="1" dirty="0">
                <a:solidFill>
                  <a:srgbClr val="8BBF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Phases 2–7 each add a new intelligence layer on top of a live connected system.</a:t>
            </a:r>
            <a:endParaRPr lang="en-US" sz="105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050" i="1" dirty="0">
                <a:solidFill>
                  <a:srgbClr val="8BBF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compounding effect: every phase makes the next one more powerful.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 Eustace, CEO North America  ·  Ekoscan Integrity Group  ·  April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2080</Words>
  <Application>Microsoft Office PowerPoint</Application>
  <PresentationFormat>On-screen Show (16:9)</PresentationFormat>
  <Paragraphs>301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Jon EUSTACE</cp:lastModifiedBy>
  <cp:revision>2</cp:revision>
  <dcterms:created xsi:type="dcterms:W3CDTF">2026-04-18T20:38:20Z</dcterms:created>
  <dcterms:modified xsi:type="dcterms:W3CDTF">2026-04-18T20:57:32Z</dcterms:modified>
</cp:coreProperties>
</file>