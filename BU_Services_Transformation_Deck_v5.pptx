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935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61C60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E2878"/>
          </a:solidFill>
          <a:ln w="12700">
            <a:solidFill>
              <a:srgbClr val="1E287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5486400" y="0"/>
            <a:ext cx="36576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486400" y="868680"/>
            <a:ext cx="36576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5486400" y="1737360"/>
            <a:ext cx="36576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486400" y="2606040"/>
            <a:ext cx="36576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5486400" y="3474720"/>
            <a:ext cx="36576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5486400" y="4343400"/>
            <a:ext cx="36576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63550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72237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80924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20040" y="502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22882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EKOSCAN INTEGRITY GROUP  ·  BU SERVICES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91440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Management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20040" y="2514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Initiative Plan to Fully Integrated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Intelligence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2560320" cy="0"/>
          </a:xfrm>
          <a:prstGeom prst="line">
            <a:avLst/>
          </a:prstGeom>
          <a:noFill/>
          <a:ln w="190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20040" y="3566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Eustace, CEO North America  ·  April 2026 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3794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685800"/>
            <a:ext cx="384048" cy="384048"/>
          </a:xfrm>
          <a:prstGeom prst="rect">
            <a:avLst/>
          </a:prstGeom>
          <a:solidFill>
            <a:srgbClr val="0D1040">
              <a:alpha val="7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740664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73952" y="758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 Plans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989320" y="1508760"/>
            <a:ext cx="384048" cy="384048"/>
          </a:xfrm>
          <a:prstGeom prst="rect">
            <a:avLst/>
          </a:prstGeom>
          <a:solidFill>
            <a:srgbClr val="0D1040">
              <a:alpha val="7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563624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473952" y="1581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989320" y="2331720"/>
            <a:ext cx="384048" cy="384048"/>
          </a:xfrm>
          <a:prstGeom prst="rect">
            <a:avLst/>
          </a:prstGeom>
          <a:solidFill>
            <a:srgbClr val="0D1040">
              <a:alpha val="7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2386584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73952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Central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989320" y="3154680"/>
            <a:ext cx="384048" cy="384048"/>
          </a:xfrm>
          <a:prstGeom prst="rect">
            <a:avLst/>
          </a:prstGeom>
          <a:solidFill>
            <a:srgbClr val="0D1040">
              <a:alpha val="7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3209544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73952" y="3227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Command Centre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989320" y="3977640"/>
            <a:ext cx="384048" cy="384048"/>
          </a:xfrm>
          <a:prstGeom prst="rect">
            <a:avLst/>
          </a:prstGeom>
          <a:solidFill>
            <a:srgbClr val="0D1040">
              <a:alpha val="7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4032504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473952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BB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Reporting</a:t>
            </a:r>
            <a:endParaRPr lang="en-US" sz="105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1161288"/>
            <a:ext cx="164592" cy="164592"/>
          </a:xfrm>
          <a:prstGeom prst="rect">
            <a:avLst/>
          </a:prstGeom>
        </p:spPr>
      </p:pic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1984248"/>
            <a:ext cx="164592" cy="164592"/>
          </a:xfrm>
          <a:prstGeom prst="rect">
            <a:avLst/>
          </a:prstGeom>
        </p:spPr>
      </p:pic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807208"/>
            <a:ext cx="164592" cy="164592"/>
          </a:xfrm>
          <a:prstGeom prst="rect">
            <a:avLst/>
          </a:prstGeom>
        </p:spPr>
      </p:pic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3630168"/>
            <a:ext cx="16459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882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Intelligence Trapped in Silos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600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600200" cy="50292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307592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1737360"/>
            <a:ext cx="1600200" cy="4572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36576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Plans Without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Pulse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487168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initiative plans built — but no live data feeding them. Revenue targets on paper, not tracked in real time.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11680" y="1234440"/>
            <a:ext cx="1600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Shape 10"/>
          <p:cNvSpPr/>
          <p:nvPr/>
        </p:nvSpPr>
        <p:spPr>
          <a:xfrm>
            <a:off x="2011680" y="1234440"/>
            <a:ext cx="1600200" cy="50292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307592"/>
            <a:ext cx="256032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011680" y="1737360"/>
            <a:ext cx="1600200" cy="4572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2"/>
          <p:cNvSpPr/>
          <p:nvPr/>
        </p:nvSpPr>
        <p:spPr>
          <a:xfrm>
            <a:off x="210312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Re-entry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103120" y="2560321"/>
            <a:ext cx="1554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copied from Salesforce, BC, and spreadsheets into PowerPoint every two weeks. Hours wasted, errors introduced.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749040" y="1234440"/>
            <a:ext cx="1600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5"/>
          <p:cNvSpPr/>
          <p:nvPr/>
        </p:nvSpPr>
        <p:spPr>
          <a:xfrm>
            <a:off x="3749040" y="1234440"/>
            <a:ext cx="1600200" cy="50292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307592"/>
            <a:ext cx="256032" cy="25603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749040" y="1737360"/>
            <a:ext cx="1600200" cy="4572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17"/>
          <p:cNvSpPr/>
          <p:nvPr/>
        </p:nvSpPr>
        <p:spPr>
          <a:xfrm>
            <a:off x="384048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Single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Version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840480" y="2560321"/>
            <a:ext cx="1417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Jon, Olivier, Vinoth, Emmanuel all working from different data snapshots. Misalignment on what the numbers actually are.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86400" y="1234440"/>
            <a:ext cx="1600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20"/>
          <p:cNvSpPr/>
          <p:nvPr/>
        </p:nvSpPr>
        <p:spPr>
          <a:xfrm>
            <a:off x="5486400" y="1234440"/>
            <a:ext cx="1600200" cy="50292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1307592"/>
            <a:ext cx="256032" cy="25603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486400" y="1737360"/>
            <a:ext cx="1600200" cy="4572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2"/>
          <p:cNvSpPr/>
          <p:nvPr/>
        </p:nvSpPr>
        <p:spPr>
          <a:xfrm>
            <a:off x="557784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Meeting Actions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Lost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577840" y="2446733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Action items from 7 recurring meetings tracked in emails and notes. No visibility on what is open or overdue.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223760" y="1234440"/>
            <a:ext cx="1600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5"/>
          <p:cNvSpPr/>
          <p:nvPr/>
        </p:nvSpPr>
        <p:spPr>
          <a:xfrm>
            <a:off x="7223760" y="1234440"/>
            <a:ext cx="1600200" cy="502920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8976" y="1307592"/>
            <a:ext cx="256032" cy="25603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223760" y="1737360"/>
            <a:ext cx="1600200" cy="45720"/>
          </a:xfrm>
          <a:prstGeom prst="rect">
            <a:avLst/>
          </a:prstGeom>
          <a:solidFill>
            <a:srgbClr val="DDE3F0"/>
          </a:solidFill>
          <a:ln w="1270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7"/>
          <p:cNvSpPr/>
          <p:nvPr/>
        </p:nvSpPr>
        <p:spPr>
          <a:xfrm>
            <a:off x="731520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Reporting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Disconnected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315200" y="246888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 BU deck built from scratch every two weeks. No automation. Insights delayed, decisions made on stale data.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0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Result: Commercial leadership operates reactively, not proactively. The data exists — but it is not connected.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C60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22882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System. One Source of Truth.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10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 plans become living documents — fed by Salesforce and Business Central,</a:t>
            </a:r>
            <a:endParaRPr lang="en-US" sz="1100" dirty="0"/>
          </a:p>
          <a:p>
            <a:pPr marL="0" indent="0" algn="ctr">
              <a:lnSpc>
                <a:spcPct val="138000"/>
              </a:lnSpc>
              <a:buNone/>
            </a:pPr>
            <a:r>
              <a:rPr lang="en-US" sz="110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visible in the Command Centre, delivered automatically as reports and slides.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92424" y="2688336"/>
            <a:ext cx="2377440" cy="100584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392424" y="27797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actuals.json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92424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E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135 fields · single source of truth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92424" y="33467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FEA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Updated every Sunday by Power Automate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2194560" cy="777240"/>
          </a:xfrm>
          <a:prstGeom prst="rect">
            <a:avLst/>
          </a:prstGeom>
          <a:solidFill>
            <a:srgbClr val="1E2878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20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32688" y="18562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32688" y="2084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Deals · Pipeline · Regions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78608" y="2167127"/>
            <a:ext cx="813816" cy="548631"/>
          </a:xfrm>
          <a:prstGeom prst="line">
            <a:avLst/>
          </a:prstGeom>
          <a:noFill/>
          <a:ln w="1905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2"/>
          <p:cNvSpPr/>
          <p:nvPr/>
        </p:nvSpPr>
        <p:spPr>
          <a:xfrm>
            <a:off x="365760" y="2880360"/>
            <a:ext cx="2194560" cy="777240"/>
          </a:xfrm>
          <a:prstGeom prst="rect">
            <a:avLst/>
          </a:prstGeom>
          <a:solidFill>
            <a:srgbClr val="1E2878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7180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32688" y="29535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Central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32688" y="31821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Invoiced revenue · Hours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2578608" y="3264408"/>
            <a:ext cx="777240" cy="0"/>
          </a:xfrm>
          <a:prstGeom prst="line">
            <a:avLst/>
          </a:prstGeom>
          <a:noFill/>
          <a:ln w="1905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6"/>
          <p:cNvSpPr/>
          <p:nvPr/>
        </p:nvSpPr>
        <p:spPr>
          <a:xfrm>
            <a:off x="365760" y="3977640"/>
            <a:ext cx="2194560" cy="777240"/>
          </a:xfrm>
          <a:prstGeom prst="rect">
            <a:avLst/>
          </a:prstGeom>
          <a:solidFill>
            <a:srgbClr val="1E2878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69080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2688" y="40507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 Entry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932688" y="4279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Budgets · Cash · Nortech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 flipV="1">
            <a:off x="2578608" y="3694176"/>
            <a:ext cx="795528" cy="667512"/>
          </a:xfrm>
          <a:prstGeom prst="line">
            <a:avLst/>
          </a:prstGeom>
          <a:noFill/>
          <a:ln w="1905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20"/>
          <p:cNvSpPr/>
          <p:nvPr/>
        </p:nvSpPr>
        <p:spPr>
          <a:xfrm>
            <a:off x="6583680" y="1783080"/>
            <a:ext cx="2194560" cy="777240"/>
          </a:xfrm>
          <a:prstGeom prst="rect">
            <a:avLst/>
          </a:prstGeom>
          <a:solidFill>
            <a:srgbClr val="196B24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187452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14032" y="185623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Command Centre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114032" y="208483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15-section live portal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 flipV="1">
            <a:off x="5769864" y="2167126"/>
            <a:ext cx="795528" cy="521209"/>
          </a:xfrm>
          <a:prstGeom prst="line">
            <a:avLst/>
          </a:prstGeom>
          <a:noFill/>
          <a:ln w="190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4"/>
          <p:cNvSpPr/>
          <p:nvPr/>
        </p:nvSpPr>
        <p:spPr>
          <a:xfrm>
            <a:off x="6583680" y="2880360"/>
            <a:ext cx="2194560" cy="777240"/>
          </a:xfrm>
          <a:prstGeom prst="rect">
            <a:avLst/>
          </a:prstGeom>
          <a:solidFill>
            <a:srgbClr val="196B24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2971800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14032" y="295351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Monday Email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7114032" y="318211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 digest to leadership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5788152" y="3264408"/>
            <a:ext cx="777240" cy="0"/>
          </a:xfrm>
          <a:prstGeom prst="line">
            <a:avLst/>
          </a:prstGeom>
          <a:noFill/>
          <a:ln w="190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28"/>
          <p:cNvSpPr/>
          <p:nvPr/>
        </p:nvSpPr>
        <p:spPr>
          <a:xfrm>
            <a:off x="6583680" y="3977640"/>
            <a:ext cx="2194560" cy="777240"/>
          </a:xfrm>
          <a:prstGeom prst="rect">
            <a:avLst/>
          </a:prstGeom>
          <a:solidFill>
            <a:srgbClr val="196B24"/>
          </a:solidFill>
          <a:ln w="10160">
            <a:solidFill>
              <a:srgbClr val="FFFFFF">
                <a:alpha val="18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4069080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114032" y="405079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 BU Review Deck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7114032" y="42793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Auto-generated bi-weekly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5769864" y="3694176"/>
            <a:ext cx="795528" cy="667512"/>
          </a:xfrm>
          <a:prstGeom prst="line">
            <a:avLst/>
          </a:prstGeom>
          <a:noFill/>
          <a:ln w="190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882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Five Initiative Plans — The Commercial Blueprint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1645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28600" y="1170432"/>
            <a:ext cx="1645920" cy="594360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24358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1752" y="179222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Mining NDT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176272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301752" y="22311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5yr Target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01752" y="23957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47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$17.9M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65760" y="2779776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301752" y="28346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Owner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01752" y="29992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Vinoth / Emmanuel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5760" y="3310128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4"/>
          <p:cNvSpPr/>
          <p:nvPr/>
        </p:nvSpPr>
        <p:spPr>
          <a:xfrm>
            <a:off x="320040" y="33832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Robotic UT, mining sector penetration across Canada West and East. Shan Switzer cross-sell, CIM Conference.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993392" y="1170432"/>
            <a:ext cx="1645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6"/>
          <p:cNvSpPr/>
          <p:nvPr/>
        </p:nvSpPr>
        <p:spPr>
          <a:xfrm>
            <a:off x="1993392" y="1170432"/>
            <a:ext cx="1645920" cy="594360"/>
          </a:xfrm>
          <a:prstGeom prst="rect">
            <a:avLst/>
          </a:prstGeom>
          <a:solidFill>
            <a:srgbClr val="4B2067"/>
          </a:solidFill>
          <a:ln w="12700">
            <a:solidFill>
              <a:srgbClr val="4B206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243584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066544" y="179222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Pipeline DA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130552" y="2176272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9"/>
          <p:cNvSpPr/>
          <p:nvPr/>
        </p:nvSpPr>
        <p:spPr>
          <a:xfrm>
            <a:off x="2066544" y="22311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5yr Target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066544" y="23957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206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$30.0M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2130552" y="2779776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2"/>
          <p:cNvSpPr/>
          <p:nvPr/>
        </p:nvSpPr>
        <p:spPr>
          <a:xfrm>
            <a:off x="2066544" y="28346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Owner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2066544" y="29992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Rick Carlton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2130552" y="3310128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5"/>
          <p:cNvSpPr/>
          <p:nvPr/>
        </p:nvSpPr>
        <p:spPr>
          <a:xfrm>
            <a:off x="2084832" y="33832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analytics on aging pipeline infrastructure. 10-year maintenance partnership model.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3758184" y="1170432"/>
            <a:ext cx="1645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7"/>
          <p:cNvSpPr/>
          <p:nvPr/>
        </p:nvSpPr>
        <p:spPr>
          <a:xfrm>
            <a:off x="3758184" y="1170432"/>
            <a:ext cx="1645920" cy="594360"/>
          </a:xfrm>
          <a:prstGeom prst="rect">
            <a:avLst/>
          </a:prstGeom>
          <a:solidFill>
            <a:srgbClr val="C9520A"/>
          </a:solidFill>
          <a:ln w="12700">
            <a:solidFill>
              <a:srgbClr val="C952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1243584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831336" y="179222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Powerline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895344" y="2176272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0"/>
          <p:cNvSpPr/>
          <p:nvPr/>
        </p:nvSpPr>
        <p:spPr>
          <a:xfrm>
            <a:off x="3831336" y="22311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5yr Target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3831336" y="23957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52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$10.2M</a:t>
            </a:r>
            <a:endParaRPr lang="en-US" sz="1600" dirty="0"/>
          </a:p>
        </p:txBody>
      </p:sp>
      <p:sp>
        <p:nvSpPr>
          <p:cNvPr id="37" name="Shape 32"/>
          <p:cNvSpPr/>
          <p:nvPr/>
        </p:nvSpPr>
        <p:spPr>
          <a:xfrm>
            <a:off x="3895344" y="2779776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3"/>
          <p:cNvSpPr/>
          <p:nvPr/>
        </p:nvSpPr>
        <p:spPr>
          <a:xfrm>
            <a:off x="3831336" y="28346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Owner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3831336" y="29992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Mathieu B / Vinoth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3895344" y="3310128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6"/>
          <p:cNvSpPr/>
          <p:nvPr/>
        </p:nvSpPr>
        <p:spPr>
          <a:xfrm>
            <a:off x="3849624" y="33832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Hydro One pilot, AltaLink, ATCO, BC Hydro. Drone-assisted inspection at scale.</a:t>
            </a:r>
            <a:endParaRPr lang="en-US" sz="800" dirty="0"/>
          </a:p>
        </p:txBody>
      </p:sp>
      <p:sp>
        <p:nvSpPr>
          <p:cNvPr id="42" name="Shape 37"/>
          <p:cNvSpPr/>
          <p:nvPr/>
        </p:nvSpPr>
        <p:spPr>
          <a:xfrm>
            <a:off x="5522976" y="1170432"/>
            <a:ext cx="1645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3" name="Shape 38"/>
          <p:cNvSpPr/>
          <p:nvPr/>
        </p:nvSpPr>
        <p:spPr>
          <a:xfrm>
            <a:off x="5522976" y="1170432"/>
            <a:ext cx="1645920" cy="594360"/>
          </a:xfrm>
          <a:prstGeom prst="rect">
            <a:avLst/>
          </a:prstGeom>
          <a:solidFill>
            <a:srgbClr val="533FA7"/>
          </a:solidFill>
          <a:ln w="12700">
            <a:solidFill>
              <a:srgbClr val="533FA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243584"/>
            <a:ext cx="292608" cy="29260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596128" y="179222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Nuclear/OPG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5660136" y="2176272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41"/>
          <p:cNvSpPr/>
          <p:nvPr/>
        </p:nvSpPr>
        <p:spPr>
          <a:xfrm>
            <a:off x="5596128" y="22311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5yr Target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5596128" y="23957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33FA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$47.9M</a:t>
            </a:r>
            <a:endParaRPr lang="en-US" sz="1600" dirty="0"/>
          </a:p>
        </p:txBody>
      </p:sp>
      <p:sp>
        <p:nvSpPr>
          <p:cNvPr id="49" name="Shape 43"/>
          <p:cNvSpPr/>
          <p:nvPr/>
        </p:nvSpPr>
        <p:spPr>
          <a:xfrm>
            <a:off x="5660136" y="2779776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0" name="Text 44"/>
          <p:cNvSpPr/>
          <p:nvPr/>
        </p:nvSpPr>
        <p:spPr>
          <a:xfrm>
            <a:off x="5596128" y="28346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Owner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5596128" y="29992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Olivier / Vinoth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5660136" y="3310128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Text 47"/>
          <p:cNvSpPr/>
          <p:nvPr/>
        </p:nvSpPr>
        <p:spPr>
          <a:xfrm>
            <a:off x="5614416" y="33832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OPG multi-year outage programs. MSA strategy, Aecon subcontract, CGSB certifications.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7287768" y="1170432"/>
            <a:ext cx="1645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5" name="Shape 49"/>
          <p:cNvSpPr/>
          <p:nvPr/>
        </p:nvSpPr>
        <p:spPr>
          <a:xfrm>
            <a:off x="7287768" y="1170432"/>
            <a:ext cx="1645920" cy="59436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1272" y="1243584"/>
            <a:ext cx="292608" cy="292608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7360920" y="179222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3X Composite</a:t>
            </a:r>
            <a:endParaRPr lang="en-US" sz="1050" dirty="0"/>
          </a:p>
        </p:txBody>
      </p:sp>
      <p:sp>
        <p:nvSpPr>
          <p:cNvPr id="58" name="Shape 51"/>
          <p:cNvSpPr/>
          <p:nvPr/>
        </p:nvSpPr>
        <p:spPr>
          <a:xfrm>
            <a:off x="7424928" y="2176272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9" name="Text 52"/>
          <p:cNvSpPr/>
          <p:nvPr/>
        </p:nvSpPr>
        <p:spPr>
          <a:xfrm>
            <a:off x="7360920" y="223113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5yr Target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7360920" y="23957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6B2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$11.4M</a:t>
            </a:r>
            <a:endParaRPr lang="en-US" sz="1600" dirty="0"/>
          </a:p>
        </p:txBody>
      </p:sp>
      <p:sp>
        <p:nvSpPr>
          <p:cNvPr id="61" name="Shape 54"/>
          <p:cNvSpPr/>
          <p:nvPr/>
        </p:nvSpPr>
        <p:spPr>
          <a:xfrm>
            <a:off x="7424928" y="2779776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2" name="Text 55"/>
          <p:cNvSpPr/>
          <p:nvPr/>
        </p:nvSpPr>
        <p:spPr>
          <a:xfrm>
            <a:off x="7360920" y="28346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Owner</a:t>
            </a:r>
            <a:endParaRPr lang="en-US" sz="750" dirty="0"/>
          </a:p>
        </p:txBody>
      </p:sp>
      <p:sp>
        <p:nvSpPr>
          <p:cNvPr id="63" name="Text 56"/>
          <p:cNvSpPr/>
          <p:nvPr/>
        </p:nvSpPr>
        <p:spPr>
          <a:xfrm>
            <a:off x="7360920" y="299923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Vinoth / Emmanuel</a:t>
            </a:r>
            <a:endParaRPr lang="en-US" sz="850" dirty="0"/>
          </a:p>
        </p:txBody>
      </p:sp>
      <p:sp>
        <p:nvSpPr>
          <p:cNvPr id="64" name="Shape 57"/>
          <p:cNvSpPr/>
          <p:nvPr/>
        </p:nvSpPr>
        <p:spPr>
          <a:xfrm>
            <a:off x="7424928" y="3310128"/>
            <a:ext cx="1371600" cy="0"/>
          </a:xfrm>
          <a:prstGeom prst="line">
            <a:avLst/>
          </a:prstGeom>
          <a:noFill/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5" name="Text 58"/>
          <p:cNvSpPr/>
          <p:nvPr/>
        </p:nvSpPr>
        <p:spPr>
          <a:xfrm>
            <a:off x="7379208" y="338328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55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Embed repair quotes in every AMBER/RED finding report. Recurring revenue through inspection-to-repair.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384048" y="49331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5-year initiative revenue potential: $117.4M CAD  ·  Built on top of $50.4M (2026) base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61C60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288036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882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COMMAND CENTRE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618679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Intelligence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Portal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01752" y="191109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single HTML file on SharePoint. Opens in any browser. Reads actuals.json on load. Always live.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1752" y="2496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 Live Sections: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" y="2770632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56616" y="2807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Overview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20824" y="2770632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2093976" y="2807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Deck Report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3464" y="3172968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56616" y="32095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Meeting Health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20824" y="3172968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2093976" y="32095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KPIs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83464" y="3575304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56616" y="361188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Regional Cards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020824" y="3575304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2093976" y="361188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 Progress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3464" y="3977640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356616" y="40142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Gate Decisions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20824" y="3977640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2093976" y="40142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Risk Register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3464" y="4379976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356616" y="44165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Management Hub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20824" y="4379976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2093976" y="44165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Email Digest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83464" y="4782312"/>
            <a:ext cx="1572768" cy="292608"/>
          </a:xfrm>
          <a:prstGeom prst="rect">
            <a:avLst/>
          </a:prstGeom>
          <a:solidFill>
            <a:srgbClr val="1E2878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356616" y="48188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EBITDA Tracker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69080" y="502920"/>
            <a:ext cx="4846320" cy="960120"/>
          </a:xfrm>
          <a:prstGeom prst="rect">
            <a:avLst/>
          </a:prstGeom>
          <a:solidFill>
            <a:srgbClr val="1E2878"/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4069080" y="502920"/>
            <a:ext cx="73152" cy="96012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777240"/>
            <a:ext cx="320040" cy="32004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663440" y="6126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Revenue vs Budget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663440" y="92354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Closed Won + pipeline vs EIG annual plan. NUC and NOR side by side.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069080" y="1618488"/>
            <a:ext cx="4846320" cy="960120"/>
          </a:xfrm>
          <a:prstGeom prst="rect">
            <a:avLst/>
          </a:prstGeom>
          <a:solidFill>
            <a:srgbClr val="1E2878"/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6" name="Shape 33"/>
          <p:cNvSpPr/>
          <p:nvPr/>
        </p:nvSpPr>
        <p:spPr>
          <a:xfrm>
            <a:off x="4069080" y="1618488"/>
            <a:ext cx="73152" cy="96012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892808"/>
            <a:ext cx="320040" cy="3200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663440" y="17282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 Progress Bars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4663440" y="203911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of the 5 initiatives tracked against 5-year target in real time.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069080" y="2734056"/>
            <a:ext cx="4846320" cy="960120"/>
          </a:xfrm>
          <a:prstGeom prst="rect">
            <a:avLst/>
          </a:prstGeom>
          <a:solidFill>
            <a:srgbClr val="1E2878"/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1" name="Shape 37"/>
          <p:cNvSpPr/>
          <p:nvPr/>
        </p:nvSpPr>
        <p:spPr>
          <a:xfrm>
            <a:off x="4069080" y="2734056"/>
            <a:ext cx="73152" cy="96012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3008376"/>
            <a:ext cx="320040" cy="32004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663440" y="28437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Meeting Action Counts</a:t>
            </a:r>
            <a:endParaRPr lang="en-US" sz="1200" dirty="0"/>
          </a:p>
        </p:txBody>
      </p:sp>
      <p:sp>
        <p:nvSpPr>
          <p:cNvPr id="44" name="Text 39"/>
          <p:cNvSpPr/>
          <p:nvPr/>
        </p:nvSpPr>
        <p:spPr>
          <a:xfrm>
            <a:off x="4663440" y="315468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 items per meeting series with overdue flags.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4069080" y="3849624"/>
            <a:ext cx="4846320" cy="960120"/>
          </a:xfrm>
          <a:prstGeom prst="rect">
            <a:avLst/>
          </a:prstGeom>
          <a:solidFill>
            <a:srgbClr val="1E2878"/>
          </a:solidFill>
          <a:ln w="635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6" name="Shape 41"/>
          <p:cNvSpPr/>
          <p:nvPr/>
        </p:nvSpPr>
        <p:spPr>
          <a:xfrm>
            <a:off x="4069080" y="3849624"/>
            <a:ext cx="73152" cy="96012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4123944"/>
            <a:ext cx="320040" cy="32004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4663440" y="39593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Auto-Refreshes Sunday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4663440" y="42702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Automate writes fresh data every Sunday 7PM ET.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Data Flows Through the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103120" cy="749808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307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1554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DEE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Closed Won · Pipeline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DEE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Bookings · Commit · Upside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" y="2167128"/>
            <a:ext cx="2103120" cy="749808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33172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2240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Central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22960" y="24871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DEE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Invoiced revenue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DEE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KPIs · Callout jobs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74320" y="3099816"/>
            <a:ext cx="2103120" cy="749808"/>
          </a:xfrm>
          <a:prstGeom prst="rect">
            <a:avLst/>
          </a:prstGeom>
          <a:solidFill>
            <a:srgbClr val="4B2067"/>
          </a:solidFill>
          <a:ln w="12700">
            <a:solidFill>
              <a:srgbClr val="4B20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26440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3172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 Meeting Lists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22960" y="3419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DEE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Meeting Log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DEE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Meeting Actions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274320" y="4032504"/>
            <a:ext cx="2103120" cy="749808"/>
          </a:xfrm>
          <a:prstGeom prst="rect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197096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4105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Manual Entry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822960" y="43525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DEE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Budgets · Cash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DDEE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Nortech pipeline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2395728" y="1591056"/>
            <a:ext cx="685800" cy="0"/>
          </a:xfrm>
          <a:prstGeom prst="line">
            <a:avLst/>
          </a:prstGeom>
          <a:noFill/>
          <a:ln w="2286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17"/>
          <p:cNvSpPr/>
          <p:nvPr/>
        </p:nvSpPr>
        <p:spPr>
          <a:xfrm>
            <a:off x="2395728" y="2523744"/>
            <a:ext cx="685800" cy="0"/>
          </a:xfrm>
          <a:prstGeom prst="line">
            <a:avLst/>
          </a:prstGeom>
          <a:noFill/>
          <a:ln w="2286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18"/>
          <p:cNvSpPr/>
          <p:nvPr/>
        </p:nvSpPr>
        <p:spPr>
          <a:xfrm>
            <a:off x="2395728" y="3456432"/>
            <a:ext cx="685800" cy="0"/>
          </a:xfrm>
          <a:prstGeom prst="line">
            <a:avLst/>
          </a:prstGeom>
          <a:noFill/>
          <a:ln w="2286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Shape 19"/>
          <p:cNvSpPr/>
          <p:nvPr/>
        </p:nvSpPr>
        <p:spPr>
          <a:xfrm>
            <a:off x="2395728" y="4389120"/>
            <a:ext cx="685800" cy="0"/>
          </a:xfrm>
          <a:prstGeom prst="line">
            <a:avLst/>
          </a:prstGeom>
          <a:noFill/>
          <a:ln w="2286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0"/>
          <p:cNvSpPr/>
          <p:nvPr/>
        </p:nvSpPr>
        <p:spPr>
          <a:xfrm>
            <a:off x="3090672" y="1115568"/>
            <a:ext cx="2971800" cy="297180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21"/>
          <p:cNvSpPr/>
          <p:nvPr/>
        </p:nvSpPr>
        <p:spPr>
          <a:xfrm>
            <a:off x="3090672" y="1115568"/>
            <a:ext cx="2971800" cy="10972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2"/>
          <p:cNvSpPr/>
          <p:nvPr/>
        </p:nvSpPr>
        <p:spPr>
          <a:xfrm>
            <a:off x="3090672" y="3977640"/>
            <a:ext cx="2971800" cy="10972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3"/>
          <p:cNvSpPr/>
          <p:nvPr/>
        </p:nvSpPr>
        <p:spPr>
          <a:xfrm>
            <a:off x="3090672" y="12984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⚙</a:t>
            </a:r>
            <a:endParaRPr lang="en-US" sz="2600" dirty="0"/>
          </a:p>
        </p:txBody>
      </p:sp>
      <p:sp>
        <p:nvSpPr>
          <p:cNvPr id="30" name="Text 24"/>
          <p:cNvSpPr/>
          <p:nvPr/>
        </p:nvSpPr>
        <p:spPr>
          <a:xfrm>
            <a:off x="3090672" y="1755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actuals.json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3090672" y="210312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135 fields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337560" y="2395728"/>
            <a:ext cx="2468880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27"/>
          <p:cNvSpPr/>
          <p:nvPr/>
        </p:nvSpPr>
        <p:spPr>
          <a:xfrm>
            <a:off x="3182112" y="24871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8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rev_mining · rev_pipeline · rev_powerline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3182112" y="27157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8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bookings_nuc · commit_nuc · upside_nuc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3182112" y="29443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8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dyn_nucleom · dyn_nortech · nuc_hours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3182112" y="31729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8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region_hq · region_montreal · region_central</a:t>
            </a:r>
            <a:endParaRPr lang="en-US" sz="700" dirty="0"/>
          </a:p>
        </p:txBody>
      </p:sp>
      <p:sp>
        <p:nvSpPr>
          <p:cNvPr id="37" name="Text 31"/>
          <p:cNvSpPr/>
          <p:nvPr/>
        </p:nvSpPr>
        <p:spPr>
          <a:xfrm>
            <a:off x="3182112" y="34015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8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actions_commercial · actions_ops · actions_overdue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3182112" y="36301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8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budget_nuc · budget_nor · eur_rate · cash.*</a:t>
            </a:r>
            <a:endParaRPr lang="en-US" sz="700" dirty="0"/>
          </a:p>
        </p:txBody>
      </p:sp>
      <p:sp>
        <p:nvSpPr>
          <p:cNvPr id="39" name="Text 33"/>
          <p:cNvSpPr/>
          <p:nvPr/>
        </p:nvSpPr>
        <p:spPr>
          <a:xfrm>
            <a:off x="3081528" y="466357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AAAA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Updated every Sunday 7PM ET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AAAA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by Power Automate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6080760" y="1591056"/>
            <a:ext cx="685800" cy="0"/>
          </a:xfrm>
          <a:prstGeom prst="line">
            <a:avLst/>
          </a:prstGeom>
          <a:noFill/>
          <a:ln w="2286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Shape 35"/>
          <p:cNvSpPr/>
          <p:nvPr/>
        </p:nvSpPr>
        <p:spPr>
          <a:xfrm>
            <a:off x="6080760" y="2523744"/>
            <a:ext cx="685800" cy="0"/>
          </a:xfrm>
          <a:prstGeom prst="line">
            <a:avLst/>
          </a:prstGeom>
          <a:noFill/>
          <a:ln w="2286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Shape 36"/>
          <p:cNvSpPr/>
          <p:nvPr/>
        </p:nvSpPr>
        <p:spPr>
          <a:xfrm>
            <a:off x="6080760" y="3456432"/>
            <a:ext cx="685800" cy="0"/>
          </a:xfrm>
          <a:prstGeom prst="line">
            <a:avLst/>
          </a:prstGeom>
          <a:noFill/>
          <a:ln w="2286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Shape 37"/>
          <p:cNvSpPr/>
          <p:nvPr/>
        </p:nvSpPr>
        <p:spPr>
          <a:xfrm>
            <a:off x="6080760" y="4389120"/>
            <a:ext cx="685800" cy="0"/>
          </a:xfrm>
          <a:prstGeom prst="line">
            <a:avLst/>
          </a:prstGeom>
          <a:noFill/>
          <a:ln w="2286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Shape 38"/>
          <p:cNvSpPr/>
          <p:nvPr/>
        </p:nvSpPr>
        <p:spPr>
          <a:xfrm>
            <a:off x="6784848" y="1234440"/>
            <a:ext cx="2084832" cy="749808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288" y="1399032"/>
            <a:ext cx="347472" cy="34747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306056" y="130759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Command Centre</a:t>
            </a:r>
            <a:endParaRPr lang="en-US" sz="1050" dirty="0"/>
          </a:p>
        </p:txBody>
      </p:sp>
      <p:sp>
        <p:nvSpPr>
          <p:cNvPr id="47" name="Text 40"/>
          <p:cNvSpPr/>
          <p:nvPr/>
        </p:nvSpPr>
        <p:spPr>
          <a:xfrm>
            <a:off x="7306056" y="155448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 sections · live portal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Opens from SharePoint</a:t>
            </a:r>
            <a:endParaRPr lang="en-US" sz="800" dirty="0"/>
          </a:p>
        </p:txBody>
      </p:sp>
      <p:sp>
        <p:nvSpPr>
          <p:cNvPr id="48" name="Shape 41"/>
          <p:cNvSpPr/>
          <p:nvPr/>
        </p:nvSpPr>
        <p:spPr>
          <a:xfrm>
            <a:off x="6784848" y="2167128"/>
            <a:ext cx="2084832" cy="749808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6288" y="2331720"/>
            <a:ext cx="347472" cy="347472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306056" y="224028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Monday Email</a:t>
            </a:r>
            <a:endParaRPr lang="en-US" sz="1050" dirty="0"/>
          </a:p>
        </p:txBody>
      </p:sp>
      <p:sp>
        <p:nvSpPr>
          <p:cNvPr id="51" name="Text 43"/>
          <p:cNvSpPr/>
          <p:nvPr/>
        </p:nvSpPr>
        <p:spPr>
          <a:xfrm>
            <a:off x="7306056" y="248716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HTML digest · 7AM ET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leadership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6784848" y="3099816"/>
            <a:ext cx="2084832" cy="749808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6288" y="3264408"/>
            <a:ext cx="347472" cy="347472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7306056" y="317296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 BU Deck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7306056" y="341985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22-slide auto-generated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Bi-weekly review</a:t>
            </a:r>
            <a:endParaRPr lang="en-US" sz="800" dirty="0"/>
          </a:p>
        </p:txBody>
      </p:sp>
      <p:sp>
        <p:nvSpPr>
          <p:cNvPr id="56" name="Shape 47"/>
          <p:cNvSpPr/>
          <p:nvPr/>
        </p:nvSpPr>
        <p:spPr>
          <a:xfrm>
            <a:off x="6784848" y="4032504"/>
            <a:ext cx="2084832" cy="749808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4197096"/>
            <a:ext cx="347472" cy="347472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7306056" y="41056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Execution Tracker</a:t>
            </a:r>
            <a:endParaRPr lang="en-US" sz="1050" dirty="0"/>
          </a:p>
        </p:txBody>
      </p:sp>
      <p:sp>
        <p:nvSpPr>
          <p:cNvPr id="59" name="Text 49"/>
          <p:cNvSpPr/>
          <p:nvPr/>
        </p:nvSpPr>
        <p:spPr>
          <a:xfrm>
            <a:off x="7306056" y="43525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38 actions · 6 gates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E8F5E9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 risks · browser-stored</a:t>
            </a:r>
            <a:endParaRPr lang="en-US" sz="800" dirty="0"/>
          </a:p>
        </p:txBody>
      </p:sp>
      <p:sp>
        <p:nvSpPr>
          <p:cNvPr id="60" name="Shape 50"/>
          <p:cNvSpPr/>
          <p:nvPr/>
        </p:nvSpPr>
        <p:spPr>
          <a:xfrm>
            <a:off x="3575304" y="4263309"/>
            <a:ext cx="2011680" cy="292608"/>
          </a:xfrm>
          <a:prstGeom prst="rect">
            <a:avLst/>
          </a:prstGeom>
          <a:solidFill>
            <a:srgbClr val="4B2067"/>
          </a:solidFill>
          <a:ln w="12700">
            <a:solidFill>
              <a:srgbClr val="4B206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1" name="Text 51"/>
          <p:cNvSpPr/>
          <p:nvPr/>
        </p:nvSpPr>
        <p:spPr>
          <a:xfrm>
            <a:off x="3575304" y="4290741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Automate — the engine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ADD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CONNECTION 1 OF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Salesforce — Commercial Pipeline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the integration captures: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819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572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Closed Won by initiative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" y="17922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Mining, Pipeline, Powerline, Nuclear, 3X, Base Business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939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20848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Regional Closed Won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58368" y="23042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HQ, Montréal, Central, Edmonton, Vancouver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0604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" y="2596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Bookings (created YTD)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58368" y="28163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 new opportunities created this calendar year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1810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" y="3108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Commit (probability ≥75%)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658368" y="33284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High-confidence pipeline — likely to close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63016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8368" y="36210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Upside (probability 25–74%)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58368" y="3840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Stretch pipeline — possible but not committed</a:t>
            </a:r>
            <a:endParaRPr lang="en-US" sz="8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4223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8368" y="41330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Technician deployment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658368" y="43525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2: crew assigned per Closed Won deal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4572000" y="1097280"/>
            <a:ext cx="4251960" cy="379476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18"/>
          <p:cNvSpPr/>
          <p:nvPr/>
        </p:nvSpPr>
        <p:spPr>
          <a:xfrm>
            <a:off x="470916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Éric Builds (Step 1 + 2)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709160" y="1627632"/>
            <a:ext cx="320040" cy="32004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0"/>
          <p:cNvSpPr/>
          <p:nvPr/>
        </p:nvSpPr>
        <p:spPr>
          <a:xfrm>
            <a:off x="4709160" y="1645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12064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BU_Initiative__c field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818120" y="1645920"/>
            <a:ext cx="868680" cy="23774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3"/>
          <p:cNvSpPr/>
          <p:nvPr/>
        </p:nvSpPr>
        <p:spPr>
          <a:xfrm>
            <a:off x="7818120" y="16550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 min</a:t>
            </a:r>
            <a:endParaRPr lang="en-US" sz="800" dirty="0"/>
          </a:p>
        </p:txBody>
      </p:sp>
      <p:sp>
        <p:nvSpPr>
          <p:cNvPr id="32" name="Text 24"/>
          <p:cNvSpPr/>
          <p:nvPr/>
        </p:nvSpPr>
        <p:spPr>
          <a:xfrm>
            <a:off x="5120640" y="1901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picklist field on Opportunity. Values: Mining / Pipeline / Powerline / Nuclear / 3X / Base Business.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709160" y="2432304"/>
            <a:ext cx="320040" cy="32004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6"/>
          <p:cNvSpPr/>
          <p:nvPr/>
        </p:nvSpPr>
        <p:spPr>
          <a:xfrm>
            <a:off x="4709160" y="2450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120640" y="2432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 Region field API name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7818120" y="2450592"/>
            <a:ext cx="868680" cy="23774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29"/>
          <p:cNvSpPr/>
          <p:nvPr/>
        </p:nvSpPr>
        <p:spPr>
          <a:xfrm>
            <a:off x="7818120" y="245973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 min</a:t>
            </a:r>
            <a:endParaRPr lang="en-US" sz="800" dirty="0"/>
          </a:p>
        </p:txBody>
      </p:sp>
      <p:sp>
        <p:nvSpPr>
          <p:cNvPr id="38" name="Text 30"/>
          <p:cNvSpPr/>
          <p:nvPr/>
        </p:nvSpPr>
        <p:spPr>
          <a:xfrm>
            <a:off x="5120640" y="270662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Note exact API name and 5 picklist values for regional revenue filtering.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709160" y="3236976"/>
            <a:ext cx="320040" cy="32004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2"/>
          <p:cNvSpPr/>
          <p:nvPr/>
        </p:nvSpPr>
        <p:spPr>
          <a:xfrm>
            <a:off x="4709160" y="32552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5120640" y="3236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Sunday PA flow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7818120" y="3255264"/>
            <a:ext cx="868680" cy="23774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35"/>
          <p:cNvSpPr/>
          <p:nvPr/>
        </p:nvSpPr>
        <p:spPr>
          <a:xfrm>
            <a:off x="7818120" y="32644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~2 hrs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5120640" y="35112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17 Salesforce Get Records actions, Compose JSON, write to actuals.json on SharePoint every Sunday 7PM.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4709160" y="4041648"/>
            <a:ext cx="320040" cy="32004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6" name="Text 38"/>
          <p:cNvSpPr/>
          <p:nvPr/>
        </p:nvSpPr>
        <p:spPr>
          <a:xfrm>
            <a:off x="4709160" y="405993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5120640" y="4041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Backfill 2026 opportunities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7818120" y="4059936"/>
            <a:ext cx="868680" cy="23774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1"/>
          <p:cNvSpPr/>
          <p:nvPr/>
        </p:nvSpPr>
        <p:spPr>
          <a:xfrm>
            <a:off x="7818120" y="40690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30–60 min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5120640" y="43159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team tags all 2026 YTD deals with BU Initiative value before first run.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AADD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CONNECTION 2 OF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Central — Invoiced Revenue &amp; KPIs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Why this goes beyond Salesforce: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54864" cy="68580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75488" y="16184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Callout jobs never enter Salesforce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847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Small emergency inspections are booked and invoiced directly in BC — invisible to SF-only reporting.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54864" cy="68580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75488" y="24414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Actual invoiced vs. deals closed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SF shows deals closed. BC shows cash actually invoiced. The gap reveals billing lag and collection risk.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3218688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320040" y="3218688"/>
            <a:ext cx="54864" cy="68580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75488" y="3264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Hourly KPIs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493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Chargeable hours, hourly rate, hourly cost, and gross margin per entity — not available in the CRM.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4041648"/>
            <a:ext cx="4023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320040" y="4041648"/>
            <a:ext cx="54864" cy="68580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75488" y="40873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actuals for KPI charts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4315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Deck slides 8–14 (KPI Summary, Chargeable Hours, Rate, Cost, Margin) all draw from BC monthly fields.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1097280"/>
            <a:ext cx="4251960" cy="379476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470916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Éric Builds (Step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600200"/>
            <a:ext cx="3977640" cy="50292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800600" y="16642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Prerequisite: Eric completes Dynamics Q&amp;A Workbook (30 min)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2240280"/>
            <a:ext cx="320040" cy="32004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4709160" y="2258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2240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BC connector in Sunday PA flow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18120" y="2258568"/>
            <a:ext cx="868680" cy="237744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7818120" y="226771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~90 min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20640" y="2514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D365 BC connector → posted sales invoices → filter by legal entity + month → sum → write dyn_* fields.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3081528"/>
            <a:ext cx="320040" cy="32004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4709160" y="30998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3081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KPI fields populated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18120" y="3099816"/>
            <a:ext cx="868680" cy="237744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7818120" y="31089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2064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nuc_hours, nuc_rate, nor_hours, nor_rate, nuc_cost, nor_cost written monthly to actuals.json.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922776"/>
            <a:ext cx="320040" cy="32004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4709160" y="39410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20640" y="39227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Interim: Jeremy manual entry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818120" y="3941064"/>
            <a:ext cx="868680" cy="237744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7818120" y="39502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min/mo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20640" y="4197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numbers per month (dyn_nucleom + dyn_nortech) activates KPI charts while connector is built.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B2067"/>
          </a:solidFill>
          <a:ln w="12700">
            <a:solidFill>
              <a:srgbClr val="4B206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CAA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CONNECTION 3 OF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Reporting — Email + Deck Generation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413308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4133088" cy="502920"/>
          </a:xfrm>
          <a:prstGeom prst="rect">
            <a:avLst/>
          </a:prstGeom>
          <a:solidFill>
            <a:srgbClr val="161C60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25272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Monday 7AM Email Digest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828800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" y="1810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Weekly KPI summary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67512" y="2039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Closed Won vs budget. Pipeline by initiative. Regional breakdown.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48716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" y="24688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Overdue action alerts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67512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Count of overdue meeting actions across all 7 meeting series.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14553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7512" y="31272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 progress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67512" y="3355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initiative vs 5-year target — green/amber/red status.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80390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7512" y="37856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Recipients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67512" y="4014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· Olivier · Vinoth · Emmanuel · Rick · Mathieu · Alex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256032" y="4462272"/>
            <a:ext cx="4133088" cy="274320"/>
          </a:xfrm>
          <a:prstGeom prst="rect">
            <a:avLst/>
          </a:prstGeom>
          <a:solidFill>
            <a:srgbClr val="4B2067"/>
          </a:solidFill>
          <a:ln w="12700">
            <a:solidFill>
              <a:srgbClr val="4B206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6"/>
          <p:cNvSpPr/>
          <p:nvPr/>
        </p:nvSpPr>
        <p:spPr>
          <a:xfrm>
            <a:off x="320040" y="4480560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Automate  ·  Every Monday 7AM ET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4754880" y="1170432"/>
            <a:ext cx="4133088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5" name="Shape 18"/>
          <p:cNvSpPr/>
          <p:nvPr/>
        </p:nvSpPr>
        <p:spPr>
          <a:xfrm>
            <a:off x="4754880" y="1170432"/>
            <a:ext cx="4133088" cy="502920"/>
          </a:xfrm>
          <a:prstGeom prst="rect">
            <a:avLst/>
          </a:prstGeom>
          <a:solidFill>
            <a:srgbClr val="161C60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125272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30368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 BU Review Deck — Auto-Generated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846320" y="1828800"/>
            <a:ext cx="3858768" cy="731520"/>
          </a:xfrm>
          <a:prstGeom prst="rect">
            <a:avLst/>
          </a:prstGeom>
          <a:solidFill>
            <a:srgbClr val="F8F9FC"/>
          </a:solidFill>
          <a:ln w="508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1"/>
          <p:cNvSpPr/>
          <p:nvPr/>
        </p:nvSpPr>
        <p:spPr>
          <a:xfrm>
            <a:off x="4846320" y="1828800"/>
            <a:ext cx="54864" cy="73152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2"/>
          <p:cNvSpPr/>
          <p:nvPr/>
        </p:nvSpPr>
        <p:spPr>
          <a:xfrm>
            <a:off x="4992624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 now (5 slides)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4992624" y="21396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Title · Q1 Variations · Efficiency Table · EBITDA Table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4846320" y="2697480"/>
            <a:ext cx="3858768" cy="731520"/>
          </a:xfrm>
          <a:prstGeom prst="rect">
            <a:avLst/>
          </a:prstGeom>
          <a:solidFill>
            <a:srgbClr val="F8F9FC"/>
          </a:solidFill>
          <a:ln w="508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Shape 25"/>
          <p:cNvSpPr/>
          <p:nvPr/>
        </p:nvSpPr>
        <p:spPr>
          <a:xfrm>
            <a:off x="4846320" y="2697480"/>
            <a:ext cx="54864" cy="73152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26"/>
          <p:cNvSpPr/>
          <p:nvPr/>
        </p:nvSpPr>
        <p:spPr>
          <a:xfrm>
            <a:off x="4992624" y="2752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 after connections (8)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992624" y="30083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Performance Table · KPI Summary · Charts (8–14) · Cash · Deck Report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4846320" y="3566160"/>
            <a:ext cx="3858768" cy="731520"/>
          </a:xfrm>
          <a:prstGeom prst="rect">
            <a:avLst/>
          </a:prstGeom>
          <a:solidFill>
            <a:srgbClr val="F8F9FC"/>
          </a:solidFill>
          <a:ln w="5080">
            <a:solidFill>
              <a:srgbClr val="DDE3F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29"/>
          <p:cNvSpPr/>
          <p:nvPr/>
        </p:nvSpPr>
        <p:spPr>
          <a:xfrm>
            <a:off x="4846320" y="3566160"/>
            <a:ext cx="54864" cy="731520"/>
          </a:xfrm>
          <a:prstGeom prst="rect">
            <a:avLst/>
          </a:prstGeom>
          <a:solidFill>
            <a:srgbClr val="8896B0"/>
          </a:solidFill>
          <a:ln w="1270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30"/>
          <p:cNvSpPr/>
          <p:nvPr/>
        </p:nvSpPr>
        <p:spPr>
          <a:xfrm>
            <a:off x="4992624" y="3621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Always manual (9 slides)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4992624" y="38770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896B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Narratives · EIG model slides · Ops · Quality · People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4754880" y="4462272"/>
            <a:ext cx="4133088" cy="274320"/>
          </a:xfrm>
          <a:prstGeom prst="rect">
            <a:avLst/>
          </a:prstGeom>
          <a:solidFill>
            <a:srgbClr val="4B2067"/>
          </a:solidFill>
          <a:ln w="12700">
            <a:solidFill>
              <a:srgbClr val="4B206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1" name="Text 33"/>
          <p:cNvSpPr/>
          <p:nvPr/>
        </p:nvSpPr>
        <p:spPr>
          <a:xfrm>
            <a:off x="4818888" y="4480560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python-pptx script  ·  Scheduled bi-weekly Monday 6AM ET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TRANSFORMATION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Before → After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3749040" cy="475488"/>
          </a:xfrm>
          <a:prstGeom prst="rect">
            <a:avLst/>
          </a:prstGeom>
          <a:solidFill>
            <a:srgbClr val="161C60"/>
          </a:solidFill>
          <a:ln w="6350">
            <a:solidFill>
              <a:srgbClr val="CC22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47472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222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 plans are static documents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408176"/>
            <a:ext cx="274320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26280" y="1298448"/>
            <a:ext cx="4343400" cy="475488"/>
          </a:xfrm>
          <a:prstGeom prst="rect">
            <a:avLst/>
          </a:prstGeom>
          <a:solidFill>
            <a:srgbClr val="196B24"/>
          </a:solidFill>
          <a:ln w="63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4599432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19472" y="138988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Plans feed live data from Salesforce + BC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1920240"/>
            <a:ext cx="3749040" cy="475488"/>
          </a:xfrm>
          <a:prstGeom prst="rect">
            <a:avLst/>
          </a:prstGeom>
          <a:solidFill>
            <a:srgbClr val="161C60"/>
          </a:solidFill>
          <a:ln w="6350">
            <a:solidFill>
              <a:srgbClr val="CC22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347472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222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" y="201168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Revenue figures re-entered manually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2029968"/>
            <a:ext cx="274320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26280" y="1920240"/>
            <a:ext cx="4343400" cy="475488"/>
          </a:xfrm>
          <a:prstGeom prst="rect">
            <a:avLst/>
          </a:prstGeom>
          <a:solidFill>
            <a:srgbClr val="196B24"/>
          </a:solidFill>
          <a:ln w="63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2"/>
          <p:cNvSpPr/>
          <p:nvPr/>
        </p:nvSpPr>
        <p:spPr>
          <a:xfrm>
            <a:off x="4599432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19472" y="201168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actuals.json updated automatically every Sunday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74320" y="2542032"/>
            <a:ext cx="3749040" cy="475488"/>
          </a:xfrm>
          <a:prstGeom prst="rect">
            <a:avLst/>
          </a:prstGeom>
          <a:solidFill>
            <a:srgbClr val="161C60"/>
          </a:solidFill>
          <a:ln w="6350">
            <a:solidFill>
              <a:srgbClr val="CC22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5"/>
          <p:cNvSpPr/>
          <p:nvPr/>
        </p:nvSpPr>
        <p:spPr>
          <a:xfrm>
            <a:off x="347472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222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8368" y="263347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Bi-weekly deck built from scratch (~1hr)</a:t>
            </a:r>
            <a:endParaRPr lang="en-US" sz="9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2651760"/>
            <a:ext cx="274320" cy="25603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526280" y="2542032"/>
            <a:ext cx="4343400" cy="475488"/>
          </a:xfrm>
          <a:prstGeom prst="rect">
            <a:avLst/>
          </a:prstGeom>
          <a:solidFill>
            <a:srgbClr val="196B24"/>
          </a:solidFill>
          <a:ln w="63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18"/>
          <p:cNvSpPr/>
          <p:nvPr/>
        </p:nvSpPr>
        <p:spPr>
          <a:xfrm>
            <a:off x="4599432" y="2633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919472" y="26334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Deck auto-generated in 2 minutes, ready to review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74320" y="3163824"/>
            <a:ext cx="3749040" cy="475488"/>
          </a:xfrm>
          <a:prstGeom prst="rect">
            <a:avLst/>
          </a:prstGeom>
          <a:solidFill>
            <a:srgbClr val="161C60"/>
          </a:solidFill>
          <a:ln w="6350">
            <a:solidFill>
              <a:srgbClr val="CC22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Text 21"/>
          <p:cNvSpPr/>
          <p:nvPr/>
        </p:nvSpPr>
        <p:spPr>
          <a:xfrm>
            <a:off x="347472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222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58368" y="325526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Meeting actions tracked in emails</a:t>
            </a:r>
            <a:endParaRPr lang="en-US" sz="9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3273552"/>
            <a:ext cx="274320" cy="25603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526280" y="3163824"/>
            <a:ext cx="4343400" cy="475488"/>
          </a:xfrm>
          <a:prstGeom prst="rect">
            <a:avLst/>
          </a:prstGeom>
          <a:solidFill>
            <a:srgbClr val="196B24"/>
          </a:solidFill>
          <a:ln w="63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4"/>
          <p:cNvSpPr/>
          <p:nvPr/>
        </p:nvSpPr>
        <p:spPr>
          <a:xfrm>
            <a:off x="4599432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919472" y="325526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Actions logged in SP Lists, counted in Command Centre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274320" y="3785616"/>
            <a:ext cx="3749040" cy="475488"/>
          </a:xfrm>
          <a:prstGeom prst="rect">
            <a:avLst/>
          </a:prstGeom>
          <a:solidFill>
            <a:srgbClr val="161C60"/>
          </a:solidFill>
          <a:ln w="6350">
            <a:solidFill>
              <a:srgbClr val="CC22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27"/>
          <p:cNvSpPr/>
          <p:nvPr/>
        </p:nvSpPr>
        <p:spPr>
          <a:xfrm>
            <a:off x="347472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222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✕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58368" y="3877056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and people management in separate silos</a:t>
            </a:r>
            <a:endParaRPr lang="en-US" sz="9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3895344"/>
            <a:ext cx="274320" cy="256032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4526280" y="3785616"/>
            <a:ext cx="4343400" cy="475488"/>
          </a:xfrm>
          <a:prstGeom prst="rect">
            <a:avLst/>
          </a:prstGeom>
          <a:solidFill>
            <a:srgbClr val="196B24"/>
          </a:solidFill>
          <a:ln w="63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0"/>
          <p:cNvSpPr/>
          <p:nvPr/>
        </p:nvSpPr>
        <p:spPr>
          <a:xfrm>
            <a:off x="4599432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919472" y="3877056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Command Centre (data) + Management Hub (people) — fully connected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274320" y="4407408"/>
            <a:ext cx="3749040" cy="475488"/>
          </a:xfrm>
          <a:prstGeom prst="rect">
            <a:avLst/>
          </a:prstGeom>
          <a:solidFill>
            <a:srgbClr val="161C60"/>
          </a:solidFill>
          <a:ln w="6350">
            <a:solidFill>
              <a:srgbClr val="CC22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3"/>
          <p:cNvSpPr/>
          <p:nvPr/>
        </p:nvSpPr>
        <p:spPr>
          <a:xfrm>
            <a:off x="347472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222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✕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658368" y="449884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KPIs only visible when deck is prepared</a:t>
            </a:r>
            <a:endParaRPr lang="en-US" sz="95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4517136"/>
            <a:ext cx="274320" cy="256032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4526280" y="4407408"/>
            <a:ext cx="4343400" cy="475488"/>
          </a:xfrm>
          <a:prstGeom prst="rect">
            <a:avLst/>
          </a:prstGeom>
          <a:solidFill>
            <a:srgbClr val="196B24"/>
          </a:solidFill>
          <a:ln w="635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Text 36"/>
          <p:cNvSpPr/>
          <p:nvPr/>
        </p:nvSpPr>
        <p:spPr>
          <a:xfrm>
            <a:off x="4599432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4919472" y="449884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Monday email delivers KPIs to inbox before 9AM meeting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Status — April 2026 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834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2834640" cy="45720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47472" y="1234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201168" cy="2011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47472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" y="1719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✅ All 6 tools live on GitHub Pages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231136"/>
            <a:ext cx="201168" cy="2011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47472" y="2231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1792" y="221284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Enter budget figures + EUR rate in actuals.json (5 min — Mathieu)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724912"/>
            <a:ext cx="201168" cy="2011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47472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" y="270662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BU_Initiative__c Salesforce field (20 min — Éric)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218688"/>
            <a:ext cx="201168" cy="2011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47472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" y="32004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 Region field API name (10 min — Éric)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712464"/>
            <a:ext cx="201168" cy="2011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347472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" y="369417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Mathieu: complete Dynamics Q&amp;A Workbook (30 min — unblocks Step 3)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206240"/>
            <a:ext cx="201168" cy="20116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347472" y="4206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" y="41879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team backfill 2026 opportunities (30–60 min — Vinoth/Max/Rick/Olivier)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18688" y="1170432"/>
            <a:ext cx="2834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3218688" y="1170432"/>
            <a:ext cx="2834640" cy="457200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3310128" y="1234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Week 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10128" y="1737360"/>
            <a:ext cx="201168" cy="201168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3310128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84448" y="1719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Sunday PA flow: SF queries → actuals.json (~2 hrs — Éric)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10128" y="2231136"/>
            <a:ext cx="201168" cy="201168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3310128" y="2231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84448" y="221284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Monday 7AM email digest flow (45 min) + Conference Cost PA flow (~2.5 hrs — Éric)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10128" y="2724912"/>
            <a:ext cx="201168" cy="201168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3310128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84448" y="270662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Business Central connector to PA flow (~2 hrs — Éric)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10128" y="3218688"/>
            <a:ext cx="201168" cy="201168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3310128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84448" y="32004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2 SharePoint Meeting Lists (45 min — Éric)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10128" y="3712464"/>
            <a:ext cx="201168" cy="201168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 41"/>
          <p:cNvSpPr/>
          <p:nvPr/>
        </p:nvSpPr>
        <p:spPr>
          <a:xfrm>
            <a:off x="3310128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584448" y="369417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OneNote meeting structure (30 min — Éric)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81344" y="1170432"/>
            <a:ext cx="283464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6" name="Shape 44"/>
          <p:cNvSpPr/>
          <p:nvPr/>
        </p:nvSpPr>
        <p:spPr>
          <a:xfrm>
            <a:off x="6181344" y="1170432"/>
            <a:ext cx="2834640" cy="457200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7" name="Text 45"/>
          <p:cNvSpPr/>
          <p:nvPr/>
        </p:nvSpPr>
        <p:spPr>
          <a:xfrm>
            <a:off x="6272784" y="1234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Week 3 — Live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72784" y="1737360"/>
            <a:ext cx="201168" cy="201168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6272784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547104" y="1719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PA meeting health branch (60 min — Éric)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72784" y="2231136"/>
            <a:ext cx="201168" cy="201168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Text 50"/>
          <p:cNvSpPr/>
          <p:nvPr/>
        </p:nvSpPr>
        <p:spPr>
          <a:xfrm>
            <a:off x="6272784" y="2231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47104" y="221284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Schedule deck generation script (15 min — Éric)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72784" y="2724912"/>
            <a:ext cx="201168" cy="201168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5" name="Text 53"/>
          <p:cNvSpPr/>
          <p:nvPr/>
        </p:nvSpPr>
        <p:spPr>
          <a:xfrm>
            <a:off x="6272784" y="27249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547104" y="270662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fully live: SF + BC + SP Lists all feeding actuals.json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72784" y="3218688"/>
            <a:ext cx="201168" cy="201168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8" name="Text 56"/>
          <p:cNvSpPr/>
          <p:nvPr/>
        </p:nvSpPr>
        <p:spPr>
          <a:xfrm>
            <a:off x="6272784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47104" y="32004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Command Centre live — 15 sections with real data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72784" y="3712464"/>
            <a:ext cx="201168" cy="201168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1" name="Text 59"/>
          <p:cNvSpPr/>
          <p:nvPr/>
        </p:nvSpPr>
        <p:spPr>
          <a:xfrm>
            <a:off x="6272784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47104" y="369417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Monday email delivering KPIs before every 9AM meeting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272784" y="4206240"/>
            <a:ext cx="201168" cy="201168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4" name="Text 62"/>
          <p:cNvSpPr/>
          <p:nvPr/>
        </p:nvSpPr>
        <p:spPr>
          <a:xfrm>
            <a:off x="6272784" y="4206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✓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547104" y="41879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 BU review deck auto-generating every bi-weekly morning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4846320"/>
            <a:ext cx="8631936" cy="219456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7" name="Text 65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Total Éric build time: ~13 hours (incl. P6/P7/P8 BC People flow)  ·  Jon/Mathieu input: ~15 minutes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882F"/>
          </a:solidFill>
          <a:ln w="12700">
            <a:solidFill>
              <a:srgbClr val="22882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882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SYSTEM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Everything That Has Been Built</a:t>
            </a:r>
            <a:endParaRPr lang="en-US" sz="2200" dirty="0"/>
          </a:p>
        </p:txBody>
      </p:sp>
      <p:sp>
        <p:nvSpPr>
          <p:cNvPr id="51" name="bg51"/>
          <p:cNvSpPr/>
          <p:nvPr/>
        </p:nvSpPr>
        <p:spPr>
          <a:xfrm>
            <a:off x="256032" y="117043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2" name="hdr52"/>
          <p:cNvSpPr/>
          <p:nvPr/>
        </p:nvSpPr>
        <p:spPr>
          <a:xfrm>
            <a:off x="256032" y="1170432"/>
            <a:ext cx="2834640" cy="457200"/>
          </a:xfrm>
          <a:prstGeom prst="rect">
            <a:avLst/>
          </a:prstGeom>
          <a:solidFill>
            <a:srgbClr val="00547A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3" name="ttl53"/>
          <p:cNvSpPr/>
          <p:nvPr/>
        </p:nvSpPr>
        <p:spPr>
          <a:xfrm>
            <a:off x="347472" y="12252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Strategy &amp; Plans</a:t>
            </a:r>
            <a:endParaRPr lang="en-US" sz="1100" dirty="0"/>
          </a:p>
        </p:txBody>
      </p:sp>
      <p:sp>
        <p:nvSpPr>
          <p:cNvPr id="54" name="sub54"/>
          <p:cNvSpPr/>
          <p:nvPr/>
        </p:nvSpPr>
        <p:spPr>
          <a:xfrm>
            <a:off x="347472" y="14264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Plans &amp; Frameworks</a:t>
            </a:r>
            <a:endParaRPr lang="en-US" sz="850" dirty="0"/>
          </a:p>
        </p:txBody>
      </p:sp>
      <p:pic>
        <p:nvPicPr>
          <p:cNvPr id="55" name="pic5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74072"/>
            <a:ext cx="182880" cy="182880"/>
          </a:xfrm>
          <a:prstGeom prst="rect">
            <a:avLst/>
          </a:prstGeom>
        </p:spPr>
      </p:pic>
      <p:sp>
        <p:nvSpPr>
          <p:cNvPr id="56" name="bod56"/>
          <p:cNvSpPr/>
          <p:nvPr/>
        </p:nvSpPr>
        <p:spPr>
          <a:xfrm>
            <a:off x="603504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Master Commercial Plan</a:t>
            </a:r>
            <a:endParaRPr lang="en-US" sz="850" dirty="0"/>
          </a:p>
        </p:txBody>
      </p:sp>
      <p:pic>
        <p:nvPicPr>
          <p:cNvPr id="57" name="pic5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21544"/>
            <a:ext cx="182880" cy="182880"/>
          </a:xfrm>
          <a:prstGeom prst="rect">
            <a:avLst/>
          </a:prstGeom>
        </p:spPr>
      </p:pic>
      <p:sp>
        <p:nvSpPr>
          <p:cNvPr id="58" name="bod58"/>
          <p:cNvSpPr/>
          <p:nvPr/>
        </p:nvSpPr>
        <p:spPr>
          <a:xfrm>
            <a:off x="603504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Initiative Plans — Mining, Pipeline, Powerline, Nuclear, 3X</a:t>
            </a:r>
            <a:endParaRPr lang="en-US" sz="850" dirty="0"/>
          </a:p>
        </p:txBody>
      </p:sp>
      <p:pic>
        <p:nvPicPr>
          <p:cNvPr id="59" name="pic5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469016"/>
            <a:ext cx="182880" cy="182880"/>
          </a:xfrm>
          <a:prstGeom prst="rect">
            <a:avLst/>
          </a:prstGeom>
        </p:spPr>
      </p:pic>
      <p:sp>
        <p:nvSpPr>
          <p:cNvPr id="60" name="bod60"/>
          <p:cNvSpPr/>
          <p:nvPr/>
        </p:nvSpPr>
        <p:spPr>
          <a:xfrm>
            <a:off x="603504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Execution Attack Plan  ·  Commercial Playbook</a:t>
            </a:r>
            <a:endParaRPr lang="en-US" sz="850" dirty="0"/>
          </a:p>
        </p:txBody>
      </p:sp>
      <p:sp>
        <p:nvSpPr>
          <p:cNvPr id="61" name="bg61"/>
          <p:cNvSpPr/>
          <p:nvPr/>
        </p:nvSpPr>
        <p:spPr>
          <a:xfrm>
            <a:off x="3218688" y="117043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2" name="hdr62"/>
          <p:cNvSpPr/>
          <p:nvPr/>
        </p:nvSpPr>
        <p:spPr>
          <a:xfrm>
            <a:off x="3218688" y="1170432"/>
            <a:ext cx="2834640" cy="457200"/>
          </a:xfrm>
          <a:prstGeom prst="rect">
            <a:avLst/>
          </a:prstGeom>
          <a:solidFill>
            <a:srgbClr val="161C60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3" name="ttl63"/>
          <p:cNvSpPr/>
          <p:nvPr/>
        </p:nvSpPr>
        <p:spPr>
          <a:xfrm>
            <a:off x="3310128" y="12252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Portals</a:t>
            </a:r>
            <a:endParaRPr lang="en-US" sz="1100" dirty="0"/>
          </a:p>
        </p:txBody>
      </p:sp>
      <p:sp>
        <p:nvSpPr>
          <p:cNvPr id="64" name="sub64"/>
          <p:cNvSpPr/>
          <p:nvPr/>
        </p:nvSpPr>
        <p:spPr>
          <a:xfrm>
            <a:off x="3310128" y="14264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D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HTML — open in any browser</a:t>
            </a:r>
            <a:endParaRPr lang="en-US" sz="850" dirty="0"/>
          </a:p>
        </p:txBody>
      </p:sp>
      <p:pic>
        <p:nvPicPr>
          <p:cNvPr id="65" name="pic6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774072"/>
            <a:ext cx="182880" cy="182880"/>
          </a:xfrm>
          <a:prstGeom prst="rect">
            <a:avLst/>
          </a:prstGeom>
        </p:spPr>
      </p:pic>
      <p:sp>
        <p:nvSpPr>
          <p:cNvPr id="66" name="bod66"/>
          <p:cNvSpPr/>
          <p:nvPr/>
        </p:nvSpPr>
        <p:spPr>
          <a:xfrm>
            <a:off x="3566160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Command Centre — 15 live sections</a:t>
            </a:r>
            <a:endParaRPr lang="en-US" sz="850" dirty="0"/>
          </a:p>
        </p:txBody>
      </p:sp>
      <p:pic>
        <p:nvPicPr>
          <p:cNvPr id="67" name="pic6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121544"/>
            <a:ext cx="182880" cy="182880"/>
          </a:xfrm>
          <a:prstGeom prst="rect">
            <a:avLst/>
          </a:prstGeom>
        </p:spPr>
      </p:pic>
      <p:sp>
        <p:nvSpPr>
          <p:cNvPr id="68" name="bod68"/>
          <p:cNvSpPr/>
          <p:nvPr/>
        </p:nvSpPr>
        <p:spPr>
          <a:xfrm>
            <a:off x="3566160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Management Hub — org, rhythm, meetings, docs</a:t>
            </a:r>
            <a:endParaRPr lang="en-US" sz="850" dirty="0"/>
          </a:p>
        </p:txBody>
      </p:sp>
      <p:pic>
        <p:nvPicPr>
          <p:cNvPr id="69" name="pic6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469016"/>
            <a:ext cx="182880" cy="182880"/>
          </a:xfrm>
          <a:prstGeom prst="rect">
            <a:avLst/>
          </a:prstGeom>
        </p:spPr>
      </p:pic>
      <p:sp>
        <p:nvSpPr>
          <p:cNvPr id="70" name="bod70"/>
          <p:cNvSpPr/>
          <p:nvPr/>
        </p:nvSpPr>
        <p:spPr>
          <a:xfrm>
            <a:off x="3566160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System Overview  ·  Conference Action Plan  ·  People &amp; Capacity Dashboard</a:t>
            </a:r>
            <a:endParaRPr lang="en-US" sz="850" dirty="0"/>
          </a:p>
        </p:txBody>
      </p:sp>
      <p:sp>
        <p:nvSpPr>
          <p:cNvPr id="71" name="bg71"/>
          <p:cNvSpPr/>
          <p:nvPr/>
        </p:nvSpPr>
        <p:spPr>
          <a:xfrm>
            <a:off x="6181344" y="117043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2" name="hdr72"/>
          <p:cNvSpPr/>
          <p:nvPr/>
        </p:nvSpPr>
        <p:spPr>
          <a:xfrm>
            <a:off x="6181344" y="1170432"/>
            <a:ext cx="2834640" cy="457200"/>
          </a:xfrm>
          <a:prstGeom prst="rect">
            <a:avLst/>
          </a:prstGeom>
          <a:solidFill>
            <a:srgbClr val="4B2067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3" name="ttl73"/>
          <p:cNvSpPr/>
          <p:nvPr/>
        </p:nvSpPr>
        <p:spPr>
          <a:xfrm>
            <a:off x="6272784" y="12252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&amp; Automation</a:t>
            </a:r>
            <a:endParaRPr lang="en-US" sz="1100" dirty="0"/>
          </a:p>
        </p:txBody>
      </p:sp>
      <p:sp>
        <p:nvSpPr>
          <p:cNvPr id="74" name="sub74"/>
          <p:cNvSpPr/>
          <p:nvPr/>
        </p:nvSpPr>
        <p:spPr>
          <a:xfrm>
            <a:off x="6272784" y="14264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AA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actuals.json + Python</a:t>
            </a:r>
            <a:endParaRPr lang="en-US" sz="850" dirty="0"/>
          </a:p>
        </p:txBody>
      </p:sp>
      <p:pic>
        <p:nvPicPr>
          <p:cNvPr id="75" name="pic7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774072"/>
            <a:ext cx="182880" cy="182880"/>
          </a:xfrm>
          <a:prstGeom prst="rect">
            <a:avLst/>
          </a:prstGeom>
        </p:spPr>
      </p:pic>
      <p:sp>
        <p:nvSpPr>
          <p:cNvPr id="76" name="bod76"/>
          <p:cNvSpPr/>
          <p:nvPr/>
        </p:nvSpPr>
        <p:spPr>
          <a:xfrm>
            <a:off x="6528816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actuals.json — 135-field data bridge</a:t>
            </a:r>
            <a:endParaRPr lang="en-US" sz="850" dirty="0"/>
          </a:p>
        </p:txBody>
      </p:sp>
      <p:pic>
        <p:nvPicPr>
          <p:cNvPr id="77" name="pic7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121544"/>
            <a:ext cx="182880" cy="182880"/>
          </a:xfrm>
          <a:prstGeom prst="rect">
            <a:avLst/>
          </a:prstGeom>
        </p:spPr>
      </p:pic>
      <p:sp>
        <p:nvSpPr>
          <p:cNvPr id="78" name="bod78"/>
          <p:cNvSpPr/>
          <p:nvPr/>
        </p:nvSpPr>
        <p:spPr>
          <a:xfrm>
            <a:off x="6528816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Deck generation script (python-pptx)</a:t>
            </a:r>
            <a:endParaRPr lang="en-US" sz="850" dirty="0"/>
          </a:p>
        </p:txBody>
      </p:sp>
      <p:pic>
        <p:nvPicPr>
          <p:cNvPr id="79" name="pic7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469016"/>
            <a:ext cx="182880" cy="182880"/>
          </a:xfrm>
          <a:prstGeom prst="rect">
            <a:avLst/>
          </a:prstGeom>
        </p:spPr>
      </p:pic>
      <p:sp>
        <p:nvSpPr>
          <p:cNvPr id="80" name="bod80"/>
          <p:cNvSpPr/>
          <p:nvPr/>
        </p:nvSpPr>
        <p:spPr>
          <a:xfrm>
            <a:off x="6528816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Utilisation Tracker  ·  Dynamics Q&amp;A Workbook</a:t>
            </a:r>
            <a:endParaRPr lang="en-US" sz="850" dirty="0"/>
          </a:p>
        </p:txBody>
      </p:sp>
      <p:sp>
        <p:nvSpPr>
          <p:cNvPr id="81" name="bg81"/>
          <p:cNvSpPr/>
          <p:nvPr/>
        </p:nvSpPr>
        <p:spPr>
          <a:xfrm>
            <a:off x="256032" y="318211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2" name="hdr82"/>
          <p:cNvSpPr/>
          <p:nvPr/>
        </p:nvSpPr>
        <p:spPr>
          <a:xfrm>
            <a:off x="256032" y="3182112"/>
            <a:ext cx="2834640" cy="457200"/>
          </a:xfrm>
          <a:prstGeom prst="rect">
            <a:avLst/>
          </a:prstGeom>
          <a:solidFill>
            <a:srgbClr val="196B24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3" name="ttl83"/>
          <p:cNvSpPr/>
          <p:nvPr/>
        </p:nvSpPr>
        <p:spPr>
          <a:xfrm>
            <a:off x="347472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Integration Guides</a:t>
            </a:r>
            <a:endParaRPr lang="en-US" sz="1100" dirty="0"/>
          </a:p>
        </p:txBody>
      </p:sp>
      <p:sp>
        <p:nvSpPr>
          <p:cNvPr id="84" name="sub84"/>
          <p:cNvSpPr/>
          <p:nvPr/>
        </p:nvSpPr>
        <p:spPr>
          <a:xfrm>
            <a:off x="347472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DA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Build guides for Éric</a:t>
            </a:r>
            <a:endParaRPr lang="en-US" sz="850" dirty="0"/>
          </a:p>
        </p:txBody>
      </p:sp>
      <p:pic>
        <p:nvPicPr>
          <p:cNvPr id="85" name="pic8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785752"/>
            <a:ext cx="182880" cy="182880"/>
          </a:xfrm>
          <a:prstGeom prst="rect">
            <a:avLst/>
          </a:prstGeom>
        </p:spPr>
      </p:pic>
      <p:sp>
        <p:nvSpPr>
          <p:cNvPr id="86" name="bod86"/>
          <p:cNvSpPr/>
          <p:nvPr/>
        </p:nvSpPr>
        <p:spPr>
          <a:xfrm>
            <a:off x="603504" y="3730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Salesforce Integration Guide</a:t>
            </a:r>
            <a:endParaRPr lang="en-US" sz="850" dirty="0"/>
          </a:p>
        </p:txBody>
      </p:sp>
      <p:pic>
        <p:nvPicPr>
          <p:cNvPr id="87" name="pic8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133224"/>
            <a:ext cx="182880" cy="182880"/>
          </a:xfrm>
          <a:prstGeom prst="rect">
            <a:avLst/>
          </a:prstGeom>
        </p:spPr>
      </p:pic>
      <p:sp>
        <p:nvSpPr>
          <p:cNvPr id="88" name="bod88"/>
          <p:cNvSpPr/>
          <p:nvPr/>
        </p:nvSpPr>
        <p:spPr>
          <a:xfrm>
            <a:off x="603504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Dynamics / BC Integration Guide</a:t>
            </a:r>
            <a:endParaRPr lang="en-US" sz="850" dirty="0"/>
          </a:p>
        </p:txBody>
      </p:sp>
      <p:pic>
        <p:nvPicPr>
          <p:cNvPr id="89" name="pic8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480696"/>
            <a:ext cx="182880" cy="182880"/>
          </a:xfrm>
          <a:prstGeom prst="rect">
            <a:avLst/>
          </a:prstGeom>
        </p:spPr>
      </p:pic>
      <p:sp>
        <p:nvSpPr>
          <p:cNvPr id="90" name="bod90"/>
          <p:cNvSpPr/>
          <p:nvPr/>
        </p:nvSpPr>
        <p:spPr>
          <a:xfrm>
            <a:off x="603504" y="4425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Go-Live Roadmap  ·  Conference Cost Guide  ·  PA Build Guide</a:t>
            </a:r>
            <a:endParaRPr lang="en-US" sz="850" dirty="0"/>
          </a:p>
        </p:txBody>
      </p:sp>
      <p:sp>
        <p:nvSpPr>
          <p:cNvPr id="91" name="bg91"/>
          <p:cNvSpPr/>
          <p:nvPr/>
        </p:nvSpPr>
        <p:spPr>
          <a:xfrm>
            <a:off x="3218688" y="318211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2" name="hdr92"/>
          <p:cNvSpPr/>
          <p:nvPr/>
        </p:nvSpPr>
        <p:spPr>
          <a:xfrm>
            <a:off x="3218688" y="3182112"/>
            <a:ext cx="2834640" cy="457200"/>
          </a:xfrm>
          <a:prstGeom prst="rect">
            <a:avLst/>
          </a:prstGeom>
          <a:solidFill>
            <a:srgbClr val="0D5050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3" name="ttl93"/>
          <p:cNvSpPr/>
          <p:nvPr/>
        </p:nvSpPr>
        <p:spPr>
          <a:xfrm>
            <a:off x="3310128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People Management</a:t>
            </a:r>
            <a:endParaRPr lang="en-US" sz="1100" dirty="0"/>
          </a:p>
        </p:txBody>
      </p:sp>
      <p:sp>
        <p:nvSpPr>
          <p:cNvPr id="94" name="sub94"/>
          <p:cNvSpPr/>
          <p:nvPr/>
        </p:nvSpPr>
        <p:spPr>
          <a:xfrm>
            <a:off x="3310128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D5D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Role Briefs + Rhythm Cards + Hub</a:t>
            </a:r>
            <a:endParaRPr lang="en-US" sz="850" dirty="0"/>
          </a:p>
        </p:txBody>
      </p:sp>
      <p:pic>
        <p:nvPicPr>
          <p:cNvPr id="95" name="pic9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3785752"/>
            <a:ext cx="182880" cy="182880"/>
          </a:xfrm>
          <a:prstGeom prst="rect">
            <a:avLst/>
          </a:prstGeom>
        </p:spPr>
      </p:pic>
      <p:sp>
        <p:nvSpPr>
          <p:cNvPr id="96" name="bod96"/>
          <p:cNvSpPr/>
          <p:nvPr/>
        </p:nvSpPr>
        <p:spPr>
          <a:xfrm>
            <a:off x="3566160" y="3730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16 Role Briefs — Commercial, Ops, PI, Finance (EIG)</a:t>
            </a:r>
            <a:endParaRPr lang="en-US" sz="850" dirty="0"/>
          </a:p>
        </p:txBody>
      </p:sp>
      <p:pic>
        <p:nvPicPr>
          <p:cNvPr id="97" name="pic9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4133224"/>
            <a:ext cx="182880" cy="182880"/>
          </a:xfrm>
          <a:prstGeom prst="rect">
            <a:avLst/>
          </a:prstGeom>
        </p:spPr>
      </p:pic>
      <p:sp>
        <p:nvSpPr>
          <p:cNvPr id="98" name="bod98"/>
          <p:cNvSpPr/>
          <p:nvPr/>
        </p:nvSpPr>
        <p:spPr>
          <a:xfrm>
            <a:off x="356616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 Weekly Rhythm Cards (HTML + Word)</a:t>
            </a:r>
            <a:endParaRPr lang="en-US" sz="850" dirty="0"/>
          </a:p>
        </p:txBody>
      </p:sp>
      <p:pic>
        <p:nvPicPr>
          <p:cNvPr id="99" name="pic9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4480696"/>
            <a:ext cx="182880" cy="182880"/>
          </a:xfrm>
          <a:prstGeom prst="rect">
            <a:avLst/>
          </a:prstGeom>
        </p:spPr>
      </p:pic>
      <p:sp>
        <p:nvSpPr>
          <p:cNvPr id="100" name="bod100"/>
          <p:cNvSpPr/>
          <p:nvPr/>
        </p:nvSpPr>
        <p:spPr>
          <a:xfrm>
            <a:off x="3566160" y="4425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Management Hub — single front door</a:t>
            </a:r>
            <a:endParaRPr lang="en-US" sz="850" dirty="0"/>
          </a:p>
        </p:txBody>
      </p:sp>
      <p:sp>
        <p:nvSpPr>
          <p:cNvPr id="101" name="bg101"/>
          <p:cNvSpPr/>
          <p:nvPr/>
        </p:nvSpPr>
        <p:spPr>
          <a:xfrm>
            <a:off x="6181344" y="318211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2" name="hdr102"/>
          <p:cNvSpPr/>
          <p:nvPr/>
        </p:nvSpPr>
        <p:spPr>
          <a:xfrm>
            <a:off x="6181344" y="3182112"/>
            <a:ext cx="2834640" cy="457200"/>
          </a:xfrm>
          <a:prstGeom prst="rect">
            <a:avLst/>
          </a:prstGeom>
          <a:solidFill>
            <a:srgbClr val="1A5CA8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3" name="ttl103"/>
          <p:cNvSpPr/>
          <p:nvPr/>
        </p:nvSpPr>
        <p:spPr>
          <a:xfrm>
            <a:off x="6272784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Add-On Modules</a:t>
            </a:r>
            <a:endParaRPr lang="en-US" sz="1100" dirty="0"/>
          </a:p>
        </p:txBody>
      </p:sp>
      <p:sp>
        <p:nvSpPr>
          <p:cNvPr id="104" name="sub104"/>
          <p:cNvSpPr/>
          <p:nvPr/>
        </p:nvSpPr>
        <p:spPr>
          <a:xfrm>
            <a:off x="6272784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CC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Post-Phase 4 enhancements</a:t>
            </a:r>
            <a:endParaRPr lang="en-US" sz="850" dirty="0"/>
          </a:p>
        </p:txBody>
      </p:sp>
      <p:pic>
        <p:nvPicPr>
          <p:cNvPr id="105" name="pic10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785752"/>
            <a:ext cx="182880" cy="182880"/>
          </a:xfrm>
          <a:prstGeom prst="rect">
            <a:avLst/>
          </a:prstGeom>
        </p:spPr>
      </p:pic>
      <p:sp>
        <p:nvSpPr>
          <p:cNvPr id="106" name="bod106"/>
          <p:cNvSpPr/>
          <p:nvPr/>
        </p:nvSpPr>
        <p:spPr>
          <a:xfrm>
            <a:off x="6528816" y="3730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Proposal Tracker — pipeline health by initiative</a:t>
            </a:r>
            <a:endParaRPr lang="en-US" sz="850" dirty="0"/>
          </a:p>
        </p:txBody>
      </p:sp>
      <p:pic>
        <p:nvPicPr>
          <p:cNvPr id="107" name="pic10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4133224"/>
            <a:ext cx="182880" cy="182880"/>
          </a:xfrm>
          <a:prstGeom prst="rect">
            <a:avLst/>
          </a:prstGeom>
        </p:spPr>
      </p:pic>
      <p:sp>
        <p:nvSpPr>
          <p:cNvPr id="108" name="bod108"/>
          <p:cNvSpPr/>
          <p:nvPr/>
        </p:nvSpPr>
        <p:spPr>
          <a:xfrm>
            <a:off x="6528816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Quote-to-Cash Reconciliation — SF vs BC</a:t>
            </a:r>
            <a:endParaRPr lang="en-US" sz="850" dirty="0"/>
          </a:p>
        </p:txBody>
      </p:sp>
      <p:pic>
        <p:nvPicPr>
          <p:cNvPr id="109" name="pic10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4480696"/>
            <a:ext cx="182880" cy="182880"/>
          </a:xfrm>
          <a:prstGeom prst="rect">
            <a:avLst/>
          </a:prstGeom>
        </p:spPr>
      </p:pic>
      <p:sp>
        <p:nvSpPr>
          <p:cNvPr id="110" name="bod110"/>
          <p:cNvSpPr/>
          <p:nvPr/>
        </p:nvSpPr>
        <p:spPr>
          <a:xfrm>
            <a:off x="6528816" y="4425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Nuclear Outage Calendar  ·  Conference ROI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the Commercial Team Gains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56032" y="1170432"/>
            <a:ext cx="2834640" cy="457200"/>
          </a:xfrm>
          <a:prstGeom prst="rect">
            <a:avLst/>
          </a:prstGeom>
          <a:solidFill>
            <a:srgbClr val="161C60"/>
          </a:solidFill>
          <a:ln w="12700">
            <a:solidFill>
              <a:srgbClr val="161C6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47472" y="12252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Eustace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4264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CEO North America</a:t>
            </a: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73736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dashboard for EIG/Eurazeo reporting — no manual prep</a:t>
            </a:r>
            <a:endParaRPr lang="en-US" sz="8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8483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 system visibility: 5 initiatives + base business in one view</a:t>
            </a:r>
            <a:endParaRPr lang="en-US" sz="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43230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bi-weekly deck ready to review and send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218688" y="117043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2"/>
          <p:cNvSpPr/>
          <p:nvPr/>
        </p:nvSpPr>
        <p:spPr>
          <a:xfrm>
            <a:off x="3218688" y="1170432"/>
            <a:ext cx="2834640" cy="457200"/>
          </a:xfrm>
          <a:prstGeom prst="rect">
            <a:avLst/>
          </a:prstGeom>
          <a:solidFill>
            <a:srgbClr val="00547A"/>
          </a:solidFill>
          <a:ln w="12700">
            <a:solidFill>
              <a:srgbClr val="00547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3"/>
          <p:cNvSpPr/>
          <p:nvPr/>
        </p:nvSpPr>
        <p:spPr>
          <a:xfrm>
            <a:off x="3310128" y="12252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Vinoth &amp; Max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310128" y="14264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Leads</a:t>
            </a:r>
            <a:endParaRPr lang="en-US" sz="8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73736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566160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Weekly KPI email before Monday meeting — always prepared</a:t>
            </a:r>
            <a:endParaRPr lang="en-US" sz="8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08483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66160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Personal playbook with account maps and sprint tasks</a:t>
            </a:r>
            <a:endParaRPr lang="en-US" sz="8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432304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566160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 progress visible without hunting data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6181344" y="117043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7" name="Shape 19"/>
          <p:cNvSpPr/>
          <p:nvPr/>
        </p:nvSpPr>
        <p:spPr>
          <a:xfrm>
            <a:off x="6181344" y="1170432"/>
            <a:ext cx="2834640" cy="45720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0"/>
          <p:cNvSpPr/>
          <p:nvPr/>
        </p:nvSpPr>
        <p:spPr>
          <a:xfrm>
            <a:off x="6272784" y="12252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Mathieu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272784" y="14264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EVP</a:t>
            </a:r>
            <a:endParaRPr lang="en-US" sz="8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73736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528816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BC connector removes monthly manual reporting</a:t>
            </a:r>
            <a:endParaRPr lang="en-US" sz="8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084832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528816" y="20665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Budget vs actual visible in real time</a:t>
            </a:r>
            <a:endParaRPr lang="en-US" sz="85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2432304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528816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5-minute monthly input replaces hour-long data compilation</a:t>
            </a:r>
            <a:endParaRPr lang="en-US" sz="850" dirty="0"/>
          </a:p>
        </p:txBody>
      </p:sp>
      <p:sp>
        <p:nvSpPr>
          <p:cNvPr id="36" name="Shape 25"/>
          <p:cNvSpPr/>
          <p:nvPr/>
        </p:nvSpPr>
        <p:spPr>
          <a:xfrm>
            <a:off x="256032" y="318211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7" name="Shape 26"/>
          <p:cNvSpPr/>
          <p:nvPr/>
        </p:nvSpPr>
        <p:spPr>
          <a:xfrm>
            <a:off x="256032" y="3182112"/>
            <a:ext cx="2834640" cy="457200"/>
          </a:xfrm>
          <a:prstGeom prst="rect">
            <a:avLst/>
          </a:prstGeom>
          <a:solidFill>
            <a:srgbClr val="4B2067"/>
          </a:solidFill>
          <a:ln w="12700">
            <a:solidFill>
              <a:srgbClr val="4B206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 27"/>
          <p:cNvSpPr/>
          <p:nvPr/>
        </p:nvSpPr>
        <p:spPr>
          <a:xfrm>
            <a:off x="347472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Éric Carmichael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347472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Software Development Manager</a:t>
            </a:r>
            <a:endParaRPr lang="en-US" sz="85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749040"/>
            <a:ext cx="182880" cy="18288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03504" y="3730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~13 hours of build time for full system connectivity</a:t>
            </a:r>
            <a:endParaRPr lang="en-US" sz="85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096512"/>
            <a:ext cx="182880" cy="18288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03504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 7 tasks fully documented with step-by-step guides</a:t>
            </a:r>
            <a:endParaRPr lang="en-US" sz="85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443984"/>
            <a:ext cx="182880" cy="18288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03504" y="4425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design decisions required — pure implementation</a:t>
            </a:r>
            <a:endParaRPr lang="en-US" sz="850" dirty="0"/>
          </a:p>
        </p:txBody>
      </p:sp>
      <p:sp>
        <p:nvSpPr>
          <p:cNvPr id="46" name="Shape 32"/>
          <p:cNvSpPr/>
          <p:nvPr/>
        </p:nvSpPr>
        <p:spPr>
          <a:xfrm>
            <a:off x="3218688" y="3182112"/>
            <a:ext cx="28346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7" name="Shape 33"/>
          <p:cNvSpPr/>
          <p:nvPr/>
        </p:nvSpPr>
        <p:spPr>
          <a:xfrm>
            <a:off x="3218688" y="3182112"/>
            <a:ext cx="2834640" cy="45720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34"/>
          <p:cNvSpPr/>
          <p:nvPr/>
        </p:nvSpPr>
        <p:spPr>
          <a:xfrm>
            <a:off x="3310128" y="32369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Olivier Marcotte</a:t>
            </a:r>
            <a:endParaRPr lang="en-US" sz="1100" dirty="0"/>
          </a:p>
        </p:txBody>
      </p:sp>
      <p:sp>
        <p:nvSpPr>
          <p:cNvPr id="49" name="Text 35"/>
          <p:cNvSpPr/>
          <p:nvPr/>
        </p:nvSpPr>
        <p:spPr>
          <a:xfrm>
            <a:off x="3310128" y="343814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DDDEE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CRO</a:t>
            </a:r>
            <a:endParaRPr lang="en-US" sz="850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3749040"/>
            <a:ext cx="182880" cy="182880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3566160" y="37307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Nuclear/OPG initiative tracked in real time</a:t>
            </a:r>
            <a:endParaRPr lang="en-US" sz="85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4096512"/>
            <a:ext cx="182880" cy="18288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3566160" y="40782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Gate decision visibility across all 5 initiatives</a:t>
            </a:r>
            <a:endParaRPr lang="en-US" sz="85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4443984"/>
            <a:ext cx="182880" cy="18288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3566160" y="44256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D10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meeting health monitored automatically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C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040"/>
          </a:solidFill>
          <a:ln w="12700">
            <a:solidFill>
              <a:srgbClr val="0D104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50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1011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$92.8M by 2030.</a:t>
            </a:r>
            <a:endParaRPr lang="en-US" sz="3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system makes it visible.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0" y="1920240"/>
            <a:ext cx="4572000" cy="0"/>
          </a:xfrm>
          <a:prstGeom prst="line">
            <a:avLst/>
          </a:prstGeom>
          <a:noFill/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 Plans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Now Live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97480" y="20848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110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69748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Fields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Auto-Updated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20848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Deck Slides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13 Auto-Populate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29400" y="20848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860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62940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Weeks to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Full Go-Live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3246120"/>
            <a:ext cx="4572000" cy="0"/>
          </a:xfrm>
          <a:prstGeom prst="line">
            <a:avLst/>
          </a:prstGeom>
          <a:noFill/>
          <a:ln w="12700">
            <a:solidFill>
              <a:srgbClr val="C9860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914400" y="340156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150" i="1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initiative plans define where we are going.</a:t>
            </a:r>
            <a:endParaRPr lang="en-US" sz="115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150" i="1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Command Centre shows us whether we are getting there.</a:t>
            </a:r>
            <a:endParaRPr lang="en-US" sz="115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150" i="1" dirty="0">
                <a:solidFill>
                  <a:srgbClr val="8899C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integrations make it automatic.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55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Jon Eustace, CEO North America  ·  Ekoscan Integrity Group  ·  April 2026 ✅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2022</Words>
  <Application>Microsoft Office PowerPoint</Application>
  <PresentationFormat>On-screen Show (16:9)</PresentationFormat>
  <Paragraphs>371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Barlow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 Services Commercial Management System</dc:title>
  <dc:subject>PptxGenJS Presentation</dc:subject>
  <dc:creator>Jon Eustace</dc:creator>
  <cp:lastModifiedBy>Jon EUSTACE</cp:lastModifiedBy>
  <cp:revision>3</cp:revision>
  <dcterms:created xsi:type="dcterms:W3CDTF">2026-04-18T19:44:00Z</dcterms:created>
  <dcterms:modified xsi:type="dcterms:W3CDTF">2026-04-18T20:05:30Z</dcterms:modified>
</cp:coreProperties>
</file>