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0" y="0"/>
            <a:ext cx="45720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640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0A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EKOSCAN INTEGRITY GROUP  ·  BU SERVICES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Viewing Sequence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Master Commercial Plan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Fully Integrated System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these files in sequence to understand where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started, what we built, and where we are today.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 Eustace  ·  CEO North America  ·  April 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92040" y="914400"/>
            <a:ext cx="3931920" cy="1097280"/>
          </a:xfrm>
          <a:prstGeom prst="rect">
            <a:avLst/>
          </a:prstGeom>
          <a:solidFill>
            <a:srgbClr val="0A1F5C"/>
          </a:solidFill>
          <a:ln w="12700">
            <a:solidFill>
              <a:srgbClr val="2D4A7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92040" y="914400"/>
            <a:ext cx="54864" cy="10972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74920" y="98755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074920" y="1591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2240280"/>
            <a:ext cx="3931920" cy="1097280"/>
          </a:xfrm>
          <a:prstGeom prst="rect">
            <a:avLst/>
          </a:prstGeom>
          <a:solidFill>
            <a:srgbClr val="0A1F5C"/>
          </a:solidFill>
          <a:ln w="12700">
            <a:solidFill>
              <a:srgbClr val="2D4A7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892040" y="2240280"/>
            <a:ext cx="54864" cy="10972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74920" y="23134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074920" y="29169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in sequence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3566160"/>
            <a:ext cx="3931920" cy="1097280"/>
          </a:xfrm>
          <a:prstGeom prst="rect">
            <a:avLst/>
          </a:prstGeom>
          <a:solidFill>
            <a:srgbClr val="0A1F5C"/>
          </a:solidFill>
          <a:ln w="12700">
            <a:solidFill>
              <a:srgbClr val="2D4A7A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892040" y="3566160"/>
            <a:ext cx="54864" cy="109728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74920" y="363931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074920" y="42428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files in the system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2A"/>
          </a:solidFill>
          <a:ln w="12700">
            <a:solidFill>
              <a:srgbClr val="060E2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·  Internal Use Only  ·  April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28600" y="137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SEQUENCE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8600" y="38404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phases — read in order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024128"/>
            <a:ext cx="8778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" y="1024128"/>
            <a:ext cx="54864" cy="566928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92608" y="1161288"/>
            <a:ext cx="292608" cy="292608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92608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76656" y="11155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98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6656" y="1298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 and why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37560" y="1188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Commercial Plan  ·  Initiative Plans (×5)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73552" y="1133856"/>
            <a:ext cx="0" cy="347472"/>
          </a:xfrm>
          <a:prstGeom prst="line">
            <a:avLst/>
          </a:prstGeom>
          <a:noFill/>
          <a:ln w="9525">
            <a:solidFill>
              <a:srgbClr val="DDE3E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82880" y="1682496"/>
            <a:ext cx="8778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82880" y="1682496"/>
            <a:ext cx="54864" cy="566928"/>
          </a:xfrm>
          <a:prstGeom prst="rect">
            <a:avLst/>
          </a:prstGeom>
          <a:solidFill>
            <a:srgbClr val="0A3A6B"/>
          </a:solidFill>
          <a:ln w="12700">
            <a:solidFill>
              <a:srgbClr val="0A3A6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92608" y="1819656"/>
            <a:ext cx="292608" cy="292608"/>
          </a:xfrm>
          <a:prstGeom prst="rect">
            <a:avLst/>
          </a:prstGeom>
          <a:solidFill>
            <a:srgbClr val="0A3A6B"/>
          </a:solidFill>
          <a:ln w="12700">
            <a:solidFill>
              <a:srgbClr val="0A3A6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92608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" y="17739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PLANS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9568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detailed playbook for each growth track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37560" y="1847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Mining NDT  ·  Pipeline DA  ·  Powerline  ·  Nuclear/OPG  ·  3X Composite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73552" y="1792224"/>
            <a:ext cx="0" cy="347472"/>
          </a:xfrm>
          <a:prstGeom prst="line">
            <a:avLst/>
          </a:prstGeom>
          <a:noFill/>
          <a:ln w="9525">
            <a:solidFill>
              <a:srgbClr val="DDE3E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82880" y="2340864"/>
            <a:ext cx="8778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82880" y="2340864"/>
            <a:ext cx="54864" cy="56692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92608" y="2478024"/>
            <a:ext cx="292608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92608" y="2478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6656" y="24323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STRUCTURE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6151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does what — roles, rhythms, org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37560" y="2505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Attack Plan  ·  Role Briefs (×16)  ·  Weekly Rhythm Cards  ·  Management Hub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73552" y="2450592"/>
            <a:ext cx="0" cy="347472"/>
          </a:xfrm>
          <a:prstGeom prst="line">
            <a:avLst/>
          </a:prstGeom>
          <a:noFill/>
          <a:ln w="9525">
            <a:solidFill>
              <a:srgbClr val="DDE3E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82880" y="2999232"/>
            <a:ext cx="8778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82880" y="2999232"/>
            <a:ext cx="54864" cy="56692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292608" y="3136392"/>
            <a:ext cx="292608" cy="2926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92608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" y="30906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0A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SYSTEM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273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intelligence layer built on top of it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37560" y="31638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 Deck  ·  Command Centre  ·  People &amp; Capacity Dashboard  ·  System Overview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73552" y="3108960"/>
            <a:ext cx="0" cy="347472"/>
          </a:xfrm>
          <a:prstGeom prst="line">
            <a:avLst/>
          </a:prstGeom>
          <a:noFill/>
          <a:ln w="9525">
            <a:solidFill>
              <a:srgbClr val="DDE3E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82880" y="3657600"/>
            <a:ext cx="8778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82880" y="3657600"/>
            <a:ext cx="54864" cy="5669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292608" y="3794760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92608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6656" y="3749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BUILD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39319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data gets connected — Éric's domain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337560" y="38221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Roadmap  ·  Eric Meeting Agenda  ·  CRM Backfill Tracker  ·  PA Build Guide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273552" y="3767328"/>
            <a:ext cx="0" cy="347472"/>
          </a:xfrm>
          <a:prstGeom prst="line">
            <a:avLst/>
          </a:prstGeom>
          <a:noFill/>
          <a:ln w="9525">
            <a:solidFill>
              <a:srgbClr val="DDE3EF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182880" y="4315968"/>
            <a:ext cx="8778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182880" y="4315968"/>
            <a:ext cx="54864" cy="56692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292608" y="4453128"/>
            <a:ext cx="292608" cy="29260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292608" y="4453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6656" y="440740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0D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&amp; OPERATIONS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76656" y="45902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the system week to week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337560" y="4480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Hub  ·  Next Phases Roadmap  ·  Eurazeo Pack Template  ·  Team Rollout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273552" y="4425696"/>
            <a:ext cx="0" cy="347472"/>
          </a:xfrm>
          <a:prstGeom prst="line">
            <a:avLst/>
          </a:prstGeom>
          <a:noFill/>
          <a:ln w="9525">
            <a:solidFill>
              <a:srgbClr val="DDE3EF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Services  ·  Viewing Sequence Guide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11480" y="201168"/>
            <a:ext cx="292608" cy="292608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201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" y="2377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98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Master Commercial Plan is the foundation. Read it first — everything else is the system built to execute 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664208"/>
            <a:ext cx="416052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11480" y="1664208"/>
            <a:ext cx="4160520" cy="45720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21208" y="1792224"/>
            <a:ext cx="292608" cy="292608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21208" y="1792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05072" y="1792224"/>
            <a:ext cx="457200" cy="20116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005072" y="17922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86968" y="17922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Commercial Plan v8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" y="2139696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Master_Commercial_Plan_v8.html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21208" y="2359152"/>
            <a:ext cx="395935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$92.8M 2030 strategy. Five growth initiatives, Stage 1 (revenue) and Stage 2 (margin/workforce). The document Eurazeo and EIG have committed to funding.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21208" y="4352544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45–60 min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800600" y="1664208"/>
            <a:ext cx="416052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800600" y="1664208"/>
            <a:ext cx="4160520" cy="45720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910328" y="1792224"/>
            <a:ext cx="292608" cy="292608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910328" y="1792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394192" y="1792224"/>
            <a:ext cx="457200" cy="201168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394192" y="17922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276088" y="179222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Services Transformation Deck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10328" y="2139696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BU_Services_Transformation_Deck_v5.pptx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910328" y="2359152"/>
            <a:ext cx="3959352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executive summary of the entire system. How the initiative plans connect to Salesforce, BC, and the Command Centre. 14 slides. Show this to anyone who needs the quick version.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10328" y="4352544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10 min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2A"/>
          </a:solidFill>
          <a:ln w="12700">
            <a:solidFill>
              <a:srgbClr val="060E2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of 6  ·  BU Services Viewing Sequence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3A6B"/>
          </a:solidFill>
          <a:ln w="12700">
            <a:solidFill>
              <a:srgbClr val="0A3A6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8600" y="164592"/>
            <a:ext cx="292608" cy="292608"/>
          </a:xfrm>
          <a:prstGeom prst="rect">
            <a:avLst/>
          </a:prstGeom>
          <a:solidFill>
            <a:srgbClr val="0A3A6B"/>
          </a:solidFill>
          <a:ln w="12700">
            <a:solidFill>
              <a:srgbClr val="0A3A6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8600" y="164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76072" y="2011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PLANS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plan per initiative — read the ones relevant to your role.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2880" y="987552"/>
            <a:ext cx="166420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82880" y="987552"/>
            <a:ext cx="1664208" cy="4572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82880" y="987552"/>
            <a:ext cx="1664208" cy="50292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74320" y="1005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26187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Mining NDT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16276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" y="1627632"/>
            <a:ext cx="502920" cy="20116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16276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74320" y="18836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NDT_Mining_Commercial_Plan_v4.html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74320" y="2231136"/>
            <a:ext cx="1463040" cy="0"/>
          </a:xfrm>
          <a:prstGeom prst="line">
            <a:avLst/>
          </a:prstGeom>
          <a:noFill/>
          <a:ln w="6350">
            <a:solidFill>
              <a:srgbClr val="DDE3E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74320" y="2286000"/>
            <a:ext cx="1508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ECA, robotic UT, PAUT. 16 active accounts. Owner: Vinoth / Emmanuel / Francis (technical).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956816" y="987552"/>
            <a:ext cx="166420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956816" y="987552"/>
            <a:ext cx="1664208" cy="45720"/>
          </a:xfrm>
          <a:prstGeom prst="rect">
            <a:avLst/>
          </a:prstGeom>
          <a:solidFill>
            <a:srgbClr val="0A3A6B"/>
          </a:solidFill>
          <a:ln w="12700">
            <a:solidFill>
              <a:srgbClr val="0A3A6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956816" y="987552"/>
            <a:ext cx="1664208" cy="502920"/>
          </a:xfrm>
          <a:prstGeom prst="rect">
            <a:avLst/>
          </a:prstGeom>
          <a:solidFill>
            <a:srgbClr val="0A3A6B"/>
          </a:solidFill>
          <a:ln w="12700">
            <a:solidFill>
              <a:srgbClr val="0A3A6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048256" y="1005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048256" y="126187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48256" y="16276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368296" y="1627632"/>
            <a:ext cx="502920" cy="20116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368296" y="16276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048256" y="18836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PI_Commercial_Plan_v2.html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2048256" y="2231136"/>
            <a:ext cx="1463040" cy="0"/>
          </a:xfrm>
          <a:prstGeom prst="line">
            <a:avLst/>
          </a:prstGeom>
          <a:noFill/>
          <a:ln w="6350">
            <a:solidFill>
              <a:srgbClr val="DDE3E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048256" y="2286000"/>
            <a:ext cx="1508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Carlton team. Pembina &amp; Tidewater. $30M 5yr. Owner: Rick Carlton / Francis (technical).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730752" y="987552"/>
            <a:ext cx="166420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730752" y="987552"/>
            <a:ext cx="1664208" cy="45720"/>
          </a:xfrm>
          <a:prstGeom prst="rect">
            <a:avLst/>
          </a:prstGeom>
          <a:solidFill>
            <a:srgbClr val="4B1D8F"/>
          </a:solidFill>
          <a:ln w="12700">
            <a:solidFill>
              <a:srgbClr val="4B1D8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730752" y="987552"/>
            <a:ext cx="1664208" cy="502920"/>
          </a:xfrm>
          <a:prstGeom prst="rect">
            <a:avLst/>
          </a:prstGeom>
          <a:solidFill>
            <a:srgbClr val="4B1D8F"/>
          </a:solidFill>
          <a:ln w="12700">
            <a:solidFill>
              <a:srgbClr val="4B1D8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822192" y="1005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22192" y="126187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Powerline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22192" y="16276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B1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42232" y="1627632"/>
            <a:ext cx="502920" cy="20116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142232" y="16276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822192" y="18836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Powerline_Commercial_Plan.html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3822192" y="2231136"/>
            <a:ext cx="1463040" cy="0"/>
          </a:xfrm>
          <a:prstGeom prst="line">
            <a:avLst/>
          </a:prstGeom>
          <a:noFill/>
          <a:ln w="6350">
            <a:solidFill>
              <a:srgbClr val="DDE3E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822192" y="2286000"/>
            <a:ext cx="1508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LineCore, LineOhm, LineRay. HQ pilot. $10.2M. Owner: Mathieu / Vinoth / Francis (technical).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504688" y="987552"/>
            <a:ext cx="166420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5504688" y="987552"/>
            <a:ext cx="1664208" cy="45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5504688" y="987552"/>
            <a:ext cx="1664208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596128" y="1005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96128" y="126187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Nuclear/OPG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96128" y="16276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916168" y="1627632"/>
            <a:ext cx="502920" cy="201168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916168" y="16276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596128" y="18836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Nuclear_OPG_Commercial_Plan_v2.pptx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5596128" y="2231136"/>
            <a:ext cx="1463040" cy="0"/>
          </a:xfrm>
          <a:prstGeom prst="line">
            <a:avLst/>
          </a:prstGeom>
          <a:noFill/>
          <a:ln w="6350">
            <a:solidFill>
              <a:srgbClr val="DDE3EF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5596128" y="2286000"/>
            <a:ext cx="1508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 tender Q3 2026. Two tracks: OPG (Vinoth) + Aecon (Olivier). $47.9M 5yr.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278624" y="987552"/>
            <a:ext cx="166420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278624" y="987552"/>
            <a:ext cx="1664208" cy="45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7278624" y="987552"/>
            <a:ext cx="1664208" cy="5029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7370064" y="1005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70064" y="126187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 Composite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370064" y="16276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690104" y="1627632"/>
            <a:ext cx="502920" cy="201168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7690104" y="162763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370064" y="18836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3X_Composite_Repair_Commercial_Plan_v2.pptx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7370064" y="2231136"/>
            <a:ext cx="1463040" cy="0"/>
          </a:xfrm>
          <a:prstGeom prst="line">
            <a:avLst/>
          </a:prstGeom>
          <a:noFill/>
          <a:ln w="6350">
            <a:solidFill>
              <a:srgbClr val="DDE3EF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7370064" y="2286000"/>
            <a:ext cx="1508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Inspect-find-fix loop. ABSA re-submission Q2. $11.4M. Owner: Vinoth / Emmanuel / Francis.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of 6  ·  BU Services Viewing Sequence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11480" y="201168"/>
            <a:ext cx="292608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201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" y="2377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STRUCTURE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does what, for whom, and when.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after the commercial plan — this is how the plan gets executed through people.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389888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11480" y="1389888"/>
            <a:ext cx="416052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21208" y="1517904"/>
            <a:ext cx="292608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21208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05072" y="1517904"/>
            <a:ext cx="457200" cy="20116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005072" y="15179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86968" y="15179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Attack Plan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" y="1865376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Execution_Attack_Plan_v1.html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21208" y="2084832"/>
            <a:ext cx="39593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tables for all 5 initiatives. Gate milestones. Risk register. Contingency plans. Who owns what gate.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3127248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11480" y="3127248"/>
            <a:ext cx="416052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21208" y="3255264"/>
            <a:ext cx="292608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21208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05072" y="3255264"/>
            <a:ext cx="457200" cy="20116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005072" y="32552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86968" y="32552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Hub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" y="3602736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BU_Services_Management_Hub.html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21208" y="3822192"/>
            <a:ext cx="39593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org chart + role brief links + weekly rhythm + meeting hub. The single front door for everything people-related.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00600" y="1389888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800600" y="1389888"/>
            <a:ext cx="416052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910328" y="1517904"/>
            <a:ext cx="292608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910328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394192" y="1517904"/>
            <a:ext cx="457200" cy="2011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394192" y="15179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276088" y="15179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Briefs (×16)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10328" y="1865376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BU_Services_[Name]_Role_Brief.docx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910328" y="2084832"/>
            <a:ext cx="39593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 person. Mandate, initiatives, weekly rhythm, key protocols. Distribute printed at rollout.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00600" y="3127248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800600" y="3127248"/>
            <a:ext cx="4160520" cy="45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910328" y="3255264"/>
            <a:ext cx="292608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910328" y="3255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394192" y="3255264"/>
            <a:ext cx="457200" cy="20116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8394192" y="32552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276088" y="32552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Rhythm Cards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10328" y="3602736"/>
            <a:ext cx="3959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BU_Services_*_Team_Rhythm.html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10328" y="3822192"/>
            <a:ext cx="395935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Commercial, Ops, and PI team day-by-day rhythm cards. Interactive HTML and Word versions.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2A"/>
          </a:solidFill>
          <a:ln w="12700">
            <a:solidFill>
              <a:srgbClr val="060E2A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of 6  ·  BU Services Viewing Sequence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8600" y="164592"/>
            <a:ext cx="292608" cy="2926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8600" y="164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76072" y="2011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A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intelligence layer — what gets built on top of the plan.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2880" y="1024128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82880" y="1024128"/>
            <a:ext cx="4251960" cy="45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92608" y="1152144"/>
            <a:ext cx="292608" cy="2926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92608" y="1152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67912" y="1152144"/>
            <a:ext cx="457200" cy="20116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867912" y="11521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58368" y="11521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Centre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" y="1499616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BU_Services_Command_Centre.html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92608" y="1719072"/>
            <a:ext cx="4050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dashboard. 15 sections. Opens from SharePoint. Reads actuals.json every load. This is the scoreboard.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2608" y="2432304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Browse live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82880" y="2807208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82880" y="2807208"/>
            <a:ext cx="4251960" cy="45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92608" y="2935224"/>
            <a:ext cx="292608" cy="2926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92608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67912" y="2935224"/>
            <a:ext cx="457200" cy="20116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867912" y="29352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58368" y="29352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Map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3282696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BU_Services_Systems_Map.html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92608" y="3502152"/>
            <a:ext cx="4050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Command Centre, Management Hub, and Meeting Hub connect. Data flow. Document index. Start here if confused about how anything links.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2608" y="4215384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10 min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17720" y="1024128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617720" y="1024128"/>
            <a:ext cx="4251960" cy="45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727448" y="1152144"/>
            <a:ext cx="292608" cy="2926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727448" y="1152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02752" y="1152144"/>
            <a:ext cx="457200" cy="20116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302752" y="115214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093208" y="11521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27448" y="1499616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BU_Services_System_Overview.html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727448" y="1719072"/>
            <a:ext cx="4050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master reference document. All 110 actuals.json fields documented. Every file listed. Role brief descriptions. What is complete vs. pending.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27448" y="2432304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20 min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617720" y="2807208"/>
            <a:ext cx="4251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4617720" y="2807208"/>
            <a:ext cx="4251960" cy="4572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727448" y="2935224"/>
            <a:ext cx="292608" cy="2926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727448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302752" y="2935224"/>
            <a:ext cx="457200" cy="20116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8302752" y="29352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093208" y="29352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actuals.json Reference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27448" y="3282696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BU_Services_actuals_json_Reference.html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727448" y="3502152"/>
            <a:ext cx="4050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field in the data bridge — who writes it, what it does, what happens if it's wrong. Keep open when building the PA flow.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727448" y="4215384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Reference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of 6  ·  BU Services Viewing Sequence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11480" y="201168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201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" y="2377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BUILD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Salesforce, BC, and SharePoint get connected.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Éric Carmichael's domain. ~13 hours of build. Every task is documented.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353312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11480" y="1353312"/>
            <a:ext cx="269748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21208" y="1481328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21208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42032" y="1481328"/>
            <a:ext cx="457200" cy="20116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542032" y="1481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86968" y="14813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Roadmap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" y="182880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BU_Services_GoLive_Roadmap.html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21208" y="2048256"/>
            <a:ext cx="2496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steps, prioritised, with time estimates. The full build plan from SharePoint upload to fully live system.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3072384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11480" y="3072384"/>
            <a:ext cx="269748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21208" y="3200400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21208" y="3200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42032" y="3200400"/>
            <a:ext cx="457200" cy="20116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542032" y="32004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86968" y="3200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 Go-Live File Map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" y="3547872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BU_Services_Eric_GoLive_File_Map.html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21208" y="3767328"/>
            <a:ext cx="2496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file Éric needs, by step. Exact filenames, what each one is, what he does with it.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91840" y="1353312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291840" y="1353312"/>
            <a:ext cx="269748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401568" y="1481328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401568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22392" y="1481328"/>
            <a:ext cx="457200" cy="201168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422392" y="1481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67328" y="14813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Eric Meeting Agenda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01568" y="182880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BU_Services_Eric_Meeting_Agenda_v6.pptx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401568" y="2048256"/>
            <a:ext cx="2496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technical briefing Jon uses to walk Éric through the full system. 18 slides covering all 7 tasks.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91840" y="3072384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3291840" y="3072384"/>
            <a:ext cx="269748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3401568" y="3200400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401568" y="3200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22392" y="3200400"/>
            <a:ext cx="457200" cy="2011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422392" y="32004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767328" y="3200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 Build Guide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401568" y="3547872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BU_Services_Power_Automate_Build_Guide.docx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401568" y="3767328"/>
            <a:ext cx="2496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Sunday 7PM PA flow — all SOQL queries, step-by-step structure, actuals.json field mapping, testing checklist.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72200" y="1353312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172200" y="1353312"/>
            <a:ext cx="269748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281928" y="1481328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281928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302752" y="1481328"/>
            <a:ext cx="457200" cy="20116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8302752" y="1481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647688" y="14813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Backfill Tracker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81928" y="1828800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BU_Services_Salesforce_Backfill_Tracker.html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281928" y="2048256"/>
            <a:ext cx="2496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checklist. Tag all 2026 the CRM opps with BU_Initiative__c before the first PA run.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172200" y="3072384"/>
            <a:ext cx="269748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6172200" y="3072384"/>
            <a:ext cx="269748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6281928" y="3200400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281928" y="3200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302752" y="3200400"/>
            <a:ext cx="457200" cy="2011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8302752" y="32004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647688" y="3200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Integration Guide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81928" y="3547872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BU_Services_Salesforce_Integration_Guide.docx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281928" y="3767328"/>
            <a:ext cx="2496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setup, SOQL queries, region field, Assigned_Technicians__c. Éric's primary Salesforce reference.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2A"/>
          </a:solidFill>
          <a:ln w="12700">
            <a:solidFill>
              <a:srgbClr val="060E2A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of 6  ·  BU Services Viewing Sequence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8600" y="164592"/>
            <a:ext cx="292608" cy="29260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228600" y="164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76072" y="2011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D5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&amp; OPERATIONS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" y="457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the system — team, meetings, reporting, and what comes next.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82880" y="987552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82880" y="987552"/>
            <a:ext cx="2834640" cy="45720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92608" y="1115568"/>
            <a:ext cx="292608" cy="29260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92608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1115568"/>
            <a:ext cx="457200" cy="20116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450592" y="11155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58368" y="11155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Hub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" y="146304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BU_Services_Meeting_Hub.html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92608" y="1682496"/>
            <a:ext cx="2633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standing agendas + 2026 Gate Review schedule. The live rhythm reference for every recurring meeting.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2608" y="239572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Reference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82880" y="2770632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82880" y="2770632"/>
            <a:ext cx="2834640" cy="45720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92608" y="2898648"/>
            <a:ext cx="292608" cy="29260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92608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50592" y="2898648"/>
            <a:ext cx="457200" cy="201168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450592" y="2898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58368" y="2898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Rollout Deck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" y="324612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BU_Services_Team_Rollout.pptx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92608" y="3465576"/>
            <a:ext cx="2633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Jon's 10-slide address to the full team. Delivery sequence from acquisition context to two-thing ask.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2608" y="417880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Present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182112" y="987552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182112" y="987552"/>
            <a:ext cx="2834640" cy="45720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291840" y="1115568"/>
            <a:ext cx="292608" cy="29260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291840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49824" y="1115568"/>
            <a:ext cx="457200" cy="2011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449824" y="11155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657600" y="11155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Rollout Speech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91840" y="146304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BU_Services_CEO_Rollout_Speech.docx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291840" y="1682496"/>
            <a:ext cx="2633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scripted speech with speaker notes. Everything Jon says, section by section, with amber delivery cues.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291840" y="239572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Prep 30 min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182112" y="2770632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3182112" y="2770632"/>
            <a:ext cx="2834640" cy="45720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3291840" y="2898648"/>
            <a:ext cx="292608" cy="29260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291840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49824" y="2898648"/>
            <a:ext cx="457200" cy="20116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449824" y="2898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657600" y="2898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One-Pager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91840" y="324612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BU_Services_Onboarding_One_Pager.html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291840" y="3465576"/>
            <a:ext cx="2633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team member overview — 5 min read. All five initiatives, the team, portals, weekly rhythm, 5 rules.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91840" y="417880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5 min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181344" y="987552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6181344" y="987552"/>
            <a:ext cx="2834640" cy="45720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6291072" y="1115568"/>
            <a:ext cx="292608" cy="29260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6291072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449056" y="1115568"/>
            <a:ext cx="457200" cy="2011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8449056" y="11155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656832" y="11155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Eurazeo Quarterly Pack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291072" y="146304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BU_Services_Eurazeo_Quarterly_Pack_Template.docx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291072" y="1682496"/>
            <a:ext cx="2633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reporting template. 6 pre-structured sections. Jeremy Irwin + Charles Recape fill in numbers.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291072" y="239572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Quarterly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181344" y="2770632"/>
            <a:ext cx="283464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6181344" y="2770632"/>
            <a:ext cx="2834640" cy="45720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6291072" y="2898648"/>
            <a:ext cx="292608" cy="29260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291072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449056" y="2898648"/>
            <a:ext cx="457200" cy="201168"/>
          </a:xfrm>
          <a:prstGeom prst="rect">
            <a:avLst/>
          </a:prstGeom>
          <a:solidFill>
            <a:srgbClr val="1A5CA8"/>
          </a:solidFill>
          <a:ln w="12700">
            <a:solidFill>
              <a:srgbClr val="1A5CA8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8449056" y="2898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656832" y="2898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Phases Roadmap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291072" y="324612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BU_Services_Next_Phases_Roadmap_v2.pptx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291072" y="3465576"/>
            <a:ext cx="2633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84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phases of commercial intelligence beyond go-live. Account intelligence, predictive forecasting, client portal.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291072" y="417880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Future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 of 6  ·  BU Services Viewing Sequence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STAND TODAY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complete · What is live · What is pending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743200" cy="3520440"/>
          </a:xfrm>
          <a:prstGeom prst="rect">
            <a:avLst/>
          </a:prstGeom>
          <a:solidFill>
            <a:srgbClr val="0A1F5C"/>
          </a:solidFill>
          <a:ln w="1905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29768" y="114300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&amp; LIVE — All on GitHub Pages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29768" y="157276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Master Commercial Plan v8 + 5 initiative plans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29768" y="204825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All 13 role briefs + 3 weekly rhythm card sets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9768" y="2523744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Management Hub, Meeting Hub, Systems Map, Command Centre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29768" y="2999232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Execution Attack Plan, actuals.json (135 fields), Conference System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29768" y="3474720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All 11 integration guides and setup documents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9768" y="395020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Team rollout deck + CEO speech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46120" y="1115568"/>
            <a:ext cx="2743200" cy="3520440"/>
          </a:xfrm>
          <a:prstGeom prst="rect">
            <a:avLst/>
          </a:prstGeom>
          <a:solidFill>
            <a:srgbClr val="0A1F5C"/>
          </a:solidFill>
          <a:ln w="1905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246120" y="1115568"/>
            <a:ext cx="2743200" cy="38404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355848" y="114300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— Connected &amp; Running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55848" y="157276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Command Centre portal — opens from SharePoint, reads actuals.json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55848" y="204825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Power Automate Sunday 7PM flow — Salesforce → actuals.json (once Éric activates)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55848" y="2523744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actuals.json — 135 fields defined, on SharePoint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55848" y="2999232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Go-Live Roadmap — 7 tasks documented, all guides ready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72200" y="1115568"/>
            <a:ext cx="2743200" cy="3520440"/>
          </a:xfrm>
          <a:prstGeom prst="rect">
            <a:avLst/>
          </a:prstGeom>
          <a:solidFill>
            <a:srgbClr val="0A1F5C"/>
          </a:solidFill>
          <a:ln w="19050">
            <a:solidFill>
              <a:srgbClr val="C9860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172200" y="1115568"/>
            <a:ext cx="2743200" cy="384048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81928" y="114300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— 3 Priority Items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81928" y="1572768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Éric: Salesforce BU_Initiative__c field + Region field (Step 1, ~35 min)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81928" y="204825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Éric: PA flow active + BC connector + SP Meeting Lists (~13 hrs total)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81928" y="2523744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Mathieu: Dynamics Q&amp;A Workbook completed (unblocks Step 3)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81928" y="2999232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Commercial team: CRM backfill — all 2026 opps tagged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0E2A"/>
          </a:solidFill>
          <a:ln w="12700">
            <a:solidFill>
              <a:srgbClr val="060E2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  ·  BU Services Viewing Sequence  ·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28600" y="137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A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 IN ONE SLIDE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8600" y="41148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plan on paper to fully live commercial intelligence platform.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1024128"/>
            <a:ext cx="1389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2880" y="1024128"/>
            <a:ext cx="1389888" cy="54864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74320" y="1115568"/>
            <a:ext cx="292608" cy="292608"/>
          </a:xfrm>
          <a:prstGeom prst="rect">
            <a:avLst/>
          </a:prstGeom>
          <a:solidFill>
            <a:srgbClr val="C9860A"/>
          </a:solidFill>
          <a:ln w="12700">
            <a:solidFill>
              <a:srgbClr val="C9860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74320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481328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202996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$92.8M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72768" y="1783080"/>
            <a:ext cx="109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55064" y="1024128"/>
            <a:ext cx="1389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655064" y="1024128"/>
            <a:ext cx="1389888" cy="54864"/>
          </a:xfrm>
          <a:prstGeom prst="rect">
            <a:avLst/>
          </a:prstGeom>
          <a:solidFill>
            <a:srgbClr val="0A3A6B"/>
          </a:solidFill>
          <a:ln w="12700">
            <a:solidFill>
              <a:srgbClr val="0A3A6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746504" y="1115568"/>
            <a:ext cx="292608" cy="292608"/>
          </a:xfrm>
          <a:prstGeom prst="rect">
            <a:avLst/>
          </a:prstGeom>
          <a:solidFill>
            <a:srgbClr val="0A3A6B"/>
          </a:solidFill>
          <a:ln w="12700">
            <a:solidFill>
              <a:srgbClr val="0A3A6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746504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46504" y="1481328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746504" y="202996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tracks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44952" y="1783080"/>
            <a:ext cx="109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27248" y="1024128"/>
            <a:ext cx="1389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127248" y="1024128"/>
            <a:ext cx="1389888" cy="548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218688" y="1115568"/>
            <a:ext cx="292608" cy="2926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218688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18688" y="1481328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18688" y="202996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roles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17136" y="1783080"/>
            <a:ext cx="109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99432" y="1024128"/>
            <a:ext cx="1389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599432" y="1024128"/>
            <a:ext cx="1389888" cy="54864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690872" y="1115568"/>
            <a:ext cx="292608" cy="292608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690872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90872" y="1481328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90872" y="202996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15-section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89320" y="1783080"/>
            <a:ext cx="109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71616" y="1024128"/>
            <a:ext cx="1389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071616" y="1024128"/>
            <a:ext cx="1389888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163056" y="1115568"/>
            <a:ext cx="292608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163056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63056" y="1481328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63056" y="202996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 hrs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live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461504" y="1783080"/>
            <a:ext cx="109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43800" y="1024128"/>
            <a:ext cx="138988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7543800" y="1024128"/>
            <a:ext cx="1389888" cy="54864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7635240" y="1115568"/>
            <a:ext cx="292608" cy="292608"/>
          </a:xfrm>
          <a:prstGeom prst="rect">
            <a:avLst/>
          </a:prstGeom>
          <a:solidFill>
            <a:srgbClr val="0D5050"/>
          </a:solidFill>
          <a:ln w="12700">
            <a:solidFill>
              <a:srgbClr val="0D505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635240" y="1115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635240" y="1481328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A1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Beyond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635240" y="2029968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82880" y="3108960"/>
            <a:ext cx="8778240" cy="1536192"/>
          </a:xfrm>
          <a:prstGeom prst="rect">
            <a:avLst/>
          </a:prstGeom>
          <a:solidFill>
            <a:srgbClr val="0A1F5C"/>
          </a:solidFill>
          <a:ln w="12700">
            <a:solidFill>
              <a:srgbClr val="2D4A7A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82880" y="3108960"/>
            <a:ext cx="54864" cy="1536192"/>
          </a:xfrm>
          <a:prstGeom prst="rect">
            <a:avLst/>
          </a:prstGeom>
          <a:solidFill>
            <a:srgbClr val="00AEEF"/>
          </a:solidFill>
          <a:ln w="12700">
            <a:solidFill>
              <a:srgbClr val="00AEEF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57200" y="32186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457200" y="37947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files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719072" y="3218688"/>
            <a:ext cx="0" cy="1188720"/>
          </a:xfrm>
          <a:prstGeom prst="line">
            <a:avLst/>
          </a:prstGeom>
          <a:noFill/>
          <a:ln w="9525">
            <a:solidFill>
              <a:srgbClr val="2D4A7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1901952" y="32186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1901952" y="37947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actuals.json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163824" y="3218688"/>
            <a:ext cx="0" cy="1188720"/>
          </a:xfrm>
          <a:prstGeom prst="line">
            <a:avLst/>
          </a:prstGeom>
          <a:noFill/>
          <a:ln w="9525">
            <a:solidFill>
              <a:srgbClr val="2D4A7A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3346704" y="32186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600" dirty="0"/>
          </a:p>
        </p:txBody>
      </p:sp>
      <p:sp>
        <p:nvSpPr>
          <p:cNvPr id="55" name="Text 53"/>
          <p:cNvSpPr/>
          <p:nvPr/>
        </p:nvSpPr>
        <p:spPr>
          <a:xfrm>
            <a:off x="3346704" y="37947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briefs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608576" y="3218688"/>
            <a:ext cx="0" cy="1188720"/>
          </a:xfrm>
          <a:prstGeom prst="line">
            <a:avLst/>
          </a:prstGeom>
          <a:noFill/>
          <a:ln w="9525">
            <a:solidFill>
              <a:srgbClr val="2D4A7A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791456" y="32186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4791456" y="37947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Centre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053328" y="3218688"/>
            <a:ext cx="0" cy="1188720"/>
          </a:xfrm>
          <a:prstGeom prst="line">
            <a:avLst/>
          </a:prstGeom>
          <a:noFill/>
          <a:ln w="9525">
            <a:solidFill>
              <a:srgbClr val="2D4A7A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236208" y="32186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61" name="Text 59"/>
          <p:cNvSpPr/>
          <p:nvPr/>
        </p:nvSpPr>
        <p:spPr>
          <a:xfrm>
            <a:off x="6236208" y="37947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initiatives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 live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498080" y="3218688"/>
            <a:ext cx="0" cy="1188720"/>
          </a:xfrm>
          <a:prstGeom prst="line">
            <a:avLst/>
          </a:prstGeom>
          <a:noFill/>
          <a:ln w="9525">
            <a:solidFill>
              <a:srgbClr val="2D4A7A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7680960" y="321868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$92.8M</a:t>
            </a:r>
            <a:endParaRPr lang="en-US" sz="2600" dirty="0"/>
          </a:p>
        </p:txBody>
      </p:sp>
      <p:sp>
        <p:nvSpPr>
          <p:cNvPr id="64" name="Text 62"/>
          <p:cNvSpPr/>
          <p:nvPr/>
        </p:nvSpPr>
        <p:spPr>
          <a:xfrm>
            <a:off x="7680960" y="37947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revenue</a:t>
            </a:r>
            <a:endParaRPr lang="en-US" sz="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0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1F5C"/>
          </a:solidFill>
          <a:ln w="12700">
            <a:solidFill>
              <a:srgbClr val="0A1F5C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7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Services Commercial Management System  ·  Ekoscan Integrity Group  ·  April 2026  ·  Confidential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 Services — Viewing Sequence Guide</dc:title>
  <dc:subject>PptxGenJS Presentation</dc:subject>
  <dc:creator>PptxGenJS</dc:creator>
  <cp:lastModifiedBy>PptxGenJS</cp:lastModifiedBy>
  <cp:revision>1</cp:revision>
  <dcterms:created xsi:type="dcterms:W3CDTF">2026-04-20T05:09:37Z</dcterms:created>
  <dcterms:modified xsi:type="dcterms:W3CDTF">2026-04-20T05:09:37Z</dcterms:modified>
</cp:coreProperties>
</file>